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8595360" y="-1463040"/>
            <a:ext cx="5669280" cy="5669280"/>
          </a:xfrm>
          <a:prstGeom prst="ellipse">
            <a:avLst/>
          </a:prstGeom>
          <a:ln w="19050">
            <a:solidFill>
              <a:srgbClr val="262626"/>
            </a:solidFill>
            <a:prstDash val="solid"/>
          </a:ln>
        </p:spPr>
      </p:sp>
      <p:sp>
        <p:nvSpPr>
          <p:cNvPr id="3" name="Shape 1"/>
          <p:cNvSpPr/>
          <p:nvPr/>
        </p:nvSpPr>
        <p:spPr>
          <a:xfrm>
            <a:off x="9646920" y="1828800"/>
            <a:ext cx="1371600" cy="1371600"/>
          </a:xfrm>
          <a:prstGeom prst="ellipse">
            <a:avLst/>
          </a:prstGeom>
          <a:solidFill>
            <a:srgbClr val="46D12A"/>
          </a:solidFill>
          <a:ln/>
        </p:spPr>
      </p:sp>
      <p:sp>
        <p:nvSpPr>
          <p:cNvPr id="4" name="Text 2"/>
          <p:cNvSpPr/>
          <p:nvPr/>
        </p:nvSpPr>
        <p:spPr>
          <a:xfrm>
            <a:off x="566928" y="566928"/>
            <a:ext cx="4572000" cy="274320"/>
          </a:xfrm>
          <a:prstGeom prst="rect">
            <a:avLst/>
          </a:prstGeom>
          <a:noFill/>
          <a:ln/>
        </p:spPr>
        <p:txBody>
          <a:bodyPr wrap="square" lIns="0" tIns="0" rIns="0" bIns="0" rtlCol="0" anchor="ctr"/>
          <a:lstStyle/>
          <a:p>
            <a:pPr algn="l" indent="0" marL="0">
              <a:buNone/>
            </a:pPr>
            <a:r>
              <a:rPr lang="en-US" sz="1100" b="1" spc="300" kern="0" dirty="0">
                <a:solidFill>
                  <a:srgbClr val="46D12A"/>
                </a:solidFill>
                <a:latin typeface="Trebuchet MS" pitchFamily="34" charset="0"/>
                <a:ea typeface="Trebuchet MS" pitchFamily="34" charset="-122"/>
                <a:cs typeface="Trebuchet MS" pitchFamily="34" charset="-120"/>
              </a:rPr>
              <a:t>COMPANY PROFILE</a:t>
            </a:r>
            <a:endParaRPr lang="en-US" sz="1100" dirty="0"/>
          </a:p>
        </p:txBody>
      </p:sp>
      <p:sp>
        <p:nvSpPr>
          <p:cNvPr id="5" name="Text 3"/>
          <p:cNvSpPr/>
          <p:nvPr/>
        </p:nvSpPr>
        <p:spPr>
          <a:xfrm>
            <a:off x="7967167" y="566928"/>
            <a:ext cx="3657600" cy="274320"/>
          </a:xfrm>
          <a:prstGeom prst="rect">
            <a:avLst/>
          </a:prstGeom>
          <a:noFill/>
          <a:ln/>
        </p:spPr>
        <p:txBody>
          <a:bodyPr wrap="square" lIns="0" tIns="0" rIns="0" bIns="0" rtlCol="0" anchor="ctr"/>
          <a:lstStyle/>
          <a:p>
            <a:pPr algn="r" indent="0" marL="0">
              <a:buNone/>
            </a:pPr>
            <a:r>
              <a:rPr lang="en-US" sz="1100" b="1" spc="300" kern="0" dirty="0">
                <a:solidFill>
                  <a:srgbClr val="46D12A"/>
                </a:solidFill>
                <a:latin typeface="Trebuchet MS" pitchFamily="34" charset="0"/>
                <a:ea typeface="Trebuchet MS" pitchFamily="34" charset="-122"/>
                <a:cs typeface="Trebuchet MS" pitchFamily="34" charset="-120"/>
              </a:rPr>
              <a:t>2026 · NOXSTUDIO.DEV</a:t>
            </a:r>
            <a:endParaRPr lang="en-US" sz="1100" dirty="0"/>
          </a:p>
        </p:txBody>
      </p:sp>
      <p:pic>
        <p:nvPicPr>
          <p:cNvPr id="6" name="Image 0" descr="/home/claude/logo_white.png">    </p:cNvPr>
          <p:cNvPicPr>
            <a:picLocks noChangeAspect="1"/>
          </p:cNvPicPr>
          <p:nvPr/>
        </p:nvPicPr>
        <p:blipFill>
          <a:blip r:embed="rId1"/>
          <a:stretch>
            <a:fillRect/>
          </a:stretch>
        </p:blipFill>
        <p:spPr>
          <a:xfrm>
            <a:off x="566928" y="1828800"/>
            <a:ext cx="4297680" cy="1270672"/>
          </a:xfrm>
          <a:prstGeom prst="rect">
            <a:avLst/>
          </a:prstGeom>
        </p:spPr>
      </p:pic>
      <p:sp>
        <p:nvSpPr>
          <p:cNvPr id="7" name="Text 4"/>
          <p:cNvSpPr/>
          <p:nvPr/>
        </p:nvSpPr>
        <p:spPr>
          <a:xfrm>
            <a:off x="566928" y="3429000"/>
            <a:ext cx="8229600" cy="1554480"/>
          </a:xfrm>
          <a:prstGeom prst="rect">
            <a:avLst/>
          </a:prstGeom>
          <a:noFill/>
          <a:ln/>
        </p:spPr>
        <p:txBody>
          <a:bodyPr wrap="square" lIns="0" tIns="0" rIns="0" bIns="0" rtlCol="0" anchor="ctr"/>
          <a:lstStyle/>
          <a:p>
            <a:pPr indent="0" marL="0">
              <a:lnSpc>
                <a:spcPct val="98000"/>
              </a:lnSpc>
              <a:buNone/>
            </a:pPr>
            <a:r>
              <a:rPr lang="en-US" sz="4800" b="1" dirty="0">
                <a:solidFill>
                  <a:srgbClr val="FFFFFF"/>
                </a:solidFill>
                <a:latin typeface="Trebuchet MS" pitchFamily="34" charset="0"/>
                <a:ea typeface="Trebuchet MS" pitchFamily="34" charset="-122"/>
                <a:cs typeface="Trebuchet MS" pitchFamily="34" charset="-120"/>
              </a:rPr>
              <a:t>Digital things,</a:t>
            </a:r>
            <a:endParaRPr lang="en-US" sz="4800" dirty="0"/>
          </a:p>
          <a:p>
            <a:pPr indent="0" marL="0">
              <a:lnSpc>
                <a:spcPct val="98000"/>
              </a:lnSpc>
              <a:buNone/>
            </a:pPr>
            <a:r>
              <a:rPr lang="en-US" sz="4800" b="1" dirty="0">
                <a:solidFill>
                  <a:srgbClr val="FFFFFF"/>
                </a:solidFill>
                <a:latin typeface="Trebuchet MS" pitchFamily="34" charset="0"/>
                <a:ea typeface="Trebuchet MS" pitchFamily="34" charset="-122"/>
                <a:cs typeface="Trebuchet MS" pitchFamily="34" charset="-120"/>
              </a:rPr>
              <a:t>made </a:t>
            </a:r>
            <a:pPr indent="0" marL="0">
              <a:lnSpc>
                <a:spcPct val="98000"/>
              </a:lnSpc>
              <a:buNone/>
            </a:pPr>
            <a:r>
              <a:rPr lang="en-US" sz="4800" b="1" dirty="0">
                <a:solidFill>
                  <a:srgbClr val="46D12A"/>
                </a:solidFill>
                <a:latin typeface="Trebuchet MS" pitchFamily="34" charset="0"/>
                <a:ea typeface="Trebuchet MS" pitchFamily="34" charset="-122"/>
                <a:cs typeface="Trebuchet MS" pitchFamily="34" charset="-120"/>
              </a:rPr>
              <a:t>easier.</a:t>
            </a:r>
            <a:endParaRPr lang="en-US" sz="4800" dirty="0"/>
          </a:p>
        </p:txBody>
      </p:sp>
      <p:sp>
        <p:nvSpPr>
          <p:cNvPr id="8" name="Text 5"/>
          <p:cNvSpPr/>
          <p:nvPr/>
        </p:nvSpPr>
        <p:spPr>
          <a:xfrm>
            <a:off x="566928" y="5074920"/>
            <a:ext cx="6675120" cy="822960"/>
          </a:xfrm>
          <a:prstGeom prst="rect">
            <a:avLst/>
          </a:prstGeom>
          <a:noFill/>
          <a:ln/>
        </p:spPr>
        <p:txBody>
          <a:bodyPr wrap="square" lIns="0" tIns="0" rIns="0" bIns="0" rtlCol="0" anchor="ctr"/>
          <a:lstStyle/>
          <a:p>
            <a:pPr indent="0" marL="0">
              <a:lnSpc>
                <a:spcPct val="120000"/>
              </a:lnSpc>
              <a:buNone/>
            </a:pPr>
            <a:r>
              <a:rPr lang="en-US" sz="1350" dirty="0">
                <a:solidFill>
                  <a:srgbClr val="A8A8A2"/>
                </a:solidFill>
                <a:latin typeface="Calibri" pitchFamily="34" charset="0"/>
                <a:ea typeface="Calibri" pitchFamily="34" charset="-122"/>
                <a:cs typeface="Calibri" pitchFamily="34" charset="-120"/>
              </a:rPr>
              <a:t>A small technology studio building websites, apps, stores, SEO-ready pages, and digital systems that help businesses get found, understood, and trusted.</a:t>
            </a:r>
            <a:endParaRPr lang="en-US" sz="1350" dirty="0"/>
          </a:p>
        </p:txBody>
      </p:sp>
      <p:sp>
        <p:nvSpPr>
          <p:cNvPr id="9" name="Text 6"/>
          <p:cNvSpPr/>
          <p:nvPr/>
        </p:nvSpPr>
        <p:spPr>
          <a:xfrm>
            <a:off x="566928" y="6172200"/>
            <a:ext cx="2377440" cy="201168"/>
          </a:xfrm>
          <a:prstGeom prst="rect">
            <a:avLst/>
          </a:prstGeom>
          <a:noFill/>
          <a:ln/>
        </p:spPr>
        <p:txBody>
          <a:bodyPr wrap="square" lIns="0" tIns="0" rIns="0" bIns="0" rtlCol="0" anchor="ctr"/>
          <a:lstStyle/>
          <a:p>
            <a:pPr indent="0" marL="0">
              <a:buNone/>
            </a:pPr>
            <a:r>
              <a:rPr lang="en-US" sz="850" b="1" spc="200" kern="0" dirty="0">
                <a:solidFill>
                  <a:srgbClr val="6E6E68"/>
                </a:solidFill>
                <a:latin typeface="Trebuchet MS" pitchFamily="34" charset="0"/>
                <a:ea typeface="Trebuchet MS" pitchFamily="34" charset="-122"/>
                <a:cs typeface="Trebuchet MS" pitchFamily="34" charset="-120"/>
              </a:rPr>
              <a:t>BASED IN</a:t>
            </a:r>
            <a:endParaRPr lang="en-US" sz="850" dirty="0"/>
          </a:p>
        </p:txBody>
      </p:sp>
      <p:sp>
        <p:nvSpPr>
          <p:cNvPr id="10" name="Text 7"/>
          <p:cNvSpPr/>
          <p:nvPr/>
        </p:nvSpPr>
        <p:spPr>
          <a:xfrm>
            <a:off x="566928" y="6373368"/>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Yabroud, Syria</a:t>
            </a:r>
            <a:endParaRPr lang="en-US" sz="1200" dirty="0"/>
          </a:p>
        </p:txBody>
      </p:sp>
      <p:sp>
        <p:nvSpPr>
          <p:cNvPr id="11" name="Text 8"/>
          <p:cNvSpPr/>
          <p:nvPr/>
        </p:nvSpPr>
        <p:spPr>
          <a:xfrm>
            <a:off x="3310128" y="6172200"/>
            <a:ext cx="2377440" cy="201168"/>
          </a:xfrm>
          <a:prstGeom prst="rect">
            <a:avLst/>
          </a:prstGeom>
          <a:noFill/>
          <a:ln/>
        </p:spPr>
        <p:txBody>
          <a:bodyPr wrap="square" lIns="0" tIns="0" rIns="0" bIns="0" rtlCol="0" anchor="ctr"/>
          <a:lstStyle/>
          <a:p>
            <a:pPr indent="0" marL="0">
              <a:buNone/>
            </a:pPr>
            <a:r>
              <a:rPr lang="en-US" sz="850" b="1" spc="200" kern="0" dirty="0">
                <a:solidFill>
                  <a:srgbClr val="6E6E68"/>
                </a:solidFill>
                <a:latin typeface="Trebuchet MS" pitchFamily="34" charset="0"/>
                <a:ea typeface="Trebuchet MS" pitchFamily="34" charset="-122"/>
                <a:cs typeface="Trebuchet MS" pitchFamily="34" charset="-120"/>
              </a:rPr>
              <a:t>WORKING</a:t>
            </a:r>
            <a:endParaRPr lang="en-US" sz="850" dirty="0"/>
          </a:p>
        </p:txBody>
      </p:sp>
      <p:sp>
        <p:nvSpPr>
          <p:cNvPr id="12" name="Text 9"/>
          <p:cNvSpPr/>
          <p:nvPr/>
        </p:nvSpPr>
        <p:spPr>
          <a:xfrm>
            <a:off x="3310128" y="6373368"/>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Remote · Worldwide</a:t>
            </a:r>
            <a:endParaRPr lang="en-US" sz="1200" dirty="0"/>
          </a:p>
        </p:txBody>
      </p:sp>
      <p:sp>
        <p:nvSpPr>
          <p:cNvPr id="13" name="Text 10"/>
          <p:cNvSpPr/>
          <p:nvPr/>
        </p:nvSpPr>
        <p:spPr>
          <a:xfrm>
            <a:off x="6053328" y="6172200"/>
            <a:ext cx="2377440" cy="201168"/>
          </a:xfrm>
          <a:prstGeom prst="rect">
            <a:avLst/>
          </a:prstGeom>
          <a:noFill/>
          <a:ln/>
        </p:spPr>
        <p:txBody>
          <a:bodyPr wrap="square" lIns="0" tIns="0" rIns="0" bIns="0" rtlCol="0" anchor="ctr"/>
          <a:lstStyle/>
          <a:p>
            <a:pPr indent="0" marL="0">
              <a:buNone/>
            </a:pPr>
            <a:r>
              <a:rPr lang="en-US" sz="850" b="1" spc="200" kern="0" dirty="0">
                <a:solidFill>
                  <a:srgbClr val="6E6E68"/>
                </a:solidFill>
                <a:latin typeface="Trebuchet MS" pitchFamily="34" charset="0"/>
                <a:ea typeface="Trebuchet MS" pitchFamily="34" charset="-122"/>
                <a:cs typeface="Trebuchet MS" pitchFamily="34" charset="-120"/>
              </a:rPr>
              <a:t>SINCE</a:t>
            </a:r>
            <a:endParaRPr lang="en-US" sz="850" dirty="0"/>
          </a:p>
        </p:txBody>
      </p:sp>
      <p:sp>
        <p:nvSpPr>
          <p:cNvPr id="14" name="Text 11"/>
          <p:cNvSpPr/>
          <p:nvPr/>
        </p:nvSpPr>
        <p:spPr>
          <a:xfrm>
            <a:off x="6053328" y="6373368"/>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2022</a:t>
            </a:r>
            <a:endParaRPr lang="en-US" sz="1200" dirty="0"/>
          </a:p>
        </p:txBody>
      </p:sp>
      <p:sp>
        <p:nvSpPr>
          <p:cNvPr id="15" name="Text 12"/>
          <p:cNvSpPr/>
          <p:nvPr/>
        </p:nvSpPr>
        <p:spPr>
          <a:xfrm>
            <a:off x="8796528" y="6172200"/>
            <a:ext cx="2377440" cy="201168"/>
          </a:xfrm>
          <a:prstGeom prst="rect">
            <a:avLst/>
          </a:prstGeom>
          <a:noFill/>
          <a:ln/>
        </p:spPr>
        <p:txBody>
          <a:bodyPr wrap="square" lIns="0" tIns="0" rIns="0" bIns="0" rtlCol="0" anchor="ctr"/>
          <a:lstStyle/>
          <a:p>
            <a:pPr indent="0" marL="0">
              <a:buNone/>
            </a:pPr>
            <a:r>
              <a:rPr lang="en-US" sz="850" b="1" spc="200" kern="0" dirty="0">
                <a:solidFill>
                  <a:srgbClr val="6E6E68"/>
                </a:solidFill>
                <a:latin typeface="Trebuchet MS" pitchFamily="34" charset="0"/>
                <a:ea typeface="Trebuchet MS" pitchFamily="34" charset="-122"/>
                <a:cs typeface="Trebuchet MS" pitchFamily="34" charset="-120"/>
              </a:rPr>
              <a:t>CONTACT</a:t>
            </a:r>
            <a:endParaRPr lang="en-US" sz="850" dirty="0"/>
          </a:p>
        </p:txBody>
      </p:sp>
      <p:sp>
        <p:nvSpPr>
          <p:cNvPr id="16" name="Text 13"/>
          <p:cNvSpPr/>
          <p:nvPr/>
        </p:nvSpPr>
        <p:spPr>
          <a:xfrm>
            <a:off x="8796528" y="6373368"/>
            <a:ext cx="25603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hello@noxstudio.dev</a:t>
            </a:r>
            <a:endParaRPr lang="en-US" sz="1200" dirty="0"/>
          </a:p>
        </p:txBody>
      </p:sp>
      <p:sp>
        <p:nvSpPr>
          <p:cNvPr id="17" name="Shape 14"/>
          <p:cNvSpPr/>
          <p:nvPr/>
        </p:nvSpPr>
        <p:spPr>
          <a:xfrm>
            <a:off x="566928" y="6080760"/>
            <a:ext cx="11057839" cy="0"/>
          </a:xfrm>
          <a:prstGeom prst="line">
            <a:avLst/>
          </a:prstGeom>
          <a:noFill/>
          <a:ln w="12700">
            <a:solidFill>
              <a:srgbClr val="26262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01</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WHO WE ARE</a:t>
            </a:r>
            <a:endParaRPr lang="en-US" sz="1100" dirty="0"/>
          </a:p>
        </p:txBody>
      </p:sp>
      <p:sp>
        <p:nvSpPr>
          <p:cNvPr id="5" name="Text 2"/>
          <p:cNvSpPr/>
          <p:nvPr/>
        </p:nvSpPr>
        <p:spPr>
          <a:xfrm>
            <a:off x="566928" y="859536"/>
            <a:ext cx="8229600" cy="1188720"/>
          </a:xfrm>
          <a:prstGeom prst="rect">
            <a:avLst/>
          </a:prstGeom>
          <a:noFill/>
          <a:ln/>
        </p:spPr>
        <p:txBody>
          <a:bodyPr wrap="square" lIns="0" tIns="0" rIns="0" bIns="0" rtlCol="0" anchor="t"/>
          <a:lstStyle/>
          <a:p>
            <a:pPr indent="0" marL="0">
              <a:lnSpc>
                <a:spcPct val="98000"/>
              </a:lnSpc>
              <a:buNone/>
            </a:pPr>
            <a:r>
              <a:rPr lang="en-US" sz="3300" b="1" dirty="0">
                <a:solidFill>
                  <a:srgbClr val="0E0E0E"/>
                </a:solidFill>
                <a:latin typeface="Trebuchet MS" pitchFamily="34" charset="0"/>
                <a:ea typeface="Trebuchet MS" pitchFamily="34" charset="-122"/>
                <a:cs typeface="Trebuchet MS" pitchFamily="34" charset="-120"/>
              </a:rPr>
              <a:t>We make the digital </a:t>
            </a:r>
            <a:pPr indent="0" marL="0">
              <a:lnSpc>
                <a:spcPct val="98000"/>
              </a:lnSpc>
              <a:buNone/>
            </a:pPr>
            <a:r>
              <a:rPr lang="en-US" sz="3300" b="1" dirty="0">
                <a:solidFill>
                  <a:srgbClr val="2E8E1B"/>
                </a:solidFill>
                <a:latin typeface="Trebuchet MS" pitchFamily="34" charset="0"/>
                <a:ea typeface="Trebuchet MS" pitchFamily="34" charset="-122"/>
                <a:cs typeface="Trebuchet MS" pitchFamily="34" charset="-120"/>
              </a:rPr>
              <a:t>part easier.</a:t>
            </a:r>
            <a:endParaRPr lang="en-US" sz="3300" dirty="0"/>
          </a:p>
        </p:txBody>
      </p:sp>
      <p:sp>
        <p:nvSpPr>
          <p:cNvPr id="6" name="Text 3"/>
          <p:cNvSpPr/>
          <p:nvPr/>
        </p:nvSpPr>
        <p:spPr>
          <a:xfrm>
            <a:off x="566928" y="2148840"/>
            <a:ext cx="6400800" cy="822960"/>
          </a:xfrm>
          <a:prstGeom prst="rect">
            <a:avLst/>
          </a:prstGeom>
          <a:noFill/>
          <a:ln/>
        </p:spPr>
        <p:txBody>
          <a:bodyPr wrap="square" lIns="0" tIns="0" rIns="0" bIns="0" rtlCol="0" anchor="ctr"/>
          <a:lstStyle/>
          <a:p>
            <a:pPr indent="0" marL="0">
              <a:lnSpc>
                <a:spcPct val="112000"/>
              </a:lnSpc>
              <a:buNone/>
            </a:pPr>
            <a:r>
              <a:rPr lang="en-US" sz="1600" b="1" dirty="0">
                <a:solidFill>
                  <a:srgbClr val="0E0E0E"/>
                </a:solidFill>
                <a:latin typeface="Calibri" pitchFamily="34" charset="0"/>
                <a:ea typeface="Calibri" pitchFamily="34" charset="-122"/>
                <a:cs typeface="Calibri" pitchFamily="34" charset="-120"/>
              </a:rPr>
              <a:t>nox Studio is for people who have an idea, a business, or a half-built digital mess — and just need someone to make it make sense.</a:t>
            </a:r>
            <a:endParaRPr lang="en-US" sz="1600" dirty="0"/>
          </a:p>
        </p:txBody>
      </p:sp>
      <p:sp>
        <p:nvSpPr>
          <p:cNvPr id="7" name="Text 4"/>
          <p:cNvSpPr/>
          <p:nvPr/>
        </p:nvSpPr>
        <p:spPr>
          <a:xfrm>
            <a:off x="566928" y="3063240"/>
            <a:ext cx="6400800" cy="2377440"/>
          </a:xfrm>
          <a:prstGeom prst="rect">
            <a:avLst/>
          </a:prstGeom>
          <a:noFill/>
          <a:ln/>
        </p:spPr>
        <p:txBody>
          <a:bodyPr wrap="square" lIns="0" tIns="0" rIns="0" bIns="0" rtlCol="0" anchor="ctr"/>
          <a:lstStyle/>
          <a:p>
            <a:pPr indent="0" marL="0">
              <a:lnSpc>
                <a:spcPct val="118000"/>
              </a:lnSpc>
              <a:spcAft>
                <a:spcPts val="800"/>
              </a:spcAft>
              <a:buNone/>
            </a:pPr>
            <a:r>
              <a:rPr lang="en-US" sz="1350" dirty="0">
                <a:solidFill>
                  <a:srgbClr val="3A3A38"/>
                </a:solidFill>
                <a:latin typeface="Calibri" pitchFamily="34" charset="0"/>
                <a:ea typeface="Calibri" pitchFamily="34" charset="-122"/>
                <a:cs typeface="Calibri" pitchFamily="34" charset="-120"/>
              </a:rPr>
              <a:t>We build websites, apps, stores, SEO-ready pages, booking systems, CRMs, dashboards, and custom tools that help your business be found, understood, and trusted — and we care about the feeling of the process.</a:t>
            </a:r>
            <a:endParaRPr lang="en-US" sz="1350" dirty="0"/>
          </a:p>
          <a:p>
            <a:pPr indent="0" marL="0">
              <a:lnSpc>
                <a:spcPct val="118000"/>
              </a:lnSpc>
              <a:spcAft>
                <a:spcPts val="800"/>
              </a:spcAft>
              <a:buNone/>
            </a:pPr>
            <a:r>
              <a:rPr lang="en-US" sz="1350" dirty="0">
                <a:solidFill>
                  <a:srgbClr val="3A3A38"/>
                </a:solidFill>
                <a:latin typeface="Calibri" pitchFamily="34" charset="0"/>
                <a:ea typeface="Calibri" pitchFamily="34" charset="-122"/>
                <a:cs typeface="Calibri" pitchFamily="34" charset="-120"/>
              </a:rPr>
              <a:t>You should not feel lost building your own website. You should not feel overcharged for things you do not need. You should not feel like you are begging a team to explain what is happening.</a:t>
            </a:r>
            <a:endParaRPr lang="en-US" sz="1350" dirty="0"/>
          </a:p>
          <a:p>
            <a:pPr indent="0" marL="0">
              <a:lnSpc>
                <a:spcPct val="118000"/>
              </a:lnSpc>
              <a:buNone/>
            </a:pPr>
            <a:r>
              <a:rPr lang="en-US" sz="1350" dirty="0">
                <a:solidFill>
                  <a:srgbClr val="3A3A38"/>
                </a:solidFill>
                <a:latin typeface="Calibri" pitchFamily="34" charset="0"/>
                <a:ea typeface="Calibri" pitchFamily="34" charset="-122"/>
                <a:cs typeface="Calibri" pitchFamily="34" charset="-120"/>
              </a:rPr>
              <a:t>We listen, we guide, we suggest the honest options, and then we build the one that fits you best.</a:t>
            </a:r>
            <a:endParaRPr lang="en-US" sz="1350" dirty="0"/>
          </a:p>
        </p:txBody>
      </p:sp>
      <p:sp>
        <p:nvSpPr>
          <p:cNvPr id="8" name="Shape 5"/>
          <p:cNvSpPr/>
          <p:nvPr/>
        </p:nvSpPr>
        <p:spPr>
          <a:xfrm>
            <a:off x="7360920" y="2148840"/>
            <a:ext cx="4251960" cy="3703320"/>
          </a:xfrm>
          <a:prstGeom prst="roundRect">
            <a:avLst>
              <a:gd name="adj" fmla="val 2222"/>
            </a:avLst>
          </a:prstGeom>
          <a:solidFill>
            <a:srgbClr val="0A0A0A"/>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9" name="Shape 6"/>
          <p:cNvSpPr/>
          <p:nvPr/>
        </p:nvSpPr>
        <p:spPr>
          <a:xfrm>
            <a:off x="8503920" y="2697480"/>
            <a:ext cx="1920240" cy="1920240"/>
          </a:xfrm>
          <a:prstGeom prst="ellipse">
            <a:avLst/>
          </a:prstGeom>
          <a:ln w="19050">
            <a:solidFill>
              <a:srgbClr val="262626"/>
            </a:solidFill>
            <a:prstDash val="solid"/>
          </a:ln>
        </p:spPr>
      </p:sp>
      <p:sp>
        <p:nvSpPr>
          <p:cNvPr id="10" name="Shape 7"/>
          <p:cNvSpPr/>
          <p:nvPr/>
        </p:nvSpPr>
        <p:spPr>
          <a:xfrm>
            <a:off x="9098280" y="3291840"/>
            <a:ext cx="731520" cy="731520"/>
          </a:xfrm>
          <a:prstGeom prst="ellipse">
            <a:avLst/>
          </a:prstGeom>
          <a:solidFill>
            <a:srgbClr val="46D12A"/>
          </a:solidFill>
          <a:ln/>
        </p:spPr>
      </p:sp>
      <p:sp>
        <p:nvSpPr>
          <p:cNvPr id="11" name="Text 8"/>
          <p:cNvSpPr/>
          <p:nvPr/>
        </p:nvSpPr>
        <p:spPr>
          <a:xfrm>
            <a:off x="7726680" y="4709160"/>
            <a:ext cx="3566160" cy="914400"/>
          </a:xfrm>
          <a:prstGeom prst="rect">
            <a:avLst/>
          </a:prstGeom>
          <a:noFill/>
          <a:ln/>
        </p:spPr>
        <p:txBody>
          <a:bodyPr wrap="square" lIns="0" tIns="0" rIns="0" bIns="0" rtlCol="0" anchor="ctr"/>
          <a:lstStyle/>
          <a:p>
            <a:pPr indent="0" marL="0">
              <a:lnSpc>
                <a:spcPct val="105000"/>
              </a:lnSpc>
              <a:buNone/>
            </a:pPr>
            <a:r>
              <a:rPr lang="en-US" sz="1500" b="1" dirty="0">
                <a:solidFill>
                  <a:srgbClr val="FFFFFF"/>
                </a:solidFill>
                <a:latin typeface="Trebuchet MS" pitchFamily="34" charset="0"/>
                <a:ea typeface="Trebuchet MS" pitchFamily="34" charset="-122"/>
                <a:cs typeface="Trebuchet MS" pitchFamily="34" charset="-120"/>
              </a:rPr>
              <a:t>Small team. Real care. Clear work.</a:t>
            </a:r>
            <a:endParaRPr lang="en-US" sz="1500" dirty="0"/>
          </a:p>
          <a:p>
            <a:pPr indent="0" marL="0">
              <a:lnSpc>
                <a:spcPct val="105000"/>
              </a:lnSpc>
              <a:buNone/>
            </a:pPr>
            <a:r>
              <a:rPr lang="en-US" sz="1500" b="1" dirty="0">
                <a:solidFill>
                  <a:srgbClr val="46D12A"/>
                </a:solidFill>
                <a:latin typeface="Trebuchet MS" pitchFamily="34" charset="0"/>
                <a:ea typeface="Trebuchet MS" pitchFamily="34" charset="-122"/>
                <a:cs typeface="Trebuchet MS" pitchFamily="34" charset="-120"/>
              </a:rPr>
              <a:t>Digital things, made with people in mind.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02</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OVERVIEW</a:t>
            </a:r>
            <a:endParaRPr lang="en-US" sz="1100" dirty="0"/>
          </a:p>
        </p:txBody>
      </p:sp>
      <p:sp>
        <p:nvSpPr>
          <p:cNvPr id="5" name="Text 2"/>
          <p:cNvSpPr/>
          <p:nvPr/>
        </p:nvSpPr>
        <p:spPr>
          <a:xfrm>
            <a:off x="566928" y="859536"/>
            <a:ext cx="7315200" cy="1188720"/>
          </a:xfrm>
          <a:prstGeom prst="rect">
            <a:avLst/>
          </a:prstGeom>
          <a:noFill/>
          <a:ln/>
        </p:spPr>
        <p:txBody>
          <a:bodyPr wrap="square" lIns="0" tIns="0" rIns="0" bIns="0" rtlCol="0" anchor="t"/>
          <a:lstStyle/>
          <a:p>
            <a:pPr indent="0" marL="0">
              <a:lnSpc>
                <a:spcPct val="98000"/>
              </a:lnSpc>
              <a:buNone/>
            </a:pPr>
            <a:r>
              <a:rPr lang="en-US" sz="3000" b="1" dirty="0">
                <a:solidFill>
                  <a:srgbClr val="0E0E0E"/>
                </a:solidFill>
                <a:latin typeface="Trebuchet MS" pitchFamily="34" charset="0"/>
                <a:ea typeface="Trebuchet MS" pitchFamily="34" charset="-122"/>
                <a:cs typeface="Trebuchet MS" pitchFamily="34" charset="-120"/>
              </a:rPr>
              <a:t>A studio that stays close to the work.</a:t>
            </a:r>
            <a:endParaRPr lang="en-US" sz="3000" dirty="0"/>
          </a:p>
        </p:txBody>
      </p:sp>
      <p:sp>
        <p:nvSpPr>
          <p:cNvPr id="6" name="Text 3"/>
          <p:cNvSpPr/>
          <p:nvPr/>
        </p:nvSpPr>
        <p:spPr>
          <a:xfrm>
            <a:off x="566928" y="2011680"/>
            <a:ext cx="5852160" cy="3108960"/>
          </a:xfrm>
          <a:prstGeom prst="rect">
            <a:avLst/>
          </a:prstGeom>
          <a:noFill/>
          <a:ln/>
        </p:spPr>
        <p:txBody>
          <a:bodyPr wrap="square" lIns="0" tIns="0" rIns="0" bIns="0" rtlCol="0" anchor="ctr"/>
          <a:lstStyle/>
          <a:p>
            <a:pPr indent="0" marL="0">
              <a:lnSpc>
                <a:spcPct val="120000"/>
              </a:lnSpc>
              <a:spcAft>
                <a:spcPts val="800"/>
              </a:spcAft>
              <a:buNone/>
            </a:pPr>
            <a:r>
              <a:rPr lang="en-US" sz="1350" dirty="0">
                <a:solidFill>
                  <a:srgbClr val="3A3A38"/>
                </a:solidFill>
                <a:latin typeface="Calibri" pitchFamily="34" charset="0"/>
                <a:ea typeface="Calibri" pitchFamily="34" charset="-122"/>
                <a:cs typeface="Calibri" pitchFamily="34" charset="-120"/>
              </a:rPr>
              <a:t>nox Studio is a small technology studio based in Yabroud, Syria, working with clients worldwide. Founded in 2022, we build digital products for businesses that need more than a nice-looking page.</a:t>
            </a:r>
            <a:endParaRPr lang="en-US" sz="1350" dirty="0"/>
          </a:p>
          <a:p>
            <a:pPr indent="0" marL="0">
              <a:lnSpc>
                <a:spcPct val="120000"/>
              </a:lnSpc>
              <a:spcAft>
                <a:spcPts val="800"/>
              </a:spcAft>
              <a:buNone/>
            </a:pPr>
            <a:r>
              <a:rPr lang="en-US" sz="1350" dirty="0">
                <a:solidFill>
                  <a:srgbClr val="3A3A38"/>
                </a:solidFill>
                <a:latin typeface="Calibri" pitchFamily="34" charset="0"/>
                <a:ea typeface="Calibri" pitchFamily="34" charset="-122"/>
                <a:cs typeface="Calibri" pitchFamily="34" charset="-120"/>
              </a:rPr>
              <a:t>Some clients come with a clear brief. Some come with a project that stopped halfway. Some come with only an idea and a lot of “we are not sure yet.” All of that is welcome.</a:t>
            </a:r>
            <a:endParaRPr lang="en-US" sz="1350" dirty="0"/>
          </a:p>
          <a:p>
            <a:pPr indent="0" marL="0">
              <a:lnSpc>
                <a:spcPct val="120000"/>
              </a:lnSpc>
              <a:buNone/>
            </a:pPr>
            <a:r>
              <a:rPr lang="en-US" sz="1350" dirty="0">
                <a:solidFill>
                  <a:srgbClr val="3A3A38"/>
                </a:solidFill>
                <a:latin typeface="Calibri" pitchFamily="34" charset="0"/>
                <a:ea typeface="Calibri" pitchFamily="34" charset="-122"/>
                <a:cs typeface="Calibri" pitchFamily="34" charset="-120"/>
              </a:rPr>
              <a:t>Our role is to understand what the client is trying to do, make the options clear, and build the solution that makes the most sense. We are not a big agency, and we do not pretend to be one.</a:t>
            </a:r>
            <a:endParaRPr lang="en-US" sz="1350" dirty="0"/>
          </a:p>
        </p:txBody>
      </p:sp>
      <p:sp>
        <p:nvSpPr>
          <p:cNvPr id="7" name="Shape 4"/>
          <p:cNvSpPr/>
          <p:nvPr/>
        </p:nvSpPr>
        <p:spPr>
          <a:xfrm>
            <a:off x="566928" y="5532120"/>
            <a:ext cx="64008" cy="868680"/>
          </a:xfrm>
          <a:prstGeom prst="rect">
            <a:avLst/>
          </a:prstGeom>
          <a:solidFill>
            <a:srgbClr val="46D12A"/>
          </a:solidFill>
          <a:ln/>
        </p:spPr>
      </p:sp>
      <p:sp>
        <p:nvSpPr>
          <p:cNvPr id="8" name="Text 5"/>
          <p:cNvSpPr/>
          <p:nvPr/>
        </p:nvSpPr>
        <p:spPr>
          <a:xfrm>
            <a:off x="768096" y="5486400"/>
            <a:ext cx="5394960" cy="960120"/>
          </a:xfrm>
          <a:prstGeom prst="rect">
            <a:avLst/>
          </a:prstGeom>
          <a:noFill/>
          <a:ln/>
        </p:spPr>
        <p:txBody>
          <a:bodyPr wrap="square" lIns="0" tIns="0" rIns="0" bIns="0" rtlCol="0" anchor="ctr"/>
          <a:lstStyle/>
          <a:p>
            <a:pPr indent="0" marL="0">
              <a:lnSpc>
                <a:spcPct val="105000"/>
              </a:lnSpc>
              <a:buNone/>
            </a:pPr>
            <a:r>
              <a:rPr lang="en-US" sz="1800" b="1" dirty="0">
                <a:solidFill>
                  <a:srgbClr val="0E0E0E"/>
                </a:solidFill>
                <a:latin typeface="Trebuchet MS" pitchFamily="34" charset="0"/>
                <a:ea typeface="Trebuchet MS" pitchFamily="34" charset="-122"/>
                <a:cs typeface="Trebuchet MS" pitchFamily="34" charset="-120"/>
              </a:rPr>
              <a:t>Formerly Don’t Forget. </a:t>
            </a:r>
            <a:pPr indent="0" marL="0">
              <a:lnSpc>
                <a:spcPct val="105000"/>
              </a:lnSpc>
              <a:buNone/>
            </a:pPr>
            <a:r>
              <a:rPr lang="en-US" sz="1800" b="1" dirty="0">
                <a:solidFill>
                  <a:srgbClr val="2E8E1B"/>
                </a:solidFill>
                <a:latin typeface="Trebuchet MS" pitchFamily="34" charset="0"/>
                <a:ea typeface="Trebuchet MS" pitchFamily="34" charset="-122"/>
                <a:cs typeface="Trebuchet MS" pitchFamily="34" charset="-120"/>
              </a:rPr>
              <a:t>Same team, easier name.</a:t>
            </a:r>
            <a:endParaRPr lang="en-US" sz="1800" dirty="0"/>
          </a:p>
        </p:txBody>
      </p:sp>
      <p:sp>
        <p:nvSpPr>
          <p:cNvPr id="9" name="Shape 6"/>
          <p:cNvSpPr/>
          <p:nvPr/>
        </p:nvSpPr>
        <p:spPr>
          <a:xfrm>
            <a:off x="6858000" y="1783080"/>
            <a:ext cx="4754880" cy="4480560"/>
          </a:xfrm>
          <a:prstGeom prst="roundRect">
            <a:avLst>
              <a:gd name="adj" fmla="val 1837"/>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10" name="Text 7"/>
          <p:cNvSpPr/>
          <p:nvPr/>
        </p:nvSpPr>
        <p:spPr>
          <a:xfrm>
            <a:off x="7178040" y="2057400"/>
            <a:ext cx="3657600" cy="274320"/>
          </a:xfrm>
          <a:prstGeom prst="rect">
            <a:avLst/>
          </a:prstGeom>
          <a:noFill/>
          <a:ln/>
        </p:spPr>
        <p:txBody>
          <a:bodyPr wrap="square" lIns="0" tIns="0" rIns="0" bIns="0" rtlCol="0" anchor="ctr"/>
          <a:lstStyle/>
          <a:p>
            <a:pPr indent="0" marL="0">
              <a:buNone/>
            </a:pPr>
            <a:r>
              <a:rPr lang="en-US" sz="1100" b="1" spc="300" kern="0" dirty="0">
                <a:solidFill>
                  <a:srgbClr val="9A958A"/>
                </a:solidFill>
                <a:latin typeface="Trebuchet MS" pitchFamily="34" charset="0"/>
                <a:ea typeface="Trebuchet MS" pitchFamily="34" charset="-122"/>
                <a:cs typeface="Trebuchet MS" pitchFamily="34" charset="-120"/>
              </a:rPr>
              <a:t>AT A GLANCE</a:t>
            </a:r>
            <a:endParaRPr lang="en-US" sz="1100" dirty="0"/>
          </a:p>
        </p:txBody>
      </p:sp>
      <p:sp>
        <p:nvSpPr>
          <p:cNvPr id="11" name="Text 8"/>
          <p:cNvSpPr/>
          <p:nvPr/>
        </p:nvSpPr>
        <p:spPr>
          <a:xfrm>
            <a:off x="7178040" y="2523744"/>
            <a:ext cx="1737360" cy="36576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COMPANY</a:t>
            </a:r>
            <a:endParaRPr lang="en-US" sz="950" dirty="0"/>
          </a:p>
        </p:txBody>
      </p:sp>
      <p:sp>
        <p:nvSpPr>
          <p:cNvPr id="12" name="Text 9"/>
          <p:cNvSpPr/>
          <p:nvPr/>
        </p:nvSpPr>
        <p:spPr>
          <a:xfrm>
            <a:off x="8869680" y="2523744"/>
            <a:ext cx="2468880" cy="365760"/>
          </a:xfrm>
          <a:prstGeom prst="rect">
            <a:avLst/>
          </a:prstGeom>
          <a:noFill/>
          <a:ln/>
        </p:spPr>
        <p:txBody>
          <a:bodyPr wrap="square" lIns="0" tIns="0" rIns="0" bIns="0" rtlCol="0" anchor="ctr"/>
          <a:lstStyle/>
          <a:p>
            <a:pPr algn="l" indent="0" marL="0">
              <a:buNone/>
            </a:pPr>
            <a:r>
              <a:rPr lang="en-US" sz="1150" b="1" dirty="0">
                <a:solidFill>
                  <a:srgbClr val="0E0E0E"/>
                </a:solidFill>
                <a:latin typeface="Calibri" pitchFamily="34" charset="0"/>
                <a:ea typeface="Calibri" pitchFamily="34" charset="-122"/>
                <a:cs typeface="Calibri" pitchFamily="34" charset="-120"/>
              </a:rPr>
              <a:t>nox Studio</a:t>
            </a:r>
            <a:endParaRPr lang="en-US" sz="1150" dirty="0"/>
          </a:p>
        </p:txBody>
      </p:sp>
      <p:sp>
        <p:nvSpPr>
          <p:cNvPr id="13" name="Shape 10"/>
          <p:cNvSpPr/>
          <p:nvPr/>
        </p:nvSpPr>
        <p:spPr>
          <a:xfrm>
            <a:off x="7178040" y="2926080"/>
            <a:ext cx="4114800" cy="0"/>
          </a:xfrm>
          <a:prstGeom prst="line">
            <a:avLst/>
          </a:prstGeom>
          <a:noFill/>
          <a:ln w="12700">
            <a:solidFill>
              <a:srgbClr val="E7E3DA"/>
            </a:solidFill>
            <a:prstDash val="solid"/>
          </a:ln>
        </p:spPr>
      </p:sp>
      <p:sp>
        <p:nvSpPr>
          <p:cNvPr id="14" name="Text 11"/>
          <p:cNvSpPr/>
          <p:nvPr/>
        </p:nvSpPr>
        <p:spPr>
          <a:xfrm>
            <a:off x="7178040" y="2980944"/>
            <a:ext cx="1737360" cy="36576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WEBSITE</a:t>
            </a:r>
            <a:endParaRPr lang="en-US" sz="950" dirty="0"/>
          </a:p>
        </p:txBody>
      </p:sp>
      <p:sp>
        <p:nvSpPr>
          <p:cNvPr id="15" name="Text 12"/>
          <p:cNvSpPr/>
          <p:nvPr/>
        </p:nvSpPr>
        <p:spPr>
          <a:xfrm>
            <a:off x="8869680" y="2980944"/>
            <a:ext cx="2468880" cy="365760"/>
          </a:xfrm>
          <a:prstGeom prst="rect">
            <a:avLst/>
          </a:prstGeom>
          <a:noFill/>
          <a:ln/>
        </p:spPr>
        <p:txBody>
          <a:bodyPr wrap="square" lIns="0" tIns="0" rIns="0" bIns="0" rtlCol="0" anchor="ctr"/>
          <a:lstStyle/>
          <a:p>
            <a:pPr algn="l" indent="0" marL="0">
              <a:buNone/>
            </a:pPr>
            <a:r>
              <a:rPr lang="en-US" sz="1150" b="1" dirty="0">
                <a:solidFill>
                  <a:srgbClr val="0E0E0E"/>
                </a:solidFill>
                <a:latin typeface="Calibri" pitchFamily="34" charset="0"/>
                <a:ea typeface="Calibri" pitchFamily="34" charset="-122"/>
                <a:cs typeface="Calibri" pitchFamily="34" charset="-120"/>
              </a:rPr>
              <a:t>noxstudio.dev</a:t>
            </a:r>
            <a:endParaRPr lang="en-US" sz="1150" dirty="0"/>
          </a:p>
        </p:txBody>
      </p:sp>
      <p:sp>
        <p:nvSpPr>
          <p:cNvPr id="16" name="Shape 13"/>
          <p:cNvSpPr/>
          <p:nvPr/>
        </p:nvSpPr>
        <p:spPr>
          <a:xfrm>
            <a:off x="7178040" y="3383280"/>
            <a:ext cx="4114800" cy="0"/>
          </a:xfrm>
          <a:prstGeom prst="line">
            <a:avLst/>
          </a:prstGeom>
          <a:noFill/>
          <a:ln w="12700">
            <a:solidFill>
              <a:srgbClr val="E7E3DA"/>
            </a:solidFill>
            <a:prstDash val="solid"/>
          </a:ln>
        </p:spPr>
      </p:sp>
      <p:sp>
        <p:nvSpPr>
          <p:cNvPr id="17" name="Text 14"/>
          <p:cNvSpPr/>
          <p:nvPr/>
        </p:nvSpPr>
        <p:spPr>
          <a:xfrm>
            <a:off x="7178040" y="3438144"/>
            <a:ext cx="1737360" cy="36576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EMAIL</a:t>
            </a:r>
            <a:endParaRPr lang="en-US" sz="950" dirty="0"/>
          </a:p>
        </p:txBody>
      </p:sp>
      <p:sp>
        <p:nvSpPr>
          <p:cNvPr id="18" name="Text 15"/>
          <p:cNvSpPr/>
          <p:nvPr/>
        </p:nvSpPr>
        <p:spPr>
          <a:xfrm>
            <a:off x="8869680" y="3438144"/>
            <a:ext cx="2468880" cy="365760"/>
          </a:xfrm>
          <a:prstGeom prst="rect">
            <a:avLst/>
          </a:prstGeom>
          <a:noFill/>
          <a:ln/>
        </p:spPr>
        <p:txBody>
          <a:bodyPr wrap="square" lIns="0" tIns="0" rIns="0" bIns="0" rtlCol="0" anchor="ctr"/>
          <a:lstStyle/>
          <a:p>
            <a:pPr algn="l" indent="0" marL="0">
              <a:buNone/>
            </a:pPr>
            <a:r>
              <a:rPr lang="en-US" sz="1150" b="1" dirty="0">
                <a:solidFill>
                  <a:srgbClr val="0E0E0E"/>
                </a:solidFill>
                <a:latin typeface="Calibri" pitchFamily="34" charset="0"/>
                <a:ea typeface="Calibri" pitchFamily="34" charset="-122"/>
                <a:cs typeface="Calibri" pitchFamily="34" charset="-120"/>
              </a:rPr>
              <a:t>hello@noxstudio.dev</a:t>
            </a:r>
            <a:endParaRPr lang="en-US" sz="1150" dirty="0"/>
          </a:p>
        </p:txBody>
      </p:sp>
      <p:sp>
        <p:nvSpPr>
          <p:cNvPr id="19" name="Shape 16"/>
          <p:cNvSpPr/>
          <p:nvPr/>
        </p:nvSpPr>
        <p:spPr>
          <a:xfrm>
            <a:off x="7178040" y="3840480"/>
            <a:ext cx="4114800" cy="0"/>
          </a:xfrm>
          <a:prstGeom prst="line">
            <a:avLst/>
          </a:prstGeom>
          <a:noFill/>
          <a:ln w="12700">
            <a:solidFill>
              <a:srgbClr val="E7E3DA"/>
            </a:solidFill>
            <a:prstDash val="solid"/>
          </a:ln>
        </p:spPr>
      </p:sp>
      <p:sp>
        <p:nvSpPr>
          <p:cNvPr id="20" name="Text 17"/>
          <p:cNvSpPr/>
          <p:nvPr/>
        </p:nvSpPr>
        <p:spPr>
          <a:xfrm>
            <a:off x="7178040" y="3895344"/>
            <a:ext cx="1737360" cy="36576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PHONE</a:t>
            </a:r>
            <a:endParaRPr lang="en-US" sz="950" dirty="0"/>
          </a:p>
        </p:txBody>
      </p:sp>
      <p:sp>
        <p:nvSpPr>
          <p:cNvPr id="21" name="Text 18"/>
          <p:cNvSpPr/>
          <p:nvPr/>
        </p:nvSpPr>
        <p:spPr>
          <a:xfrm>
            <a:off x="8869680" y="3895344"/>
            <a:ext cx="2468880" cy="365760"/>
          </a:xfrm>
          <a:prstGeom prst="rect">
            <a:avLst/>
          </a:prstGeom>
          <a:noFill/>
          <a:ln/>
        </p:spPr>
        <p:txBody>
          <a:bodyPr wrap="square" lIns="0" tIns="0" rIns="0" bIns="0" rtlCol="0" anchor="ctr"/>
          <a:lstStyle/>
          <a:p>
            <a:pPr algn="l" indent="0" marL="0">
              <a:buNone/>
            </a:pPr>
            <a:r>
              <a:rPr lang="en-US" sz="1150" b="1" dirty="0">
                <a:solidFill>
                  <a:srgbClr val="0E0E0E"/>
                </a:solidFill>
                <a:latin typeface="Calibri" pitchFamily="34" charset="0"/>
                <a:ea typeface="Calibri" pitchFamily="34" charset="-122"/>
                <a:cs typeface="Calibri" pitchFamily="34" charset="-120"/>
              </a:rPr>
              <a:t>+963 935 154 501</a:t>
            </a:r>
            <a:endParaRPr lang="en-US" sz="1150" dirty="0"/>
          </a:p>
        </p:txBody>
      </p:sp>
      <p:sp>
        <p:nvSpPr>
          <p:cNvPr id="22" name="Shape 19"/>
          <p:cNvSpPr/>
          <p:nvPr/>
        </p:nvSpPr>
        <p:spPr>
          <a:xfrm>
            <a:off x="7178040" y="4297680"/>
            <a:ext cx="4114800" cy="0"/>
          </a:xfrm>
          <a:prstGeom prst="line">
            <a:avLst/>
          </a:prstGeom>
          <a:noFill/>
          <a:ln w="12700">
            <a:solidFill>
              <a:srgbClr val="E7E3DA"/>
            </a:solidFill>
            <a:prstDash val="solid"/>
          </a:ln>
        </p:spPr>
      </p:sp>
      <p:sp>
        <p:nvSpPr>
          <p:cNvPr id="23" name="Text 20"/>
          <p:cNvSpPr/>
          <p:nvPr/>
        </p:nvSpPr>
        <p:spPr>
          <a:xfrm>
            <a:off x="7178040" y="4352544"/>
            <a:ext cx="1737360" cy="36576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LOCATION</a:t>
            </a:r>
            <a:endParaRPr lang="en-US" sz="950" dirty="0"/>
          </a:p>
        </p:txBody>
      </p:sp>
      <p:sp>
        <p:nvSpPr>
          <p:cNvPr id="24" name="Text 21"/>
          <p:cNvSpPr/>
          <p:nvPr/>
        </p:nvSpPr>
        <p:spPr>
          <a:xfrm>
            <a:off x="8869680" y="4352544"/>
            <a:ext cx="2468880" cy="365760"/>
          </a:xfrm>
          <a:prstGeom prst="rect">
            <a:avLst/>
          </a:prstGeom>
          <a:noFill/>
          <a:ln/>
        </p:spPr>
        <p:txBody>
          <a:bodyPr wrap="square" lIns="0" tIns="0" rIns="0" bIns="0" rtlCol="0" anchor="ctr"/>
          <a:lstStyle/>
          <a:p>
            <a:pPr algn="l" indent="0" marL="0">
              <a:buNone/>
            </a:pPr>
            <a:r>
              <a:rPr lang="en-US" sz="1150" b="1" dirty="0">
                <a:solidFill>
                  <a:srgbClr val="0E0E0E"/>
                </a:solidFill>
                <a:latin typeface="Calibri" pitchFamily="34" charset="0"/>
                <a:ea typeface="Calibri" pitchFamily="34" charset="-122"/>
                <a:cs typeface="Calibri" pitchFamily="34" charset="-120"/>
              </a:rPr>
              <a:t>Yabroud, Damascus Suburbs</a:t>
            </a:r>
            <a:endParaRPr lang="en-US" sz="1150" dirty="0"/>
          </a:p>
        </p:txBody>
      </p:sp>
      <p:sp>
        <p:nvSpPr>
          <p:cNvPr id="25" name="Shape 22"/>
          <p:cNvSpPr/>
          <p:nvPr/>
        </p:nvSpPr>
        <p:spPr>
          <a:xfrm>
            <a:off x="7178040" y="4754880"/>
            <a:ext cx="4114800" cy="0"/>
          </a:xfrm>
          <a:prstGeom prst="line">
            <a:avLst/>
          </a:prstGeom>
          <a:noFill/>
          <a:ln w="12700">
            <a:solidFill>
              <a:srgbClr val="E7E3DA"/>
            </a:solidFill>
            <a:prstDash val="solid"/>
          </a:ln>
        </p:spPr>
      </p:sp>
      <p:sp>
        <p:nvSpPr>
          <p:cNvPr id="26" name="Text 23"/>
          <p:cNvSpPr/>
          <p:nvPr/>
        </p:nvSpPr>
        <p:spPr>
          <a:xfrm>
            <a:off x="7178040" y="4809744"/>
            <a:ext cx="1737360" cy="36576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MODEL</a:t>
            </a:r>
            <a:endParaRPr lang="en-US" sz="950" dirty="0"/>
          </a:p>
        </p:txBody>
      </p:sp>
      <p:sp>
        <p:nvSpPr>
          <p:cNvPr id="27" name="Text 24"/>
          <p:cNvSpPr/>
          <p:nvPr/>
        </p:nvSpPr>
        <p:spPr>
          <a:xfrm>
            <a:off x="8869680" y="4809744"/>
            <a:ext cx="2468880" cy="365760"/>
          </a:xfrm>
          <a:prstGeom prst="rect">
            <a:avLst/>
          </a:prstGeom>
          <a:noFill/>
          <a:ln/>
        </p:spPr>
        <p:txBody>
          <a:bodyPr wrap="square" lIns="0" tIns="0" rIns="0" bIns="0" rtlCol="0" anchor="ctr"/>
          <a:lstStyle/>
          <a:p>
            <a:pPr algn="l" indent="0" marL="0">
              <a:buNone/>
            </a:pPr>
            <a:r>
              <a:rPr lang="en-US" sz="1150" b="1" dirty="0">
                <a:solidFill>
                  <a:srgbClr val="0E0E0E"/>
                </a:solidFill>
                <a:latin typeface="Calibri" pitchFamily="34" charset="0"/>
                <a:ea typeface="Calibri" pitchFamily="34" charset="-122"/>
                <a:cs typeface="Calibri" pitchFamily="34" charset="-120"/>
              </a:rPr>
              <a:t>Remote · Worldwide</a:t>
            </a:r>
            <a:endParaRPr lang="en-US" sz="1150" dirty="0"/>
          </a:p>
        </p:txBody>
      </p:sp>
      <p:sp>
        <p:nvSpPr>
          <p:cNvPr id="28" name="Shape 25"/>
          <p:cNvSpPr/>
          <p:nvPr/>
        </p:nvSpPr>
        <p:spPr>
          <a:xfrm>
            <a:off x="7178040" y="5212080"/>
            <a:ext cx="4114800" cy="0"/>
          </a:xfrm>
          <a:prstGeom prst="line">
            <a:avLst/>
          </a:prstGeom>
          <a:noFill/>
          <a:ln w="12700">
            <a:solidFill>
              <a:srgbClr val="E7E3DA"/>
            </a:solidFill>
            <a:prstDash val="solid"/>
          </a:ln>
        </p:spPr>
      </p:sp>
      <p:sp>
        <p:nvSpPr>
          <p:cNvPr id="29" name="Text 26"/>
          <p:cNvSpPr/>
          <p:nvPr/>
        </p:nvSpPr>
        <p:spPr>
          <a:xfrm>
            <a:off x="7178040" y="5266944"/>
            <a:ext cx="1737360" cy="36576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FOUNDED</a:t>
            </a:r>
            <a:endParaRPr lang="en-US" sz="950" dirty="0"/>
          </a:p>
        </p:txBody>
      </p:sp>
      <p:sp>
        <p:nvSpPr>
          <p:cNvPr id="30" name="Text 27"/>
          <p:cNvSpPr/>
          <p:nvPr/>
        </p:nvSpPr>
        <p:spPr>
          <a:xfrm>
            <a:off x="8869680" y="5266944"/>
            <a:ext cx="2468880" cy="365760"/>
          </a:xfrm>
          <a:prstGeom prst="rect">
            <a:avLst/>
          </a:prstGeom>
          <a:noFill/>
          <a:ln/>
        </p:spPr>
        <p:txBody>
          <a:bodyPr wrap="square" lIns="0" tIns="0" rIns="0" bIns="0" rtlCol="0" anchor="ctr"/>
          <a:lstStyle/>
          <a:p>
            <a:pPr algn="l" indent="0" marL="0">
              <a:buNone/>
            </a:pPr>
            <a:r>
              <a:rPr lang="en-US" sz="1150" b="1" dirty="0">
                <a:solidFill>
                  <a:srgbClr val="0E0E0E"/>
                </a:solidFill>
                <a:latin typeface="Calibri" pitchFamily="34" charset="0"/>
                <a:ea typeface="Calibri" pitchFamily="34" charset="-122"/>
                <a:cs typeface="Calibri" pitchFamily="34" charset="-120"/>
              </a:rPr>
              <a:t>2022</a:t>
            </a:r>
            <a:endParaRPr lang="en-US" sz="1150" dirty="0"/>
          </a:p>
        </p:txBody>
      </p:sp>
      <p:sp>
        <p:nvSpPr>
          <p:cNvPr id="31" name="Shape 28"/>
          <p:cNvSpPr/>
          <p:nvPr/>
        </p:nvSpPr>
        <p:spPr>
          <a:xfrm>
            <a:off x="7178040" y="5669280"/>
            <a:ext cx="4114800" cy="0"/>
          </a:xfrm>
          <a:prstGeom prst="line">
            <a:avLst/>
          </a:prstGeom>
          <a:noFill/>
          <a:ln w="12700">
            <a:solidFill>
              <a:srgbClr val="E7E3DA"/>
            </a:solidFill>
            <a:prstDash val="solid"/>
          </a:ln>
        </p:spPr>
      </p:sp>
      <p:sp>
        <p:nvSpPr>
          <p:cNvPr id="32" name="Text 29"/>
          <p:cNvSpPr/>
          <p:nvPr/>
        </p:nvSpPr>
        <p:spPr>
          <a:xfrm>
            <a:off x="7178040" y="5724144"/>
            <a:ext cx="1737360" cy="36576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CORE TEAM</a:t>
            </a:r>
            <a:endParaRPr lang="en-US" sz="950" dirty="0"/>
          </a:p>
        </p:txBody>
      </p:sp>
      <p:sp>
        <p:nvSpPr>
          <p:cNvPr id="33" name="Text 30"/>
          <p:cNvSpPr/>
          <p:nvPr/>
        </p:nvSpPr>
        <p:spPr>
          <a:xfrm>
            <a:off x="8869680" y="5724144"/>
            <a:ext cx="2468880" cy="365760"/>
          </a:xfrm>
          <a:prstGeom prst="rect">
            <a:avLst/>
          </a:prstGeom>
          <a:noFill/>
          <a:ln/>
        </p:spPr>
        <p:txBody>
          <a:bodyPr wrap="square" lIns="0" tIns="0" rIns="0" bIns="0" rtlCol="0" anchor="ctr"/>
          <a:lstStyle/>
          <a:p>
            <a:pPr algn="l" indent="0" marL="0">
              <a:buNone/>
            </a:pPr>
            <a:r>
              <a:rPr lang="en-US" sz="1150" b="1" dirty="0">
                <a:solidFill>
                  <a:srgbClr val="0E0E0E"/>
                </a:solidFill>
                <a:latin typeface="Calibri" pitchFamily="34" charset="0"/>
                <a:ea typeface="Calibri" pitchFamily="34" charset="-122"/>
                <a:cs typeface="Calibri" pitchFamily="34" charset="-120"/>
              </a:rPr>
              <a:t>4 people · collaborators when needed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pic>
        <p:nvPicPr>
          <p:cNvPr id="2" name="Image 0" descr="/home/claude/logo_white.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5C5C56"/>
                </a:solidFill>
                <a:latin typeface="Trebuchet MS" pitchFamily="34" charset="0"/>
                <a:ea typeface="Trebuchet MS" pitchFamily="34" charset="-122"/>
                <a:cs typeface="Trebuchet MS" pitchFamily="34" charset="-120"/>
              </a:rPr>
              <a:t>03</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46D12A"/>
                </a:solidFill>
                <a:latin typeface="Trebuchet MS" pitchFamily="34" charset="0"/>
                <a:ea typeface="Trebuchet MS" pitchFamily="34" charset="-122"/>
                <a:cs typeface="Trebuchet MS" pitchFamily="34" charset="-120"/>
              </a:rPr>
              <a:t>FOUNDERS &amp; LEADERSHIP</a:t>
            </a:r>
            <a:endParaRPr lang="en-US" sz="1100" dirty="0"/>
          </a:p>
        </p:txBody>
      </p:sp>
      <p:sp>
        <p:nvSpPr>
          <p:cNvPr id="5" name="Text 2"/>
          <p:cNvSpPr/>
          <p:nvPr/>
        </p:nvSpPr>
        <p:spPr>
          <a:xfrm>
            <a:off x="566928" y="859536"/>
            <a:ext cx="8229600" cy="11887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Trebuchet MS" pitchFamily="34" charset="0"/>
                <a:ea typeface="Trebuchet MS" pitchFamily="34" charset="-122"/>
                <a:cs typeface="Trebuchet MS" pitchFamily="34" charset="-120"/>
              </a:rPr>
              <a:t>Built by people who like things </a:t>
            </a:r>
            <a:pPr indent="0" marL="0">
              <a:lnSpc>
                <a:spcPct val="98000"/>
              </a:lnSpc>
              <a:buNone/>
            </a:pPr>
            <a:r>
              <a:rPr lang="en-US" sz="3000" b="1" dirty="0">
                <a:solidFill>
                  <a:srgbClr val="46D12A"/>
                </a:solidFill>
                <a:latin typeface="Trebuchet MS" pitchFamily="34" charset="0"/>
                <a:ea typeface="Trebuchet MS" pitchFamily="34" charset="-122"/>
                <a:cs typeface="Trebuchet MS" pitchFamily="34" charset="-120"/>
              </a:rPr>
              <a:t>done properly.</a:t>
            </a:r>
            <a:endParaRPr lang="en-US" sz="3000" dirty="0"/>
          </a:p>
        </p:txBody>
      </p:sp>
      <p:sp>
        <p:nvSpPr>
          <p:cNvPr id="6" name="Text 3"/>
          <p:cNvSpPr/>
          <p:nvPr/>
        </p:nvSpPr>
        <p:spPr>
          <a:xfrm>
            <a:off x="566928" y="1965960"/>
            <a:ext cx="8686800" cy="731520"/>
          </a:xfrm>
          <a:prstGeom prst="rect">
            <a:avLst/>
          </a:prstGeom>
          <a:noFill/>
          <a:ln/>
        </p:spPr>
        <p:txBody>
          <a:bodyPr wrap="square" lIns="0" tIns="0" rIns="0" bIns="0" rtlCol="0" anchor="ctr"/>
          <a:lstStyle/>
          <a:p>
            <a:pPr indent="0" marL="0">
              <a:lnSpc>
                <a:spcPct val="120000"/>
              </a:lnSpc>
              <a:buNone/>
            </a:pPr>
            <a:r>
              <a:rPr lang="en-US" sz="1300" dirty="0">
                <a:solidFill>
                  <a:srgbClr val="A8A8A2"/>
                </a:solidFill>
                <a:latin typeface="Calibri" pitchFamily="34" charset="0"/>
                <a:ea typeface="Calibri" pitchFamily="34" charset="-122"/>
                <a:cs typeface="Calibri" pitchFamily="34" charset="-120"/>
              </a:rPr>
              <a:t>Behind nox Studio is a small team of engineers and builders who care about people as much as they care about the product. We like clean systems, clear conversations, and clients who can sleep better knowing the digital part is finally moving.</a:t>
            </a:r>
            <a:endParaRPr lang="en-US" sz="1300" dirty="0"/>
          </a:p>
        </p:txBody>
      </p:sp>
      <p:sp>
        <p:nvSpPr>
          <p:cNvPr id="7" name="Shape 4"/>
          <p:cNvSpPr/>
          <p:nvPr/>
        </p:nvSpPr>
        <p:spPr>
          <a:xfrm>
            <a:off x="566928" y="2971800"/>
            <a:ext cx="3520440" cy="2834640"/>
          </a:xfrm>
          <a:prstGeom prst="roundRect">
            <a:avLst>
              <a:gd name="adj" fmla="val 2903"/>
            </a:avLst>
          </a:prstGeom>
          <a:solidFill>
            <a:srgbClr val="141414"/>
          </a:solidFill>
          <a:ln w="12700">
            <a:solidFill>
              <a:srgbClr val="262626"/>
            </a:solidFill>
            <a:prstDash val="solid"/>
          </a:ln>
        </p:spPr>
      </p:sp>
      <p:sp>
        <p:nvSpPr>
          <p:cNvPr id="8" name="Shape 5"/>
          <p:cNvSpPr/>
          <p:nvPr/>
        </p:nvSpPr>
        <p:spPr>
          <a:xfrm>
            <a:off x="886968" y="3291840"/>
            <a:ext cx="868680" cy="868680"/>
          </a:xfrm>
          <a:prstGeom prst="ellipse">
            <a:avLst/>
          </a:prstGeom>
          <a:solidFill>
            <a:srgbClr val="141414"/>
          </a:solidFill>
          <a:ln w="25400">
            <a:solidFill>
              <a:srgbClr val="46D12A"/>
            </a:solidFill>
            <a:prstDash val="solid"/>
          </a:ln>
        </p:spPr>
      </p:sp>
      <p:sp>
        <p:nvSpPr>
          <p:cNvPr id="9" name="Text 6"/>
          <p:cNvSpPr/>
          <p:nvPr/>
        </p:nvSpPr>
        <p:spPr>
          <a:xfrm>
            <a:off x="886968" y="3291840"/>
            <a:ext cx="868680" cy="868680"/>
          </a:xfrm>
          <a:prstGeom prst="rect">
            <a:avLst/>
          </a:prstGeom>
          <a:noFill/>
          <a:ln/>
        </p:spPr>
        <p:txBody>
          <a:bodyPr wrap="square" lIns="0" tIns="0" rIns="0" bIns="0" rtlCol="0" anchor="ctr"/>
          <a:lstStyle/>
          <a:p>
            <a:pPr algn="ctr" indent="0" marL="0">
              <a:buNone/>
            </a:pPr>
            <a:r>
              <a:rPr lang="en-US" sz="1800" b="1" dirty="0">
                <a:solidFill>
                  <a:srgbClr val="46D12A"/>
                </a:solidFill>
                <a:latin typeface="Trebuchet MS" pitchFamily="34" charset="0"/>
                <a:ea typeface="Trebuchet MS" pitchFamily="34" charset="-122"/>
                <a:cs typeface="Trebuchet MS" pitchFamily="34" charset="-120"/>
              </a:rPr>
              <a:t>TN</a:t>
            </a:r>
            <a:endParaRPr lang="en-US" sz="1800" dirty="0"/>
          </a:p>
        </p:txBody>
      </p:sp>
      <p:sp>
        <p:nvSpPr>
          <p:cNvPr id="10" name="Text 7"/>
          <p:cNvSpPr/>
          <p:nvPr/>
        </p:nvSpPr>
        <p:spPr>
          <a:xfrm>
            <a:off x="886968" y="4343400"/>
            <a:ext cx="2880360" cy="36576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Eng. Tony Nakhla</a:t>
            </a:r>
            <a:endParaRPr lang="en-US" sz="1500" dirty="0"/>
          </a:p>
        </p:txBody>
      </p:sp>
      <p:sp>
        <p:nvSpPr>
          <p:cNvPr id="11" name="Text 8"/>
          <p:cNvSpPr/>
          <p:nvPr/>
        </p:nvSpPr>
        <p:spPr>
          <a:xfrm>
            <a:off x="886968" y="4681728"/>
            <a:ext cx="2880360" cy="256032"/>
          </a:xfrm>
          <a:prstGeom prst="rect">
            <a:avLst/>
          </a:prstGeom>
          <a:noFill/>
          <a:ln/>
        </p:spPr>
        <p:txBody>
          <a:bodyPr wrap="square" lIns="0" tIns="0" rIns="0" bIns="0" rtlCol="0" anchor="ctr"/>
          <a:lstStyle/>
          <a:p>
            <a:pPr indent="0" marL="0">
              <a:buNone/>
            </a:pPr>
            <a:r>
              <a:rPr lang="en-US" sz="950" b="1" spc="200" kern="0" dirty="0">
                <a:solidFill>
                  <a:srgbClr val="46D12A"/>
                </a:solidFill>
                <a:latin typeface="Trebuchet MS" pitchFamily="34" charset="0"/>
                <a:ea typeface="Trebuchet MS" pitchFamily="34" charset="-122"/>
                <a:cs typeface="Trebuchet MS" pitchFamily="34" charset="-120"/>
              </a:rPr>
              <a:t>CO-FOUNDER</a:t>
            </a:r>
            <a:endParaRPr lang="en-US" sz="950" dirty="0"/>
          </a:p>
        </p:txBody>
      </p:sp>
      <p:sp>
        <p:nvSpPr>
          <p:cNvPr id="12" name="Text 9"/>
          <p:cNvSpPr/>
          <p:nvPr/>
        </p:nvSpPr>
        <p:spPr>
          <a:xfrm>
            <a:off x="886968" y="4983480"/>
            <a:ext cx="2880360" cy="731520"/>
          </a:xfrm>
          <a:prstGeom prst="rect">
            <a:avLst/>
          </a:prstGeom>
          <a:noFill/>
          <a:ln/>
        </p:spPr>
        <p:txBody>
          <a:bodyPr wrap="square" lIns="0" tIns="0" rIns="0" bIns="0" rtlCol="0" anchor="ctr"/>
          <a:lstStyle/>
          <a:p>
            <a:pPr indent="0" marL="0">
              <a:lnSpc>
                <a:spcPct val="112000"/>
              </a:lnSpc>
              <a:buNone/>
            </a:pPr>
            <a:r>
              <a:rPr lang="en-US" sz="1100" dirty="0">
                <a:solidFill>
                  <a:srgbClr val="9A9A94"/>
                </a:solidFill>
                <a:latin typeface="Calibri" pitchFamily="34" charset="0"/>
                <a:ea typeface="Calibri" pitchFamily="34" charset="-122"/>
                <a:cs typeface="Calibri" pitchFamily="34" charset="-120"/>
              </a:rPr>
              <a:t>Full-stack &amp; technical lead — architecture, delivery, and the systems behind the experience.</a:t>
            </a:r>
            <a:endParaRPr lang="en-US" sz="1100" dirty="0"/>
          </a:p>
        </p:txBody>
      </p:sp>
      <p:sp>
        <p:nvSpPr>
          <p:cNvPr id="13" name="Shape 10"/>
          <p:cNvSpPr/>
          <p:nvPr/>
        </p:nvSpPr>
        <p:spPr>
          <a:xfrm>
            <a:off x="4379976" y="2971800"/>
            <a:ext cx="3520440" cy="2834640"/>
          </a:xfrm>
          <a:prstGeom prst="roundRect">
            <a:avLst>
              <a:gd name="adj" fmla="val 2903"/>
            </a:avLst>
          </a:prstGeom>
          <a:solidFill>
            <a:srgbClr val="141414"/>
          </a:solidFill>
          <a:ln w="12700">
            <a:solidFill>
              <a:srgbClr val="262626"/>
            </a:solidFill>
            <a:prstDash val="solid"/>
          </a:ln>
        </p:spPr>
      </p:sp>
      <p:sp>
        <p:nvSpPr>
          <p:cNvPr id="14" name="Shape 11"/>
          <p:cNvSpPr/>
          <p:nvPr/>
        </p:nvSpPr>
        <p:spPr>
          <a:xfrm>
            <a:off x="4700016" y="3291840"/>
            <a:ext cx="868680" cy="868680"/>
          </a:xfrm>
          <a:prstGeom prst="ellipse">
            <a:avLst/>
          </a:prstGeom>
          <a:solidFill>
            <a:srgbClr val="141414"/>
          </a:solidFill>
          <a:ln w="25400">
            <a:solidFill>
              <a:srgbClr val="46D12A"/>
            </a:solidFill>
            <a:prstDash val="solid"/>
          </a:ln>
        </p:spPr>
      </p:sp>
      <p:sp>
        <p:nvSpPr>
          <p:cNvPr id="15" name="Text 12"/>
          <p:cNvSpPr/>
          <p:nvPr/>
        </p:nvSpPr>
        <p:spPr>
          <a:xfrm>
            <a:off x="4700016" y="3291840"/>
            <a:ext cx="868680" cy="868680"/>
          </a:xfrm>
          <a:prstGeom prst="rect">
            <a:avLst/>
          </a:prstGeom>
          <a:noFill/>
          <a:ln/>
        </p:spPr>
        <p:txBody>
          <a:bodyPr wrap="square" lIns="0" tIns="0" rIns="0" bIns="0" rtlCol="0" anchor="ctr"/>
          <a:lstStyle/>
          <a:p>
            <a:pPr algn="ctr" indent="0" marL="0">
              <a:buNone/>
            </a:pPr>
            <a:r>
              <a:rPr lang="en-US" sz="1800" b="1" dirty="0">
                <a:solidFill>
                  <a:srgbClr val="46D12A"/>
                </a:solidFill>
                <a:latin typeface="Trebuchet MS" pitchFamily="34" charset="0"/>
                <a:ea typeface="Trebuchet MS" pitchFamily="34" charset="-122"/>
                <a:cs typeface="Trebuchet MS" pitchFamily="34" charset="-120"/>
              </a:rPr>
              <a:t>RA</a:t>
            </a:r>
            <a:endParaRPr lang="en-US" sz="1800" dirty="0"/>
          </a:p>
        </p:txBody>
      </p:sp>
      <p:sp>
        <p:nvSpPr>
          <p:cNvPr id="16" name="Text 13"/>
          <p:cNvSpPr/>
          <p:nvPr/>
        </p:nvSpPr>
        <p:spPr>
          <a:xfrm>
            <a:off x="4700016" y="4343400"/>
            <a:ext cx="2880360" cy="36576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Eng. Rami Arbash</a:t>
            </a:r>
            <a:endParaRPr lang="en-US" sz="1500" dirty="0"/>
          </a:p>
        </p:txBody>
      </p:sp>
      <p:sp>
        <p:nvSpPr>
          <p:cNvPr id="17" name="Text 14"/>
          <p:cNvSpPr/>
          <p:nvPr/>
        </p:nvSpPr>
        <p:spPr>
          <a:xfrm>
            <a:off x="4700016" y="4681728"/>
            <a:ext cx="2880360" cy="256032"/>
          </a:xfrm>
          <a:prstGeom prst="rect">
            <a:avLst/>
          </a:prstGeom>
          <a:noFill/>
          <a:ln/>
        </p:spPr>
        <p:txBody>
          <a:bodyPr wrap="square" lIns="0" tIns="0" rIns="0" bIns="0" rtlCol="0" anchor="ctr"/>
          <a:lstStyle/>
          <a:p>
            <a:pPr indent="0" marL="0">
              <a:buNone/>
            </a:pPr>
            <a:r>
              <a:rPr lang="en-US" sz="950" b="1" spc="200" kern="0" dirty="0">
                <a:solidFill>
                  <a:srgbClr val="46D12A"/>
                </a:solidFill>
                <a:latin typeface="Trebuchet MS" pitchFamily="34" charset="0"/>
                <a:ea typeface="Trebuchet MS" pitchFamily="34" charset="-122"/>
                <a:cs typeface="Trebuchet MS" pitchFamily="34" charset="-120"/>
              </a:rPr>
              <a:t>CO-FOUNDER</a:t>
            </a:r>
            <a:endParaRPr lang="en-US" sz="950" dirty="0"/>
          </a:p>
        </p:txBody>
      </p:sp>
      <p:sp>
        <p:nvSpPr>
          <p:cNvPr id="18" name="Text 15"/>
          <p:cNvSpPr/>
          <p:nvPr/>
        </p:nvSpPr>
        <p:spPr>
          <a:xfrm>
            <a:off x="4700016" y="4983480"/>
            <a:ext cx="2880360" cy="731520"/>
          </a:xfrm>
          <a:prstGeom prst="rect">
            <a:avLst/>
          </a:prstGeom>
          <a:noFill/>
          <a:ln/>
        </p:spPr>
        <p:txBody>
          <a:bodyPr wrap="square" lIns="0" tIns="0" rIns="0" bIns="0" rtlCol="0" anchor="ctr"/>
          <a:lstStyle/>
          <a:p>
            <a:pPr indent="0" marL="0">
              <a:lnSpc>
                <a:spcPct val="112000"/>
              </a:lnSpc>
              <a:buNone/>
            </a:pPr>
            <a:r>
              <a:rPr lang="en-US" sz="1100" dirty="0">
                <a:solidFill>
                  <a:srgbClr val="9A9A94"/>
                </a:solidFill>
                <a:latin typeface="Calibri" pitchFamily="34" charset="0"/>
                <a:ea typeface="Calibri" pitchFamily="34" charset="-122"/>
                <a:cs typeface="Calibri" pitchFamily="34" charset="-120"/>
              </a:rPr>
              <a:t>Engineering &amp; build — turning plans into working, dependable products.</a:t>
            </a:r>
            <a:endParaRPr lang="en-US" sz="1100" dirty="0"/>
          </a:p>
        </p:txBody>
      </p:sp>
      <p:sp>
        <p:nvSpPr>
          <p:cNvPr id="19" name="Shape 16"/>
          <p:cNvSpPr/>
          <p:nvPr/>
        </p:nvSpPr>
        <p:spPr>
          <a:xfrm>
            <a:off x="8193024" y="2971800"/>
            <a:ext cx="3520440" cy="2834640"/>
          </a:xfrm>
          <a:prstGeom prst="roundRect">
            <a:avLst>
              <a:gd name="adj" fmla="val 2903"/>
            </a:avLst>
          </a:prstGeom>
          <a:solidFill>
            <a:srgbClr val="141414"/>
          </a:solidFill>
          <a:ln w="12700">
            <a:solidFill>
              <a:srgbClr val="262626"/>
            </a:solidFill>
            <a:prstDash val="solid"/>
          </a:ln>
        </p:spPr>
      </p:sp>
      <p:sp>
        <p:nvSpPr>
          <p:cNvPr id="20" name="Shape 17"/>
          <p:cNvSpPr/>
          <p:nvPr/>
        </p:nvSpPr>
        <p:spPr>
          <a:xfrm>
            <a:off x="8513064" y="3291840"/>
            <a:ext cx="868680" cy="868680"/>
          </a:xfrm>
          <a:prstGeom prst="ellipse">
            <a:avLst/>
          </a:prstGeom>
          <a:solidFill>
            <a:srgbClr val="141414"/>
          </a:solidFill>
          <a:ln w="25400">
            <a:solidFill>
              <a:srgbClr val="46D12A"/>
            </a:solidFill>
            <a:prstDash val="solid"/>
          </a:ln>
        </p:spPr>
      </p:sp>
      <p:sp>
        <p:nvSpPr>
          <p:cNvPr id="21" name="Text 18"/>
          <p:cNvSpPr/>
          <p:nvPr/>
        </p:nvSpPr>
        <p:spPr>
          <a:xfrm>
            <a:off x="8513064" y="3291840"/>
            <a:ext cx="868680" cy="868680"/>
          </a:xfrm>
          <a:prstGeom prst="rect">
            <a:avLst/>
          </a:prstGeom>
          <a:noFill/>
          <a:ln/>
        </p:spPr>
        <p:txBody>
          <a:bodyPr wrap="square" lIns="0" tIns="0" rIns="0" bIns="0" rtlCol="0" anchor="ctr"/>
          <a:lstStyle/>
          <a:p>
            <a:pPr algn="ctr" indent="0" marL="0">
              <a:buNone/>
            </a:pPr>
            <a:r>
              <a:rPr lang="en-US" sz="1800" b="1" dirty="0">
                <a:solidFill>
                  <a:srgbClr val="46D12A"/>
                </a:solidFill>
                <a:latin typeface="Trebuchet MS" pitchFamily="34" charset="0"/>
                <a:ea typeface="Trebuchet MS" pitchFamily="34" charset="-122"/>
                <a:cs typeface="Trebuchet MS" pitchFamily="34" charset="-120"/>
              </a:rPr>
              <a:t>JK</a:t>
            </a:r>
            <a:endParaRPr lang="en-US" sz="1800" dirty="0"/>
          </a:p>
        </p:txBody>
      </p:sp>
      <p:sp>
        <p:nvSpPr>
          <p:cNvPr id="22" name="Text 19"/>
          <p:cNvSpPr/>
          <p:nvPr/>
        </p:nvSpPr>
        <p:spPr>
          <a:xfrm>
            <a:off x="8513064" y="4343400"/>
            <a:ext cx="2880360" cy="36576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Eng. Jossef Kassies</a:t>
            </a:r>
            <a:endParaRPr lang="en-US" sz="1500" dirty="0"/>
          </a:p>
        </p:txBody>
      </p:sp>
      <p:sp>
        <p:nvSpPr>
          <p:cNvPr id="23" name="Text 20"/>
          <p:cNvSpPr/>
          <p:nvPr/>
        </p:nvSpPr>
        <p:spPr>
          <a:xfrm>
            <a:off x="8513064" y="4681728"/>
            <a:ext cx="2880360" cy="256032"/>
          </a:xfrm>
          <a:prstGeom prst="rect">
            <a:avLst/>
          </a:prstGeom>
          <a:noFill/>
          <a:ln/>
        </p:spPr>
        <p:txBody>
          <a:bodyPr wrap="square" lIns="0" tIns="0" rIns="0" bIns="0" rtlCol="0" anchor="ctr"/>
          <a:lstStyle/>
          <a:p>
            <a:pPr indent="0" marL="0">
              <a:buNone/>
            </a:pPr>
            <a:r>
              <a:rPr lang="en-US" sz="950" b="1" spc="200" kern="0" dirty="0">
                <a:solidFill>
                  <a:srgbClr val="46D12A"/>
                </a:solidFill>
                <a:latin typeface="Trebuchet MS" pitchFamily="34" charset="0"/>
                <a:ea typeface="Trebuchet MS" pitchFamily="34" charset="-122"/>
                <a:cs typeface="Trebuchet MS" pitchFamily="34" charset="-120"/>
              </a:rPr>
              <a:t>CO-FOUNDER</a:t>
            </a:r>
            <a:endParaRPr lang="en-US" sz="950" dirty="0"/>
          </a:p>
        </p:txBody>
      </p:sp>
      <p:sp>
        <p:nvSpPr>
          <p:cNvPr id="24" name="Text 21"/>
          <p:cNvSpPr/>
          <p:nvPr/>
        </p:nvSpPr>
        <p:spPr>
          <a:xfrm>
            <a:off x="8513064" y="4983480"/>
            <a:ext cx="2880360" cy="731520"/>
          </a:xfrm>
          <a:prstGeom prst="rect">
            <a:avLst/>
          </a:prstGeom>
          <a:noFill/>
          <a:ln/>
        </p:spPr>
        <p:txBody>
          <a:bodyPr wrap="square" lIns="0" tIns="0" rIns="0" bIns="0" rtlCol="0" anchor="ctr"/>
          <a:lstStyle/>
          <a:p>
            <a:pPr indent="0" marL="0">
              <a:lnSpc>
                <a:spcPct val="112000"/>
              </a:lnSpc>
              <a:buNone/>
            </a:pPr>
            <a:r>
              <a:rPr lang="en-US" sz="1100" dirty="0">
                <a:solidFill>
                  <a:srgbClr val="9A9A94"/>
                </a:solidFill>
                <a:latin typeface="Calibri" pitchFamily="34" charset="0"/>
                <a:ea typeface="Calibri" pitchFamily="34" charset="-122"/>
                <a:cs typeface="Calibri" pitchFamily="34" charset="-120"/>
              </a:rPr>
              <a:t>Engineering &amp; craft — clean execution and the details that make things feel right.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04</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POSITIONING</a:t>
            </a:r>
            <a:endParaRPr lang="en-US" sz="1100" dirty="0"/>
          </a:p>
        </p:txBody>
      </p:sp>
      <p:sp>
        <p:nvSpPr>
          <p:cNvPr id="5" name="Text 2"/>
          <p:cNvSpPr/>
          <p:nvPr/>
        </p:nvSpPr>
        <p:spPr>
          <a:xfrm>
            <a:off x="566928" y="859536"/>
            <a:ext cx="8229600" cy="1188720"/>
          </a:xfrm>
          <a:prstGeom prst="rect">
            <a:avLst/>
          </a:prstGeom>
          <a:noFill/>
          <a:ln/>
        </p:spPr>
        <p:txBody>
          <a:bodyPr wrap="square" lIns="0" tIns="0" rIns="0" bIns="0" rtlCol="0" anchor="t"/>
          <a:lstStyle/>
          <a:p>
            <a:pPr indent="0" marL="0">
              <a:lnSpc>
                <a:spcPct val="98000"/>
              </a:lnSpc>
              <a:buNone/>
            </a:pPr>
            <a:r>
              <a:rPr lang="en-US" sz="3200" b="1" dirty="0">
                <a:solidFill>
                  <a:srgbClr val="0E0E0E"/>
                </a:solidFill>
                <a:latin typeface="Trebuchet MS" pitchFamily="34" charset="0"/>
                <a:ea typeface="Trebuchet MS" pitchFamily="34" charset="-122"/>
                <a:cs typeface="Trebuchet MS" pitchFamily="34" charset="-120"/>
              </a:rPr>
              <a:t>Not just a website studio.</a:t>
            </a:r>
            <a:endParaRPr lang="en-US" sz="3200" dirty="0"/>
          </a:p>
        </p:txBody>
      </p:sp>
      <p:sp>
        <p:nvSpPr>
          <p:cNvPr id="6" name="Text 3"/>
          <p:cNvSpPr/>
          <p:nvPr/>
        </p:nvSpPr>
        <p:spPr>
          <a:xfrm>
            <a:off x="566928" y="2011680"/>
            <a:ext cx="10789920" cy="731520"/>
          </a:xfrm>
          <a:prstGeom prst="rect">
            <a:avLst/>
          </a:prstGeom>
          <a:noFill/>
          <a:ln/>
        </p:spPr>
        <p:txBody>
          <a:bodyPr wrap="square" lIns="0" tIns="0" rIns="0" bIns="0" rtlCol="0" anchor="ctr"/>
          <a:lstStyle/>
          <a:p>
            <a:pPr indent="0" marL="0">
              <a:lnSpc>
                <a:spcPct val="112000"/>
              </a:lnSpc>
              <a:buNone/>
            </a:pPr>
            <a:r>
              <a:rPr lang="en-US" sz="1700" b="1" dirty="0">
                <a:solidFill>
                  <a:srgbClr val="0E0E0E"/>
                </a:solidFill>
                <a:latin typeface="Calibri" pitchFamily="34" charset="0"/>
                <a:ea typeface="Calibri" pitchFamily="34" charset="-122"/>
                <a:cs typeface="Calibri" pitchFamily="34" charset="-120"/>
              </a:rPr>
              <a:t>nox Studio helps businesses turn digital confusion into clear websites, apps, SEO-ready pages, stores, systems, and tools that people can actually use.</a:t>
            </a:r>
            <a:endParaRPr lang="en-US" sz="1700" dirty="0"/>
          </a:p>
        </p:txBody>
      </p:sp>
      <p:sp>
        <p:nvSpPr>
          <p:cNvPr id="7" name="Text 4"/>
          <p:cNvSpPr/>
          <p:nvPr/>
        </p:nvSpPr>
        <p:spPr>
          <a:xfrm>
            <a:off x="566928" y="2880360"/>
            <a:ext cx="10607040" cy="640080"/>
          </a:xfrm>
          <a:prstGeom prst="rect">
            <a:avLst/>
          </a:prstGeom>
          <a:noFill/>
          <a:ln/>
        </p:spPr>
        <p:txBody>
          <a:bodyPr wrap="square" lIns="0" tIns="0" rIns="0" bIns="0" rtlCol="0" anchor="ctr"/>
          <a:lstStyle/>
          <a:p>
            <a:pPr indent="0" marL="0">
              <a:lnSpc>
                <a:spcPct val="120000"/>
              </a:lnSpc>
              <a:buNone/>
            </a:pPr>
            <a:r>
              <a:rPr lang="en-US" sz="1300" dirty="0">
                <a:solidFill>
                  <a:srgbClr val="3A3A38"/>
                </a:solidFill>
                <a:latin typeface="Calibri" pitchFamily="34" charset="0"/>
                <a:ea typeface="Calibri" pitchFamily="34" charset="-122"/>
                <a:cs typeface="Calibri" pitchFamily="34" charset="-120"/>
              </a:rPr>
              <a:t>People are not only buying a website. They are trying to stop feeling stuck, confused, delayed, ignored, or unsure. We solve the technical problem — and improve the experience of getting there.</a:t>
            </a:r>
            <a:endParaRPr lang="en-US" sz="1300" dirty="0"/>
          </a:p>
        </p:txBody>
      </p:sp>
      <p:sp>
        <p:nvSpPr>
          <p:cNvPr id="8" name="Text 5"/>
          <p:cNvSpPr/>
          <p:nvPr/>
        </p:nvSpPr>
        <p:spPr>
          <a:xfrm>
            <a:off x="566928" y="3703320"/>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OUR BRAND PROMISE</a:t>
            </a:r>
            <a:endParaRPr lang="en-US" sz="1100" dirty="0"/>
          </a:p>
        </p:txBody>
      </p:sp>
      <p:sp>
        <p:nvSpPr>
          <p:cNvPr id="9" name="Shape 6"/>
          <p:cNvSpPr/>
          <p:nvPr/>
        </p:nvSpPr>
        <p:spPr>
          <a:xfrm>
            <a:off x="566928" y="4023360"/>
            <a:ext cx="5285232" cy="1417320"/>
          </a:xfrm>
          <a:prstGeom prst="roundRect">
            <a:avLst>
              <a:gd name="adj" fmla="val 5806"/>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10" name="Text 7"/>
          <p:cNvSpPr/>
          <p:nvPr/>
        </p:nvSpPr>
        <p:spPr>
          <a:xfrm>
            <a:off x="841248" y="4224528"/>
            <a:ext cx="914400" cy="365760"/>
          </a:xfrm>
          <a:prstGeom prst="rect">
            <a:avLst/>
          </a:prstGeom>
          <a:noFill/>
          <a:ln/>
        </p:spPr>
        <p:txBody>
          <a:bodyPr wrap="square" lIns="0" tIns="0" rIns="0" bIns="0" rtlCol="0" anchor="ctr"/>
          <a:lstStyle/>
          <a:p>
            <a:pPr indent="0" marL="0">
              <a:buNone/>
            </a:pPr>
            <a:r>
              <a:rPr lang="en-US" sz="1400" b="1" dirty="0">
                <a:solidFill>
                  <a:srgbClr val="46D12A"/>
                </a:solidFill>
                <a:latin typeface="Trebuchet MS" pitchFamily="34" charset="0"/>
                <a:ea typeface="Trebuchet MS" pitchFamily="34" charset="-122"/>
                <a:cs typeface="Trebuchet MS" pitchFamily="34" charset="-120"/>
              </a:rPr>
              <a:t>01</a:t>
            </a:r>
            <a:endParaRPr lang="en-US" sz="1400" dirty="0"/>
          </a:p>
        </p:txBody>
      </p:sp>
      <p:sp>
        <p:nvSpPr>
          <p:cNvPr id="11" name="Text 8"/>
          <p:cNvSpPr/>
          <p:nvPr/>
        </p:nvSpPr>
        <p:spPr>
          <a:xfrm>
            <a:off x="1435608" y="4206240"/>
            <a:ext cx="4187952" cy="365760"/>
          </a:xfrm>
          <a:prstGeom prst="rect">
            <a:avLst/>
          </a:prstGeom>
          <a:noFill/>
          <a:ln/>
        </p:spPr>
        <p:txBody>
          <a:bodyPr wrap="square" lIns="0" tIns="0" rIns="0" bIns="0" rtlCol="0" anchor="ctr"/>
          <a:lstStyle/>
          <a:p>
            <a:pPr indent="0" marL="0">
              <a:buNone/>
            </a:pPr>
            <a:r>
              <a:rPr lang="en-US" sz="1600" b="1" dirty="0">
                <a:solidFill>
                  <a:srgbClr val="0E0E0E"/>
                </a:solidFill>
                <a:latin typeface="Trebuchet MS" pitchFamily="34" charset="0"/>
                <a:ea typeface="Trebuchet MS" pitchFamily="34" charset="-122"/>
                <a:cs typeface="Trebuchet MS" pitchFamily="34" charset="-120"/>
              </a:rPr>
              <a:t>Understand</a:t>
            </a:r>
            <a:endParaRPr lang="en-US" sz="1600" dirty="0"/>
          </a:p>
        </p:txBody>
      </p:sp>
      <p:sp>
        <p:nvSpPr>
          <p:cNvPr id="12" name="Text 9"/>
          <p:cNvSpPr/>
          <p:nvPr/>
        </p:nvSpPr>
        <p:spPr>
          <a:xfrm>
            <a:off x="841248" y="4645152"/>
            <a:ext cx="4736592" cy="731520"/>
          </a:xfrm>
          <a:prstGeom prst="rect">
            <a:avLst/>
          </a:prstGeom>
          <a:noFill/>
          <a:ln/>
        </p:spPr>
        <p:txBody>
          <a:bodyPr wrap="square" lIns="0" tIns="0" rIns="0" bIns="0" rtlCol="0" anchor="ctr"/>
          <a:lstStyle/>
          <a:p>
            <a:pPr indent="0" marL="0">
              <a:lnSpc>
                <a:spcPct val="115000"/>
              </a:lnSpc>
              <a:buNone/>
            </a:pPr>
            <a:r>
              <a:rPr lang="en-US" sz="1250" dirty="0">
                <a:solidFill>
                  <a:srgbClr val="3A3A38"/>
                </a:solidFill>
                <a:latin typeface="Calibri" pitchFamily="34" charset="0"/>
                <a:ea typeface="Calibri" pitchFamily="34" charset="-122"/>
                <a:cs typeface="Calibri" pitchFamily="34" charset="-120"/>
              </a:rPr>
              <a:t>We help you understand what you need, choose the right option, and build it with care.</a:t>
            </a:r>
            <a:endParaRPr lang="en-US" sz="1250" dirty="0"/>
          </a:p>
        </p:txBody>
      </p:sp>
      <p:sp>
        <p:nvSpPr>
          <p:cNvPr id="13" name="Shape 10"/>
          <p:cNvSpPr/>
          <p:nvPr/>
        </p:nvSpPr>
        <p:spPr>
          <a:xfrm>
            <a:off x="6099048" y="4023360"/>
            <a:ext cx="5285232" cy="1417320"/>
          </a:xfrm>
          <a:prstGeom prst="roundRect">
            <a:avLst>
              <a:gd name="adj" fmla="val 5806"/>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14" name="Text 11"/>
          <p:cNvSpPr/>
          <p:nvPr/>
        </p:nvSpPr>
        <p:spPr>
          <a:xfrm>
            <a:off x="6373368" y="4224528"/>
            <a:ext cx="914400" cy="365760"/>
          </a:xfrm>
          <a:prstGeom prst="rect">
            <a:avLst/>
          </a:prstGeom>
          <a:noFill/>
          <a:ln/>
        </p:spPr>
        <p:txBody>
          <a:bodyPr wrap="square" lIns="0" tIns="0" rIns="0" bIns="0" rtlCol="0" anchor="ctr"/>
          <a:lstStyle/>
          <a:p>
            <a:pPr indent="0" marL="0">
              <a:buNone/>
            </a:pPr>
            <a:r>
              <a:rPr lang="en-US" sz="1400" b="1" dirty="0">
                <a:solidFill>
                  <a:srgbClr val="46D12A"/>
                </a:solidFill>
                <a:latin typeface="Trebuchet MS" pitchFamily="34" charset="0"/>
                <a:ea typeface="Trebuchet MS" pitchFamily="34" charset="-122"/>
                <a:cs typeface="Trebuchet MS" pitchFamily="34" charset="-120"/>
              </a:rPr>
              <a:t>02</a:t>
            </a:r>
            <a:endParaRPr lang="en-US" sz="1400" dirty="0"/>
          </a:p>
        </p:txBody>
      </p:sp>
      <p:sp>
        <p:nvSpPr>
          <p:cNvPr id="15" name="Text 12"/>
          <p:cNvSpPr/>
          <p:nvPr/>
        </p:nvSpPr>
        <p:spPr>
          <a:xfrm>
            <a:off x="6967728" y="4206240"/>
            <a:ext cx="4187952" cy="365760"/>
          </a:xfrm>
          <a:prstGeom prst="rect">
            <a:avLst/>
          </a:prstGeom>
          <a:noFill/>
          <a:ln/>
        </p:spPr>
        <p:txBody>
          <a:bodyPr wrap="square" lIns="0" tIns="0" rIns="0" bIns="0" rtlCol="0" anchor="ctr"/>
          <a:lstStyle/>
          <a:p>
            <a:pPr indent="0" marL="0">
              <a:buNone/>
            </a:pPr>
            <a:r>
              <a:rPr lang="en-US" sz="1600" b="1" dirty="0">
                <a:solidFill>
                  <a:srgbClr val="0E0E0E"/>
                </a:solidFill>
                <a:latin typeface="Trebuchet MS" pitchFamily="34" charset="0"/>
                <a:ea typeface="Trebuchet MS" pitchFamily="34" charset="-122"/>
                <a:cs typeface="Trebuchet MS" pitchFamily="34" charset="-120"/>
              </a:rPr>
              <a:t>Build</a:t>
            </a:r>
            <a:endParaRPr lang="en-US" sz="1600" dirty="0"/>
          </a:p>
        </p:txBody>
      </p:sp>
      <p:sp>
        <p:nvSpPr>
          <p:cNvPr id="16" name="Text 13"/>
          <p:cNvSpPr/>
          <p:nvPr/>
        </p:nvSpPr>
        <p:spPr>
          <a:xfrm>
            <a:off x="6373368" y="4645152"/>
            <a:ext cx="4736592" cy="731520"/>
          </a:xfrm>
          <a:prstGeom prst="rect">
            <a:avLst/>
          </a:prstGeom>
          <a:noFill/>
          <a:ln/>
        </p:spPr>
        <p:txBody>
          <a:bodyPr wrap="square" lIns="0" tIns="0" rIns="0" bIns="0" rtlCol="0" anchor="ctr"/>
          <a:lstStyle/>
          <a:p>
            <a:pPr indent="0" marL="0">
              <a:lnSpc>
                <a:spcPct val="115000"/>
              </a:lnSpc>
              <a:buNone/>
            </a:pPr>
            <a:r>
              <a:rPr lang="en-US" sz="1250" dirty="0">
                <a:solidFill>
                  <a:srgbClr val="3A3A38"/>
                </a:solidFill>
                <a:latin typeface="Calibri" pitchFamily="34" charset="0"/>
                <a:ea typeface="Calibri" pitchFamily="34" charset="-122"/>
                <a:cs typeface="Calibri" pitchFamily="34" charset="-120"/>
              </a:rPr>
              <a:t>We make the digital part easier — from the first conversation to the final launch.</a:t>
            </a:r>
            <a:endParaRPr lang="en-US" sz="1250" dirty="0"/>
          </a:p>
        </p:txBody>
      </p:sp>
      <p:sp>
        <p:nvSpPr>
          <p:cNvPr id="17" name="Shape 14"/>
          <p:cNvSpPr/>
          <p:nvPr/>
        </p:nvSpPr>
        <p:spPr>
          <a:xfrm>
            <a:off x="566928" y="5715000"/>
            <a:ext cx="64008" cy="868680"/>
          </a:xfrm>
          <a:prstGeom prst="rect">
            <a:avLst/>
          </a:prstGeom>
          <a:solidFill>
            <a:srgbClr val="46D12A"/>
          </a:solidFill>
          <a:ln/>
        </p:spPr>
      </p:sp>
      <p:sp>
        <p:nvSpPr>
          <p:cNvPr id="18" name="Text 15"/>
          <p:cNvSpPr/>
          <p:nvPr/>
        </p:nvSpPr>
        <p:spPr>
          <a:xfrm>
            <a:off x="768096" y="5669280"/>
            <a:ext cx="10607040" cy="960120"/>
          </a:xfrm>
          <a:prstGeom prst="rect">
            <a:avLst/>
          </a:prstGeom>
          <a:noFill/>
          <a:ln/>
        </p:spPr>
        <p:txBody>
          <a:bodyPr wrap="square" lIns="0" tIns="0" rIns="0" bIns="0" rtlCol="0" anchor="ctr"/>
          <a:lstStyle/>
          <a:p>
            <a:pPr indent="0" marL="0">
              <a:lnSpc>
                <a:spcPct val="105000"/>
              </a:lnSpc>
              <a:buNone/>
            </a:pPr>
            <a:r>
              <a:rPr lang="en-US" sz="1800" b="1" dirty="0">
                <a:solidFill>
                  <a:srgbClr val="0E0E0E"/>
                </a:solidFill>
                <a:latin typeface="Trebuchet MS" pitchFamily="34" charset="0"/>
                <a:ea typeface="Trebuchet MS" pitchFamily="34" charset="-122"/>
                <a:cs typeface="Trebuchet MS" pitchFamily="34" charset="-120"/>
              </a:rPr>
              <a:t>You bring the idea, the problem, or the mess. </a:t>
            </a:r>
            <a:pPr indent="0" marL="0">
              <a:lnSpc>
                <a:spcPct val="105000"/>
              </a:lnSpc>
              <a:buNone/>
            </a:pPr>
            <a:r>
              <a:rPr lang="en-US" sz="1800" b="1" dirty="0">
                <a:solidFill>
                  <a:srgbClr val="2E8E1B"/>
                </a:solidFill>
                <a:latin typeface="Trebuchet MS" pitchFamily="34" charset="0"/>
                <a:ea typeface="Trebuchet MS" pitchFamily="34" charset="-122"/>
                <a:cs typeface="Trebuchet MS" pitchFamily="34" charset="-120"/>
              </a:rPr>
              <a:t>We turn it into something clear, useful, and ready for people.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05</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WHAT DRIVES US</a:t>
            </a:r>
            <a:endParaRPr lang="en-US" sz="1100" dirty="0"/>
          </a:p>
        </p:txBody>
      </p:sp>
      <p:sp>
        <p:nvSpPr>
          <p:cNvPr id="5" name="Text 2"/>
          <p:cNvSpPr/>
          <p:nvPr/>
        </p:nvSpPr>
        <p:spPr>
          <a:xfrm>
            <a:off x="566928" y="859536"/>
            <a:ext cx="9144000" cy="1188720"/>
          </a:xfrm>
          <a:prstGeom prst="rect">
            <a:avLst/>
          </a:prstGeom>
          <a:noFill/>
          <a:ln/>
        </p:spPr>
        <p:txBody>
          <a:bodyPr wrap="square" lIns="0" tIns="0" rIns="0" bIns="0" rtlCol="0" anchor="t"/>
          <a:lstStyle/>
          <a:p>
            <a:pPr indent="0" marL="0">
              <a:lnSpc>
                <a:spcPct val="98000"/>
              </a:lnSpc>
              <a:buNone/>
            </a:pPr>
            <a:r>
              <a:rPr lang="en-US" sz="3000" b="1" dirty="0">
                <a:solidFill>
                  <a:srgbClr val="0E0E0E"/>
                </a:solidFill>
                <a:latin typeface="Trebuchet MS" pitchFamily="34" charset="0"/>
                <a:ea typeface="Trebuchet MS" pitchFamily="34" charset="-122"/>
                <a:cs typeface="Trebuchet MS" pitchFamily="34" charset="-120"/>
              </a:rPr>
              <a:t>Mission, vision, and one core belief.</a:t>
            </a:r>
            <a:endParaRPr lang="en-US" sz="3000" dirty="0"/>
          </a:p>
        </p:txBody>
      </p:sp>
      <p:sp>
        <p:nvSpPr>
          <p:cNvPr id="6" name="Shape 3"/>
          <p:cNvSpPr/>
          <p:nvPr/>
        </p:nvSpPr>
        <p:spPr>
          <a:xfrm>
            <a:off x="566928" y="2148840"/>
            <a:ext cx="3520440" cy="3657600"/>
          </a:xfrm>
          <a:prstGeom prst="roundRect">
            <a:avLst>
              <a:gd name="adj" fmla="val 2338"/>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7" name="Shape 4"/>
          <p:cNvSpPr/>
          <p:nvPr/>
        </p:nvSpPr>
        <p:spPr>
          <a:xfrm>
            <a:off x="859536" y="2423160"/>
            <a:ext cx="566928" cy="566928"/>
          </a:xfrm>
          <a:prstGeom prst="ellipse">
            <a:avLst/>
          </a:prstGeom>
          <a:solidFill>
            <a:srgbClr val="46D12A"/>
          </a:solidFill>
          <a:ln/>
        </p:spPr>
      </p:sp>
      <p:pic>
        <p:nvPicPr>
          <p:cNvPr id="8" name="Image 1" descr="preencoded.png">    </p:cNvPr>
          <p:cNvPicPr>
            <a:picLocks noChangeAspect="1"/>
          </p:cNvPicPr>
          <p:nvPr/>
        </p:nvPicPr>
        <p:blipFill>
          <a:blip r:embed="rId2"/>
          <a:stretch>
            <a:fillRect/>
          </a:stretch>
        </p:blipFill>
        <p:spPr>
          <a:xfrm>
            <a:off x="1012607" y="2576231"/>
            <a:ext cx="260787" cy="260787"/>
          </a:xfrm>
          <a:prstGeom prst="rect">
            <a:avLst/>
          </a:prstGeom>
        </p:spPr>
      </p:pic>
      <p:sp>
        <p:nvSpPr>
          <p:cNvPr id="9" name="Text 5"/>
          <p:cNvSpPr/>
          <p:nvPr/>
        </p:nvSpPr>
        <p:spPr>
          <a:xfrm>
            <a:off x="1527048" y="2450592"/>
            <a:ext cx="2286000" cy="457200"/>
          </a:xfrm>
          <a:prstGeom prst="rect">
            <a:avLst/>
          </a:prstGeom>
          <a:noFill/>
          <a:ln/>
        </p:spPr>
        <p:txBody>
          <a:bodyPr wrap="square" lIns="0" tIns="0" rIns="0" bIns="0" rtlCol="0" anchor="ctr"/>
          <a:lstStyle/>
          <a:p>
            <a:pPr indent="0" marL="0">
              <a:buNone/>
            </a:pPr>
            <a:r>
              <a:rPr lang="en-US" sz="1600" b="1" dirty="0">
                <a:solidFill>
                  <a:srgbClr val="0E0E0E"/>
                </a:solidFill>
                <a:latin typeface="Trebuchet MS" pitchFamily="34" charset="0"/>
                <a:ea typeface="Trebuchet MS" pitchFamily="34" charset="-122"/>
                <a:cs typeface="Trebuchet MS" pitchFamily="34" charset="-120"/>
              </a:rPr>
              <a:t>Mission</a:t>
            </a:r>
            <a:endParaRPr lang="en-US" sz="1600" dirty="0"/>
          </a:p>
        </p:txBody>
      </p:sp>
      <p:sp>
        <p:nvSpPr>
          <p:cNvPr id="10" name="Text 6"/>
          <p:cNvSpPr/>
          <p:nvPr/>
        </p:nvSpPr>
        <p:spPr>
          <a:xfrm>
            <a:off x="859536" y="3200400"/>
            <a:ext cx="2935224" cy="2377440"/>
          </a:xfrm>
          <a:prstGeom prst="rect">
            <a:avLst/>
          </a:prstGeom>
          <a:noFill/>
          <a:ln/>
        </p:spPr>
        <p:txBody>
          <a:bodyPr wrap="square" lIns="0" tIns="0" rIns="0" bIns="0" rtlCol="0" anchor="ctr"/>
          <a:lstStyle/>
          <a:p>
            <a:pPr indent="0" marL="0">
              <a:lnSpc>
                <a:spcPct val="120000"/>
              </a:lnSpc>
              <a:buNone/>
            </a:pPr>
            <a:r>
              <a:rPr lang="en-US" sz="1300" dirty="0">
                <a:solidFill>
                  <a:srgbClr val="3A3A38"/>
                </a:solidFill>
                <a:latin typeface="Calibri" pitchFamily="34" charset="0"/>
                <a:ea typeface="Calibri" pitchFamily="34" charset="-122"/>
                <a:cs typeface="Calibri" pitchFamily="34" charset="-120"/>
              </a:rPr>
              <a:t>To make digital projects feel clearer, lighter, and more useful — for the businesses building them and the people using them. Building a website, app, or system should not feel like walking through fog.</a:t>
            </a:r>
            <a:endParaRPr lang="en-US" sz="1300" dirty="0"/>
          </a:p>
        </p:txBody>
      </p:sp>
      <p:sp>
        <p:nvSpPr>
          <p:cNvPr id="11" name="Shape 7"/>
          <p:cNvSpPr/>
          <p:nvPr/>
        </p:nvSpPr>
        <p:spPr>
          <a:xfrm>
            <a:off x="4379976" y="2148840"/>
            <a:ext cx="3520440" cy="3657600"/>
          </a:xfrm>
          <a:prstGeom prst="roundRect">
            <a:avLst>
              <a:gd name="adj" fmla="val 2338"/>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12" name="Shape 8"/>
          <p:cNvSpPr/>
          <p:nvPr/>
        </p:nvSpPr>
        <p:spPr>
          <a:xfrm>
            <a:off x="4672584" y="2423160"/>
            <a:ext cx="566928" cy="566928"/>
          </a:xfrm>
          <a:prstGeom prst="ellipse">
            <a:avLst/>
          </a:prstGeom>
          <a:solidFill>
            <a:srgbClr val="46D12A"/>
          </a:solidFill>
          <a:ln/>
        </p:spPr>
      </p:sp>
      <p:pic>
        <p:nvPicPr>
          <p:cNvPr id="13" name="Image 2" descr="preencoded.png">    </p:cNvPr>
          <p:cNvPicPr>
            <a:picLocks noChangeAspect="1"/>
          </p:cNvPicPr>
          <p:nvPr/>
        </p:nvPicPr>
        <p:blipFill>
          <a:blip r:embed="rId3"/>
          <a:stretch>
            <a:fillRect/>
          </a:stretch>
        </p:blipFill>
        <p:spPr>
          <a:xfrm>
            <a:off x="4825655" y="2576231"/>
            <a:ext cx="260787" cy="260787"/>
          </a:xfrm>
          <a:prstGeom prst="rect">
            <a:avLst/>
          </a:prstGeom>
        </p:spPr>
      </p:pic>
      <p:sp>
        <p:nvSpPr>
          <p:cNvPr id="14" name="Text 9"/>
          <p:cNvSpPr/>
          <p:nvPr/>
        </p:nvSpPr>
        <p:spPr>
          <a:xfrm>
            <a:off x="5340096" y="2450592"/>
            <a:ext cx="2286000" cy="457200"/>
          </a:xfrm>
          <a:prstGeom prst="rect">
            <a:avLst/>
          </a:prstGeom>
          <a:noFill/>
          <a:ln/>
        </p:spPr>
        <p:txBody>
          <a:bodyPr wrap="square" lIns="0" tIns="0" rIns="0" bIns="0" rtlCol="0" anchor="ctr"/>
          <a:lstStyle/>
          <a:p>
            <a:pPr indent="0" marL="0">
              <a:buNone/>
            </a:pPr>
            <a:r>
              <a:rPr lang="en-US" sz="1600" b="1" dirty="0">
                <a:solidFill>
                  <a:srgbClr val="0E0E0E"/>
                </a:solidFill>
                <a:latin typeface="Trebuchet MS" pitchFamily="34" charset="0"/>
                <a:ea typeface="Trebuchet MS" pitchFamily="34" charset="-122"/>
                <a:cs typeface="Trebuchet MS" pitchFamily="34" charset="-120"/>
              </a:rPr>
              <a:t>Vision</a:t>
            </a:r>
            <a:endParaRPr lang="en-US" sz="1600" dirty="0"/>
          </a:p>
        </p:txBody>
      </p:sp>
      <p:sp>
        <p:nvSpPr>
          <p:cNvPr id="15" name="Text 10"/>
          <p:cNvSpPr/>
          <p:nvPr/>
        </p:nvSpPr>
        <p:spPr>
          <a:xfrm>
            <a:off x="4672584" y="3200400"/>
            <a:ext cx="2935224" cy="2377440"/>
          </a:xfrm>
          <a:prstGeom prst="rect">
            <a:avLst/>
          </a:prstGeom>
          <a:noFill/>
          <a:ln/>
        </p:spPr>
        <p:txBody>
          <a:bodyPr wrap="square" lIns="0" tIns="0" rIns="0" bIns="0" rtlCol="0" anchor="ctr"/>
          <a:lstStyle/>
          <a:p>
            <a:pPr indent="0" marL="0">
              <a:lnSpc>
                <a:spcPct val="120000"/>
              </a:lnSpc>
              <a:buNone/>
            </a:pPr>
            <a:r>
              <a:rPr lang="en-US" sz="1300" dirty="0">
                <a:solidFill>
                  <a:srgbClr val="3A3A38"/>
                </a:solidFill>
                <a:latin typeface="Calibri" pitchFamily="34" charset="0"/>
                <a:ea typeface="Calibri" pitchFamily="34" charset="-122"/>
                <a:cs typeface="Calibri" pitchFamily="34" charset="-120"/>
              </a:rPr>
              <a:t>To become a trusted small studio known for honest guidance, thoughtful technology, and digital products people enjoy using. The team that brings calm to digital projects. Not louder. Not fancier. Just better.</a:t>
            </a:r>
            <a:endParaRPr lang="en-US" sz="1300" dirty="0"/>
          </a:p>
        </p:txBody>
      </p:sp>
      <p:sp>
        <p:nvSpPr>
          <p:cNvPr id="16" name="Shape 11"/>
          <p:cNvSpPr/>
          <p:nvPr/>
        </p:nvSpPr>
        <p:spPr>
          <a:xfrm>
            <a:off x="8193024" y="2148840"/>
            <a:ext cx="3520440" cy="3657600"/>
          </a:xfrm>
          <a:prstGeom prst="roundRect">
            <a:avLst>
              <a:gd name="adj" fmla="val 2338"/>
            </a:avLst>
          </a:prstGeom>
          <a:solidFill>
            <a:srgbClr val="0A0A0A"/>
          </a:solidFill>
          <a:ln w="12700">
            <a:solidFill>
              <a:srgbClr val="262626"/>
            </a:solidFill>
            <a:prstDash val="solid"/>
          </a:ln>
        </p:spPr>
      </p:sp>
      <p:sp>
        <p:nvSpPr>
          <p:cNvPr id="17" name="Shape 12"/>
          <p:cNvSpPr/>
          <p:nvPr/>
        </p:nvSpPr>
        <p:spPr>
          <a:xfrm>
            <a:off x="8485632" y="2423160"/>
            <a:ext cx="566928" cy="566928"/>
          </a:xfrm>
          <a:prstGeom prst="ellipse">
            <a:avLst/>
          </a:prstGeom>
          <a:solidFill>
            <a:srgbClr val="46D12A"/>
          </a:solidFill>
          <a:ln/>
        </p:spPr>
      </p:sp>
      <p:pic>
        <p:nvPicPr>
          <p:cNvPr id="18" name="Image 3" descr="preencoded.png">    </p:cNvPr>
          <p:cNvPicPr>
            <a:picLocks noChangeAspect="1"/>
          </p:cNvPicPr>
          <p:nvPr/>
        </p:nvPicPr>
        <p:blipFill>
          <a:blip r:embed="rId4"/>
          <a:stretch>
            <a:fillRect/>
          </a:stretch>
        </p:blipFill>
        <p:spPr>
          <a:xfrm>
            <a:off x="8638703" y="2576231"/>
            <a:ext cx="260787" cy="260787"/>
          </a:xfrm>
          <a:prstGeom prst="rect">
            <a:avLst/>
          </a:prstGeom>
        </p:spPr>
      </p:pic>
      <p:sp>
        <p:nvSpPr>
          <p:cNvPr id="19" name="Text 13"/>
          <p:cNvSpPr/>
          <p:nvPr/>
        </p:nvSpPr>
        <p:spPr>
          <a:xfrm>
            <a:off x="9153144" y="2450592"/>
            <a:ext cx="2286000" cy="45720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Core belief</a:t>
            </a:r>
            <a:endParaRPr lang="en-US" sz="1600" dirty="0"/>
          </a:p>
        </p:txBody>
      </p:sp>
      <p:sp>
        <p:nvSpPr>
          <p:cNvPr id="20" name="Text 14"/>
          <p:cNvSpPr/>
          <p:nvPr/>
        </p:nvSpPr>
        <p:spPr>
          <a:xfrm>
            <a:off x="8485632" y="3154680"/>
            <a:ext cx="2935224" cy="868680"/>
          </a:xfrm>
          <a:prstGeom prst="rect">
            <a:avLst/>
          </a:prstGeom>
          <a:noFill/>
          <a:ln/>
        </p:spPr>
        <p:txBody>
          <a:bodyPr wrap="square" lIns="0" tIns="0" rIns="0" bIns="0" rtlCol="0" anchor="ctr"/>
          <a:lstStyle/>
          <a:p>
            <a:pPr indent="0" marL="0">
              <a:lnSpc>
                <a:spcPct val="105000"/>
              </a:lnSpc>
              <a:buNone/>
            </a:pPr>
            <a:r>
              <a:rPr lang="en-US" sz="1600" b="1" dirty="0">
                <a:solidFill>
                  <a:srgbClr val="46D12A"/>
                </a:solidFill>
                <a:latin typeface="Trebuchet MS" pitchFamily="34" charset="0"/>
                <a:ea typeface="Trebuchet MS" pitchFamily="34" charset="-122"/>
                <a:cs typeface="Trebuchet MS" pitchFamily="34" charset="-120"/>
              </a:rPr>
              <a:t>Good digital work should help people feel less lost.</a:t>
            </a:r>
            <a:endParaRPr lang="en-US" sz="1600" dirty="0"/>
          </a:p>
        </p:txBody>
      </p:sp>
      <p:sp>
        <p:nvSpPr>
          <p:cNvPr id="21" name="Text 15"/>
          <p:cNvSpPr/>
          <p:nvPr/>
        </p:nvSpPr>
        <p:spPr>
          <a:xfrm>
            <a:off x="8485632" y="4114800"/>
            <a:ext cx="2935224" cy="1463040"/>
          </a:xfrm>
          <a:prstGeom prst="rect">
            <a:avLst/>
          </a:prstGeom>
          <a:noFill/>
          <a:ln/>
        </p:spPr>
        <p:txBody>
          <a:bodyPr wrap="square" lIns="0" tIns="0" rIns="0" bIns="0" rtlCol="0" anchor="ctr"/>
          <a:lstStyle/>
          <a:p>
            <a:pPr indent="0" marL="0">
              <a:lnSpc>
                <a:spcPct val="120000"/>
              </a:lnSpc>
              <a:buNone/>
            </a:pPr>
            <a:r>
              <a:rPr lang="en-US" sz="1200" dirty="0">
                <a:solidFill>
                  <a:srgbClr val="9A9A94"/>
                </a:solidFill>
                <a:latin typeface="Calibri" pitchFamily="34" charset="0"/>
                <a:ea typeface="Calibri" pitchFamily="34" charset="-122"/>
                <a:cs typeface="Calibri" pitchFamily="34" charset="-120"/>
              </a:rPr>
              <a:t>A good website helps visitors understand. A good app helps users move easily. A good process helps the client feel safe. That is the center of nox Studio.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pic>
        <p:nvPicPr>
          <p:cNvPr id="2" name="Image 0" descr="/home/claude/logo_white.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5C5C56"/>
                </a:solidFill>
                <a:latin typeface="Trebuchet MS" pitchFamily="34" charset="0"/>
                <a:ea typeface="Trebuchet MS" pitchFamily="34" charset="-122"/>
                <a:cs typeface="Trebuchet MS" pitchFamily="34" charset="-120"/>
              </a:rPr>
              <a:t>06</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46D12A"/>
                </a:solidFill>
                <a:latin typeface="Trebuchet MS" pitchFamily="34" charset="0"/>
                <a:ea typeface="Trebuchet MS" pitchFamily="34" charset="-122"/>
                <a:cs typeface="Trebuchet MS" pitchFamily="34" charset="-120"/>
              </a:rPr>
              <a:t>WHAT WE DO</a:t>
            </a:r>
            <a:endParaRPr lang="en-US" sz="1100" dirty="0"/>
          </a:p>
        </p:txBody>
      </p:sp>
      <p:sp>
        <p:nvSpPr>
          <p:cNvPr id="5" name="Text 2"/>
          <p:cNvSpPr/>
          <p:nvPr/>
        </p:nvSpPr>
        <p:spPr>
          <a:xfrm>
            <a:off x="566928" y="859536"/>
            <a:ext cx="9144000" cy="11887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Trebuchet MS" pitchFamily="34" charset="0"/>
                <a:ea typeface="Trebuchet MS" pitchFamily="34" charset="-122"/>
                <a:cs typeface="Trebuchet MS" pitchFamily="34" charset="-120"/>
              </a:rPr>
              <a:t>We build &amp; improve digital products.</a:t>
            </a:r>
            <a:endParaRPr lang="en-US" sz="3000" dirty="0"/>
          </a:p>
        </p:txBody>
      </p:sp>
      <p:sp>
        <p:nvSpPr>
          <p:cNvPr id="6" name="Text 3"/>
          <p:cNvSpPr/>
          <p:nvPr/>
        </p:nvSpPr>
        <p:spPr>
          <a:xfrm>
            <a:off x="566928" y="1965960"/>
            <a:ext cx="10515600" cy="457200"/>
          </a:xfrm>
          <a:prstGeom prst="rect">
            <a:avLst/>
          </a:prstGeom>
          <a:noFill/>
          <a:ln/>
        </p:spPr>
        <p:txBody>
          <a:bodyPr wrap="square" lIns="0" tIns="0" rIns="0" bIns="0" rtlCol="0" anchor="ctr"/>
          <a:lstStyle/>
          <a:p>
            <a:pPr indent="0" marL="0">
              <a:lnSpc>
                <a:spcPct val="120000"/>
              </a:lnSpc>
              <a:buNone/>
            </a:pPr>
            <a:r>
              <a:rPr lang="en-US" sz="1300" dirty="0">
                <a:solidFill>
                  <a:srgbClr val="A8A8A2"/>
                </a:solidFill>
                <a:latin typeface="Calibri" pitchFamily="34" charset="0"/>
                <a:ea typeface="Calibri" pitchFamily="34" charset="-122"/>
                <a:cs typeface="Calibri" pitchFamily="34" charset="-120"/>
              </a:rPr>
              <a:t>The service is not only “building the thing.” The real value is helping clients understand what the thing should be first.</a:t>
            </a:r>
            <a:endParaRPr lang="en-US" sz="1300" dirty="0"/>
          </a:p>
        </p:txBody>
      </p:sp>
      <p:sp>
        <p:nvSpPr>
          <p:cNvPr id="7" name="Shape 4"/>
          <p:cNvSpPr/>
          <p:nvPr/>
        </p:nvSpPr>
        <p:spPr>
          <a:xfrm>
            <a:off x="566928" y="2743200"/>
            <a:ext cx="1294790" cy="457200"/>
          </a:xfrm>
          <a:prstGeom prst="roundRect">
            <a:avLst>
              <a:gd name="adj" fmla="val 50000"/>
            </a:avLst>
          </a:prstGeom>
          <a:solidFill>
            <a:srgbClr val="141414"/>
          </a:solidFill>
          <a:ln w="12700">
            <a:solidFill>
              <a:srgbClr val="262626"/>
            </a:solidFill>
            <a:prstDash val="solid"/>
          </a:ln>
        </p:spPr>
      </p:sp>
      <p:sp>
        <p:nvSpPr>
          <p:cNvPr id="8" name="Shape 5"/>
          <p:cNvSpPr/>
          <p:nvPr/>
        </p:nvSpPr>
        <p:spPr>
          <a:xfrm>
            <a:off x="768096" y="2930652"/>
            <a:ext cx="82296" cy="82296"/>
          </a:xfrm>
          <a:prstGeom prst="ellipse">
            <a:avLst/>
          </a:prstGeom>
          <a:solidFill>
            <a:srgbClr val="46D12A"/>
          </a:solidFill>
          <a:ln/>
        </p:spPr>
      </p:sp>
      <p:sp>
        <p:nvSpPr>
          <p:cNvPr id="9" name="Text 6"/>
          <p:cNvSpPr/>
          <p:nvPr/>
        </p:nvSpPr>
        <p:spPr>
          <a:xfrm>
            <a:off x="932688" y="2743200"/>
            <a:ext cx="883310"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Websites</a:t>
            </a:r>
            <a:endParaRPr lang="en-US" sz="1250" dirty="0"/>
          </a:p>
        </p:txBody>
      </p:sp>
      <p:sp>
        <p:nvSpPr>
          <p:cNvPr id="10" name="Shape 7"/>
          <p:cNvSpPr/>
          <p:nvPr/>
        </p:nvSpPr>
        <p:spPr>
          <a:xfrm>
            <a:off x="2026310" y="2743200"/>
            <a:ext cx="1715414" cy="457200"/>
          </a:xfrm>
          <a:prstGeom prst="roundRect">
            <a:avLst>
              <a:gd name="adj" fmla="val 50000"/>
            </a:avLst>
          </a:prstGeom>
          <a:solidFill>
            <a:srgbClr val="141414"/>
          </a:solidFill>
          <a:ln w="12700">
            <a:solidFill>
              <a:srgbClr val="262626"/>
            </a:solidFill>
            <a:prstDash val="solid"/>
          </a:ln>
        </p:spPr>
      </p:sp>
      <p:sp>
        <p:nvSpPr>
          <p:cNvPr id="11" name="Shape 8"/>
          <p:cNvSpPr/>
          <p:nvPr/>
        </p:nvSpPr>
        <p:spPr>
          <a:xfrm>
            <a:off x="2227478" y="2930652"/>
            <a:ext cx="82296" cy="82296"/>
          </a:xfrm>
          <a:prstGeom prst="ellipse">
            <a:avLst/>
          </a:prstGeom>
          <a:solidFill>
            <a:srgbClr val="46D12A"/>
          </a:solidFill>
          <a:ln/>
        </p:spPr>
      </p:sp>
      <p:sp>
        <p:nvSpPr>
          <p:cNvPr id="12" name="Text 9"/>
          <p:cNvSpPr/>
          <p:nvPr/>
        </p:nvSpPr>
        <p:spPr>
          <a:xfrm>
            <a:off x="2392070" y="2743200"/>
            <a:ext cx="1303934"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Landing pages</a:t>
            </a:r>
            <a:endParaRPr lang="en-US" sz="1250" dirty="0"/>
          </a:p>
        </p:txBody>
      </p:sp>
      <p:sp>
        <p:nvSpPr>
          <p:cNvPr id="13" name="Shape 10"/>
          <p:cNvSpPr/>
          <p:nvPr/>
        </p:nvSpPr>
        <p:spPr>
          <a:xfrm>
            <a:off x="3906317" y="2743200"/>
            <a:ext cx="1883664" cy="457200"/>
          </a:xfrm>
          <a:prstGeom prst="roundRect">
            <a:avLst>
              <a:gd name="adj" fmla="val 50000"/>
            </a:avLst>
          </a:prstGeom>
          <a:solidFill>
            <a:srgbClr val="141414"/>
          </a:solidFill>
          <a:ln w="12700">
            <a:solidFill>
              <a:srgbClr val="262626"/>
            </a:solidFill>
            <a:prstDash val="solid"/>
          </a:ln>
        </p:spPr>
      </p:sp>
      <p:sp>
        <p:nvSpPr>
          <p:cNvPr id="14" name="Shape 11"/>
          <p:cNvSpPr/>
          <p:nvPr/>
        </p:nvSpPr>
        <p:spPr>
          <a:xfrm>
            <a:off x="4107485" y="2930652"/>
            <a:ext cx="82296" cy="82296"/>
          </a:xfrm>
          <a:prstGeom prst="ellipse">
            <a:avLst/>
          </a:prstGeom>
          <a:solidFill>
            <a:srgbClr val="46D12A"/>
          </a:solidFill>
          <a:ln/>
        </p:spPr>
      </p:sp>
      <p:sp>
        <p:nvSpPr>
          <p:cNvPr id="15" name="Text 12"/>
          <p:cNvSpPr/>
          <p:nvPr/>
        </p:nvSpPr>
        <p:spPr>
          <a:xfrm>
            <a:off x="4272077" y="2743200"/>
            <a:ext cx="1472184"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SEO-ready pages</a:t>
            </a:r>
            <a:endParaRPr lang="en-US" sz="1250" dirty="0"/>
          </a:p>
        </p:txBody>
      </p:sp>
      <p:sp>
        <p:nvSpPr>
          <p:cNvPr id="16" name="Shape 13"/>
          <p:cNvSpPr/>
          <p:nvPr/>
        </p:nvSpPr>
        <p:spPr>
          <a:xfrm>
            <a:off x="5954573" y="2743200"/>
            <a:ext cx="1547165" cy="457200"/>
          </a:xfrm>
          <a:prstGeom prst="roundRect">
            <a:avLst>
              <a:gd name="adj" fmla="val 50000"/>
            </a:avLst>
          </a:prstGeom>
          <a:solidFill>
            <a:srgbClr val="141414"/>
          </a:solidFill>
          <a:ln w="12700">
            <a:solidFill>
              <a:srgbClr val="262626"/>
            </a:solidFill>
            <a:prstDash val="solid"/>
          </a:ln>
        </p:spPr>
      </p:sp>
      <p:sp>
        <p:nvSpPr>
          <p:cNvPr id="17" name="Shape 14"/>
          <p:cNvSpPr/>
          <p:nvPr/>
        </p:nvSpPr>
        <p:spPr>
          <a:xfrm>
            <a:off x="6155741" y="2930652"/>
            <a:ext cx="82296" cy="82296"/>
          </a:xfrm>
          <a:prstGeom prst="ellipse">
            <a:avLst/>
          </a:prstGeom>
          <a:solidFill>
            <a:srgbClr val="46D12A"/>
          </a:solidFill>
          <a:ln/>
        </p:spPr>
      </p:sp>
      <p:sp>
        <p:nvSpPr>
          <p:cNvPr id="18" name="Text 15"/>
          <p:cNvSpPr/>
          <p:nvPr/>
        </p:nvSpPr>
        <p:spPr>
          <a:xfrm>
            <a:off x="6320333" y="2743200"/>
            <a:ext cx="1135685"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Mobile apps</a:t>
            </a:r>
            <a:endParaRPr lang="en-US" sz="1250" dirty="0"/>
          </a:p>
        </p:txBody>
      </p:sp>
      <p:sp>
        <p:nvSpPr>
          <p:cNvPr id="19" name="Shape 16"/>
          <p:cNvSpPr/>
          <p:nvPr/>
        </p:nvSpPr>
        <p:spPr>
          <a:xfrm>
            <a:off x="7666330" y="2743200"/>
            <a:ext cx="1294790" cy="457200"/>
          </a:xfrm>
          <a:prstGeom prst="roundRect">
            <a:avLst>
              <a:gd name="adj" fmla="val 50000"/>
            </a:avLst>
          </a:prstGeom>
          <a:solidFill>
            <a:srgbClr val="141414"/>
          </a:solidFill>
          <a:ln w="12700">
            <a:solidFill>
              <a:srgbClr val="262626"/>
            </a:solidFill>
            <a:prstDash val="solid"/>
          </a:ln>
        </p:spPr>
      </p:sp>
      <p:sp>
        <p:nvSpPr>
          <p:cNvPr id="20" name="Shape 17"/>
          <p:cNvSpPr/>
          <p:nvPr/>
        </p:nvSpPr>
        <p:spPr>
          <a:xfrm>
            <a:off x="7867498" y="2930652"/>
            <a:ext cx="82296" cy="82296"/>
          </a:xfrm>
          <a:prstGeom prst="ellipse">
            <a:avLst/>
          </a:prstGeom>
          <a:solidFill>
            <a:srgbClr val="46D12A"/>
          </a:solidFill>
          <a:ln/>
        </p:spPr>
      </p:sp>
      <p:sp>
        <p:nvSpPr>
          <p:cNvPr id="21" name="Text 18"/>
          <p:cNvSpPr/>
          <p:nvPr/>
        </p:nvSpPr>
        <p:spPr>
          <a:xfrm>
            <a:off x="8032090" y="2743200"/>
            <a:ext cx="883310"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Web apps</a:t>
            </a:r>
            <a:endParaRPr lang="en-US" sz="1250" dirty="0"/>
          </a:p>
        </p:txBody>
      </p:sp>
      <p:sp>
        <p:nvSpPr>
          <p:cNvPr id="22" name="Shape 19"/>
          <p:cNvSpPr/>
          <p:nvPr/>
        </p:nvSpPr>
        <p:spPr>
          <a:xfrm>
            <a:off x="9125712" y="2743200"/>
            <a:ext cx="2051914" cy="457200"/>
          </a:xfrm>
          <a:prstGeom prst="roundRect">
            <a:avLst>
              <a:gd name="adj" fmla="val 50000"/>
            </a:avLst>
          </a:prstGeom>
          <a:solidFill>
            <a:srgbClr val="141414"/>
          </a:solidFill>
          <a:ln w="12700">
            <a:solidFill>
              <a:srgbClr val="262626"/>
            </a:solidFill>
            <a:prstDash val="solid"/>
          </a:ln>
        </p:spPr>
      </p:sp>
      <p:sp>
        <p:nvSpPr>
          <p:cNvPr id="23" name="Shape 20"/>
          <p:cNvSpPr/>
          <p:nvPr/>
        </p:nvSpPr>
        <p:spPr>
          <a:xfrm>
            <a:off x="9326880" y="2930652"/>
            <a:ext cx="82296" cy="82296"/>
          </a:xfrm>
          <a:prstGeom prst="ellipse">
            <a:avLst/>
          </a:prstGeom>
          <a:solidFill>
            <a:srgbClr val="46D12A"/>
          </a:solidFill>
          <a:ln/>
        </p:spPr>
      </p:sp>
      <p:sp>
        <p:nvSpPr>
          <p:cNvPr id="24" name="Text 21"/>
          <p:cNvSpPr/>
          <p:nvPr/>
        </p:nvSpPr>
        <p:spPr>
          <a:xfrm>
            <a:off x="9491472" y="2743200"/>
            <a:ext cx="1640434"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E-commerce stores</a:t>
            </a:r>
            <a:endParaRPr lang="en-US" sz="1250" dirty="0"/>
          </a:p>
        </p:txBody>
      </p:sp>
      <p:sp>
        <p:nvSpPr>
          <p:cNvPr id="25" name="Shape 22"/>
          <p:cNvSpPr/>
          <p:nvPr/>
        </p:nvSpPr>
        <p:spPr>
          <a:xfrm>
            <a:off x="566928" y="3383280"/>
            <a:ext cx="1883664" cy="457200"/>
          </a:xfrm>
          <a:prstGeom prst="roundRect">
            <a:avLst>
              <a:gd name="adj" fmla="val 50000"/>
            </a:avLst>
          </a:prstGeom>
          <a:solidFill>
            <a:srgbClr val="141414"/>
          </a:solidFill>
          <a:ln w="12700">
            <a:solidFill>
              <a:srgbClr val="262626"/>
            </a:solidFill>
            <a:prstDash val="solid"/>
          </a:ln>
        </p:spPr>
      </p:sp>
      <p:sp>
        <p:nvSpPr>
          <p:cNvPr id="26" name="Shape 23"/>
          <p:cNvSpPr/>
          <p:nvPr/>
        </p:nvSpPr>
        <p:spPr>
          <a:xfrm>
            <a:off x="768096" y="3570732"/>
            <a:ext cx="82296" cy="82296"/>
          </a:xfrm>
          <a:prstGeom prst="ellipse">
            <a:avLst/>
          </a:prstGeom>
          <a:solidFill>
            <a:srgbClr val="46D12A"/>
          </a:solidFill>
          <a:ln/>
        </p:spPr>
      </p:sp>
      <p:sp>
        <p:nvSpPr>
          <p:cNvPr id="27" name="Text 24"/>
          <p:cNvSpPr/>
          <p:nvPr/>
        </p:nvSpPr>
        <p:spPr>
          <a:xfrm>
            <a:off x="932688" y="3383280"/>
            <a:ext cx="1472184"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Booking systems</a:t>
            </a:r>
            <a:endParaRPr lang="en-US" sz="1250" dirty="0"/>
          </a:p>
        </p:txBody>
      </p:sp>
      <p:sp>
        <p:nvSpPr>
          <p:cNvPr id="28" name="Shape 25"/>
          <p:cNvSpPr/>
          <p:nvPr/>
        </p:nvSpPr>
        <p:spPr>
          <a:xfrm>
            <a:off x="2615184" y="3383280"/>
            <a:ext cx="1715414" cy="457200"/>
          </a:xfrm>
          <a:prstGeom prst="roundRect">
            <a:avLst>
              <a:gd name="adj" fmla="val 50000"/>
            </a:avLst>
          </a:prstGeom>
          <a:solidFill>
            <a:srgbClr val="141414"/>
          </a:solidFill>
          <a:ln w="12700">
            <a:solidFill>
              <a:srgbClr val="262626"/>
            </a:solidFill>
            <a:prstDash val="solid"/>
          </a:ln>
        </p:spPr>
      </p:sp>
      <p:sp>
        <p:nvSpPr>
          <p:cNvPr id="29" name="Shape 26"/>
          <p:cNvSpPr/>
          <p:nvPr/>
        </p:nvSpPr>
        <p:spPr>
          <a:xfrm>
            <a:off x="2816352" y="3570732"/>
            <a:ext cx="82296" cy="82296"/>
          </a:xfrm>
          <a:prstGeom prst="ellipse">
            <a:avLst/>
          </a:prstGeom>
          <a:solidFill>
            <a:srgbClr val="46D12A"/>
          </a:solidFill>
          <a:ln/>
        </p:spPr>
      </p:sp>
      <p:sp>
        <p:nvSpPr>
          <p:cNvPr id="30" name="Text 27"/>
          <p:cNvSpPr/>
          <p:nvPr/>
        </p:nvSpPr>
        <p:spPr>
          <a:xfrm>
            <a:off x="2980944" y="3383280"/>
            <a:ext cx="1303934"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CRM platforms</a:t>
            </a:r>
            <a:endParaRPr lang="en-US" sz="1250" dirty="0"/>
          </a:p>
        </p:txBody>
      </p:sp>
      <p:sp>
        <p:nvSpPr>
          <p:cNvPr id="31" name="Shape 28"/>
          <p:cNvSpPr/>
          <p:nvPr/>
        </p:nvSpPr>
        <p:spPr>
          <a:xfrm>
            <a:off x="4495190" y="3383280"/>
            <a:ext cx="1463040" cy="457200"/>
          </a:xfrm>
          <a:prstGeom prst="roundRect">
            <a:avLst>
              <a:gd name="adj" fmla="val 50000"/>
            </a:avLst>
          </a:prstGeom>
          <a:solidFill>
            <a:srgbClr val="141414"/>
          </a:solidFill>
          <a:ln w="12700">
            <a:solidFill>
              <a:srgbClr val="262626"/>
            </a:solidFill>
            <a:prstDash val="solid"/>
          </a:ln>
        </p:spPr>
      </p:sp>
      <p:sp>
        <p:nvSpPr>
          <p:cNvPr id="32" name="Shape 29"/>
          <p:cNvSpPr/>
          <p:nvPr/>
        </p:nvSpPr>
        <p:spPr>
          <a:xfrm>
            <a:off x="4696358" y="3570732"/>
            <a:ext cx="82296" cy="82296"/>
          </a:xfrm>
          <a:prstGeom prst="ellipse">
            <a:avLst/>
          </a:prstGeom>
          <a:solidFill>
            <a:srgbClr val="46D12A"/>
          </a:solidFill>
          <a:ln/>
        </p:spPr>
      </p:sp>
      <p:sp>
        <p:nvSpPr>
          <p:cNvPr id="33" name="Text 30"/>
          <p:cNvSpPr/>
          <p:nvPr/>
        </p:nvSpPr>
        <p:spPr>
          <a:xfrm>
            <a:off x="4860950" y="3383280"/>
            <a:ext cx="1051560"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Dashboards</a:t>
            </a:r>
            <a:endParaRPr lang="en-US" sz="1250" dirty="0"/>
          </a:p>
        </p:txBody>
      </p:sp>
      <p:sp>
        <p:nvSpPr>
          <p:cNvPr id="34" name="Shape 31"/>
          <p:cNvSpPr/>
          <p:nvPr/>
        </p:nvSpPr>
        <p:spPr>
          <a:xfrm>
            <a:off x="6122822" y="3383280"/>
            <a:ext cx="2220163" cy="457200"/>
          </a:xfrm>
          <a:prstGeom prst="roundRect">
            <a:avLst>
              <a:gd name="adj" fmla="val 50000"/>
            </a:avLst>
          </a:prstGeom>
          <a:solidFill>
            <a:srgbClr val="141414"/>
          </a:solidFill>
          <a:ln w="12700">
            <a:solidFill>
              <a:srgbClr val="262626"/>
            </a:solidFill>
            <a:prstDash val="solid"/>
          </a:ln>
        </p:spPr>
      </p:sp>
      <p:sp>
        <p:nvSpPr>
          <p:cNvPr id="35" name="Shape 32"/>
          <p:cNvSpPr/>
          <p:nvPr/>
        </p:nvSpPr>
        <p:spPr>
          <a:xfrm>
            <a:off x="6323990" y="3570732"/>
            <a:ext cx="82296" cy="82296"/>
          </a:xfrm>
          <a:prstGeom prst="ellipse">
            <a:avLst/>
          </a:prstGeom>
          <a:solidFill>
            <a:srgbClr val="46D12A"/>
          </a:solidFill>
          <a:ln/>
        </p:spPr>
      </p:sp>
      <p:sp>
        <p:nvSpPr>
          <p:cNvPr id="36" name="Text 33"/>
          <p:cNvSpPr/>
          <p:nvPr/>
        </p:nvSpPr>
        <p:spPr>
          <a:xfrm>
            <a:off x="6488582" y="3383280"/>
            <a:ext cx="1808683"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Business automation</a:t>
            </a:r>
            <a:endParaRPr lang="en-US" sz="1250" dirty="0"/>
          </a:p>
        </p:txBody>
      </p:sp>
      <p:sp>
        <p:nvSpPr>
          <p:cNvPr id="37" name="Shape 34"/>
          <p:cNvSpPr/>
          <p:nvPr/>
        </p:nvSpPr>
        <p:spPr>
          <a:xfrm>
            <a:off x="8507578" y="3383280"/>
            <a:ext cx="1799539" cy="457200"/>
          </a:xfrm>
          <a:prstGeom prst="roundRect">
            <a:avLst>
              <a:gd name="adj" fmla="val 50000"/>
            </a:avLst>
          </a:prstGeom>
          <a:solidFill>
            <a:srgbClr val="141414"/>
          </a:solidFill>
          <a:ln w="12700">
            <a:solidFill>
              <a:srgbClr val="262626"/>
            </a:solidFill>
            <a:prstDash val="solid"/>
          </a:ln>
        </p:spPr>
      </p:sp>
      <p:sp>
        <p:nvSpPr>
          <p:cNvPr id="38" name="Shape 35"/>
          <p:cNvSpPr/>
          <p:nvPr/>
        </p:nvSpPr>
        <p:spPr>
          <a:xfrm>
            <a:off x="8708746" y="3570732"/>
            <a:ext cx="82296" cy="82296"/>
          </a:xfrm>
          <a:prstGeom prst="ellipse">
            <a:avLst/>
          </a:prstGeom>
          <a:solidFill>
            <a:srgbClr val="46D12A"/>
          </a:solidFill>
          <a:ln/>
        </p:spPr>
      </p:sp>
      <p:sp>
        <p:nvSpPr>
          <p:cNvPr id="39" name="Text 36"/>
          <p:cNvSpPr/>
          <p:nvPr/>
        </p:nvSpPr>
        <p:spPr>
          <a:xfrm>
            <a:off x="8873338" y="3383280"/>
            <a:ext cx="1388059"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Custom systems</a:t>
            </a:r>
            <a:endParaRPr lang="en-US" sz="1250" dirty="0"/>
          </a:p>
        </p:txBody>
      </p:sp>
      <p:sp>
        <p:nvSpPr>
          <p:cNvPr id="40" name="Shape 37"/>
          <p:cNvSpPr/>
          <p:nvPr/>
        </p:nvSpPr>
        <p:spPr>
          <a:xfrm>
            <a:off x="566928" y="4023360"/>
            <a:ext cx="1631290" cy="457200"/>
          </a:xfrm>
          <a:prstGeom prst="roundRect">
            <a:avLst>
              <a:gd name="adj" fmla="val 50000"/>
            </a:avLst>
          </a:prstGeom>
          <a:solidFill>
            <a:srgbClr val="141414"/>
          </a:solidFill>
          <a:ln w="12700">
            <a:solidFill>
              <a:srgbClr val="262626"/>
            </a:solidFill>
            <a:prstDash val="solid"/>
          </a:ln>
        </p:spPr>
      </p:sp>
      <p:sp>
        <p:nvSpPr>
          <p:cNvPr id="41" name="Shape 38"/>
          <p:cNvSpPr/>
          <p:nvPr/>
        </p:nvSpPr>
        <p:spPr>
          <a:xfrm>
            <a:off x="768096" y="4210812"/>
            <a:ext cx="82296" cy="82296"/>
          </a:xfrm>
          <a:prstGeom prst="ellipse">
            <a:avLst/>
          </a:prstGeom>
          <a:solidFill>
            <a:srgbClr val="46D12A"/>
          </a:solidFill>
          <a:ln/>
        </p:spPr>
      </p:sp>
      <p:sp>
        <p:nvSpPr>
          <p:cNvPr id="42" name="Text 39"/>
          <p:cNvSpPr/>
          <p:nvPr/>
        </p:nvSpPr>
        <p:spPr>
          <a:xfrm>
            <a:off x="932688" y="4023360"/>
            <a:ext cx="1219810"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UI/UX design</a:t>
            </a:r>
            <a:endParaRPr lang="en-US" sz="1250" dirty="0"/>
          </a:p>
        </p:txBody>
      </p:sp>
      <p:sp>
        <p:nvSpPr>
          <p:cNvPr id="43" name="Shape 40"/>
          <p:cNvSpPr/>
          <p:nvPr/>
        </p:nvSpPr>
        <p:spPr>
          <a:xfrm>
            <a:off x="2362810" y="4023360"/>
            <a:ext cx="1715414" cy="457200"/>
          </a:xfrm>
          <a:prstGeom prst="roundRect">
            <a:avLst>
              <a:gd name="adj" fmla="val 50000"/>
            </a:avLst>
          </a:prstGeom>
          <a:solidFill>
            <a:srgbClr val="141414"/>
          </a:solidFill>
          <a:ln w="12700">
            <a:solidFill>
              <a:srgbClr val="262626"/>
            </a:solidFill>
            <a:prstDash val="solid"/>
          </a:ln>
        </p:spPr>
      </p:sp>
      <p:sp>
        <p:nvSpPr>
          <p:cNvPr id="44" name="Shape 41"/>
          <p:cNvSpPr/>
          <p:nvPr/>
        </p:nvSpPr>
        <p:spPr>
          <a:xfrm>
            <a:off x="2563978" y="4210812"/>
            <a:ext cx="82296" cy="82296"/>
          </a:xfrm>
          <a:prstGeom prst="ellipse">
            <a:avLst/>
          </a:prstGeom>
          <a:solidFill>
            <a:srgbClr val="46D12A"/>
          </a:solidFill>
          <a:ln/>
        </p:spPr>
      </p:sp>
      <p:sp>
        <p:nvSpPr>
          <p:cNvPr id="45" name="Text 42"/>
          <p:cNvSpPr/>
          <p:nvPr/>
        </p:nvSpPr>
        <p:spPr>
          <a:xfrm>
            <a:off x="2728570" y="4023360"/>
            <a:ext cx="1303934"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Technical SEO</a:t>
            </a:r>
            <a:endParaRPr lang="en-US" sz="1250" dirty="0"/>
          </a:p>
        </p:txBody>
      </p:sp>
      <p:sp>
        <p:nvSpPr>
          <p:cNvPr id="46" name="Shape 43"/>
          <p:cNvSpPr/>
          <p:nvPr/>
        </p:nvSpPr>
        <p:spPr>
          <a:xfrm>
            <a:off x="4242816" y="4023360"/>
            <a:ext cx="1967789" cy="457200"/>
          </a:xfrm>
          <a:prstGeom prst="roundRect">
            <a:avLst>
              <a:gd name="adj" fmla="val 50000"/>
            </a:avLst>
          </a:prstGeom>
          <a:solidFill>
            <a:srgbClr val="141414"/>
          </a:solidFill>
          <a:ln w="12700">
            <a:solidFill>
              <a:srgbClr val="262626"/>
            </a:solidFill>
            <a:prstDash val="solid"/>
          </a:ln>
        </p:spPr>
      </p:sp>
      <p:sp>
        <p:nvSpPr>
          <p:cNvPr id="47" name="Shape 44"/>
          <p:cNvSpPr/>
          <p:nvPr/>
        </p:nvSpPr>
        <p:spPr>
          <a:xfrm>
            <a:off x="4443984" y="4210812"/>
            <a:ext cx="82296" cy="82296"/>
          </a:xfrm>
          <a:prstGeom prst="ellipse">
            <a:avLst/>
          </a:prstGeom>
          <a:solidFill>
            <a:srgbClr val="46D12A"/>
          </a:solidFill>
          <a:ln/>
        </p:spPr>
      </p:sp>
      <p:sp>
        <p:nvSpPr>
          <p:cNvPr id="48" name="Text 45"/>
          <p:cNvSpPr/>
          <p:nvPr/>
        </p:nvSpPr>
        <p:spPr>
          <a:xfrm>
            <a:off x="4608576" y="4023360"/>
            <a:ext cx="1556309" cy="457200"/>
          </a:xfrm>
          <a:prstGeom prst="rect">
            <a:avLst/>
          </a:prstGeom>
          <a:noFill/>
          <a:ln/>
        </p:spPr>
        <p:txBody>
          <a:bodyPr wrap="square" lIns="0" tIns="0" rIns="0" bIns="0" rtlCol="0" anchor="ctr"/>
          <a:lstStyle/>
          <a:p>
            <a:pPr indent="0" marL="0">
              <a:buNone/>
            </a:pPr>
            <a:r>
              <a:rPr lang="en-US" sz="1250" dirty="0">
                <a:solidFill>
                  <a:srgbClr val="FFFFFF"/>
                </a:solidFill>
                <a:latin typeface="Trebuchet MS" pitchFamily="34" charset="0"/>
                <a:ea typeface="Trebuchet MS" pitchFamily="34" charset="-122"/>
                <a:cs typeface="Trebuchet MS" pitchFamily="34" charset="-120"/>
              </a:rPr>
              <a:t>Product planning</a:t>
            </a:r>
            <a:endParaRPr lang="en-US" sz="1250" dirty="0"/>
          </a:p>
        </p:txBody>
      </p:sp>
      <p:sp>
        <p:nvSpPr>
          <p:cNvPr id="49" name="Shape 46"/>
          <p:cNvSpPr/>
          <p:nvPr/>
        </p:nvSpPr>
        <p:spPr>
          <a:xfrm>
            <a:off x="566928" y="5669280"/>
            <a:ext cx="64008" cy="868680"/>
          </a:xfrm>
          <a:prstGeom prst="rect">
            <a:avLst/>
          </a:prstGeom>
          <a:solidFill>
            <a:srgbClr val="46D12A"/>
          </a:solidFill>
          <a:ln/>
        </p:spPr>
      </p:sp>
      <p:sp>
        <p:nvSpPr>
          <p:cNvPr id="50" name="Text 47"/>
          <p:cNvSpPr/>
          <p:nvPr/>
        </p:nvSpPr>
        <p:spPr>
          <a:xfrm>
            <a:off x="768096" y="5623560"/>
            <a:ext cx="10607040" cy="960120"/>
          </a:xfrm>
          <a:prstGeom prst="rect">
            <a:avLst/>
          </a:prstGeom>
          <a:noFill/>
          <a:ln/>
        </p:spPr>
        <p:txBody>
          <a:bodyPr wrap="square" lIns="0" tIns="0" rIns="0" bIns="0" rtlCol="0" anchor="ctr"/>
          <a:lstStyle/>
          <a:p>
            <a:pPr indent="0" marL="0">
              <a:lnSpc>
                <a:spcPct val="105000"/>
              </a:lnSpc>
              <a:buNone/>
            </a:pPr>
            <a:r>
              <a:rPr lang="en-US" sz="1800" b="1" dirty="0">
                <a:solidFill>
                  <a:srgbClr val="FFFFFF"/>
                </a:solidFill>
                <a:latin typeface="Trebuchet MS" pitchFamily="34" charset="0"/>
                <a:ea typeface="Trebuchet MS" pitchFamily="34" charset="-122"/>
                <a:cs typeface="Trebuchet MS" pitchFamily="34" charset="-120"/>
              </a:rPr>
              <a:t>Tell us what needs to work better. </a:t>
            </a:r>
            <a:pPr indent="0" marL="0">
              <a:lnSpc>
                <a:spcPct val="105000"/>
              </a:lnSpc>
              <a:buNone/>
            </a:pPr>
            <a:r>
              <a:rPr lang="en-US" sz="1800" b="1" dirty="0">
                <a:solidFill>
                  <a:srgbClr val="46D12A"/>
                </a:solidFill>
                <a:latin typeface="Trebuchet MS" pitchFamily="34" charset="0"/>
                <a:ea typeface="Trebuchet MS" pitchFamily="34" charset="-122"/>
                <a:cs typeface="Trebuchet MS" pitchFamily="34" charset="-120"/>
              </a:rPr>
              <a:t>We’ll help you choose the right path, then build it with care.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07</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SERVICES · 1 OF 2</a:t>
            </a:r>
            <a:endParaRPr lang="en-US" sz="1100" dirty="0"/>
          </a:p>
        </p:txBody>
      </p:sp>
      <p:sp>
        <p:nvSpPr>
          <p:cNvPr id="5" name="Text 2"/>
          <p:cNvSpPr/>
          <p:nvPr/>
        </p:nvSpPr>
        <p:spPr>
          <a:xfrm>
            <a:off x="566928" y="859536"/>
            <a:ext cx="8229600" cy="1188720"/>
          </a:xfrm>
          <a:prstGeom prst="rect">
            <a:avLst/>
          </a:prstGeom>
          <a:noFill/>
          <a:ln/>
        </p:spPr>
        <p:txBody>
          <a:bodyPr wrap="square" lIns="0" tIns="0" rIns="0" bIns="0" rtlCol="0" anchor="t"/>
          <a:lstStyle/>
          <a:p>
            <a:pPr indent="0" marL="0">
              <a:lnSpc>
                <a:spcPct val="98000"/>
              </a:lnSpc>
              <a:buNone/>
            </a:pPr>
            <a:r>
              <a:rPr lang="en-US" sz="3000" b="1" dirty="0">
                <a:solidFill>
                  <a:srgbClr val="0E0E0E"/>
                </a:solidFill>
                <a:latin typeface="Trebuchet MS" pitchFamily="34" charset="0"/>
                <a:ea typeface="Trebuchet MS" pitchFamily="34" charset="-122"/>
                <a:cs typeface="Trebuchet MS" pitchFamily="34" charset="-120"/>
              </a:rPr>
              <a:t>Build, design, and sell.</a:t>
            </a:r>
            <a:endParaRPr lang="en-US" sz="3000" dirty="0"/>
          </a:p>
        </p:txBody>
      </p:sp>
      <p:sp>
        <p:nvSpPr>
          <p:cNvPr id="6" name="Shape 3"/>
          <p:cNvSpPr/>
          <p:nvPr/>
        </p:nvSpPr>
        <p:spPr>
          <a:xfrm>
            <a:off x="566928" y="2057400"/>
            <a:ext cx="3520440" cy="3200400"/>
          </a:xfrm>
          <a:prstGeom prst="roundRect">
            <a:avLst>
              <a:gd name="adj" fmla="val 2571"/>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7" name="Shape 4"/>
          <p:cNvSpPr/>
          <p:nvPr/>
        </p:nvSpPr>
        <p:spPr>
          <a:xfrm>
            <a:off x="859536" y="2331720"/>
            <a:ext cx="603504" cy="603504"/>
          </a:xfrm>
          <a:prstGeom prst="ellipse">
            <a:avLst/>
          </a:prstGeom>
          <a:solidFill>
            <a:srgbClr val="46D12A"/>
          </a:solidFill>
          <a:ln/>
        </p:spPr>
      </p:sp>
      <p:pic>
        <p:nvPicPr>
          <p:cNvPr id="8" name="Image 1" descr="preencoded.png">    </p:cNvPr>
          <p:cNvPicPr>
            <a:picLocks noChangeAspect="1"/>
          </p:cNvPicPr>
          <p:nvPr/>
        </p:nvPicPr>
        <p:blipFill>
          <a:blip r:embed="rId2"/>
          <a:stretch>
            <a:fillRect/>
          </a:stretch>
        </p:blipFill>
        <p:spPr>
          <a:xfrm>
            <a:off x="1022482" y="2494666"/>
            <a:ext cx="277612" cy="277612"/>
          </a:xfrm>
          <a:prstGeom prst="rect">
            <a:avLst/>
          </a:prstGeom>
        </p:spPr>
      </p:pic>
      <p:sp>
        <p:nvSpPr>
          <p:cNvPr id="9" name="Text 5"/>
          <p:cNvSpPr/>
          <p:nvPr/>
        </p:nvSpPr>
        <p:spPr>
          <a:xfrm>
            <a:off x="3310128" y="2331720"/>
            <a:ext cx="502920" cy="457200"/>
          </a:xfrm>
          <a:prstGeom prst="rect">
            <a:avLst/>
          </a:prstGeom>
          <a:noFill/>
          <a:ln/>
        </p:spPr>
        <p:txBody>
          <a:bodyPr wrap="square" lIns="0" tIns="0" rIns="0" bIns="0" rtlCol="0" anchor="ctr"/>
          <a:lstStyle/>
          <a:p>
            <a:pPr algn="r" indent="0" marL="0">
              <a:buNone/>
            </a:pPr>
            <a:r>
              <a:rPr lang="en-US" sz="1600" b="1" dirty="0">
                <a:solidFill>
                  <a:srgbClr val="E7E3DA"/>
                </a:solidFill>
                <a:latin typeface="Trebuchet MS" pitchFamily="34" charset="0"/>
                <a:ea typeface="Trebuchet MS" pitchFamily="34" charset="-122"/>
                <a:cs typeface="Trebuchet MS" pitchFamily="34" charset="-120"/>
              </a:rPr>
              <a:t>01</a:t>
            </a:r>
            <a:endParaRPr lang="en-US" sz="1600" dirty="0"/>
          </a:p>
        </p:txBody>
      </p:sp>
      <p:sp>
        <p:nvSpPr>
          <p:cNvPr id="10" name="Text 6"/>
          <p:cNvSpPr/>
          <p:nvPr/>
        </p:nvSpPr>
        <p:spPr>
          <a:xfrm>
            <a:off x="859536" y="3154680"/>
            <a:ext cx="2971800" cy="457200"/>
          </a:xfrm>
          <a:prstGeom prst="rect">
            <a:avLst/>
          </a:prstGeom>
          <a:noFill/>
          <a:ln/>
        </p:spPr>
        <p:txBody>
          <a:bodyPr wrap="square" lIns="0" tIns="0" rIns="0" bIns="0" rtlCol="0" anchor="ctr"/>
          <a:lstStyle/>
          <a:p>
            <a:pPr indent="0" marL="0">
              <a:buNone/>
            </a:pPr>
            <a:r>
              <a:rPr lang="en-US" sz="1600" b="1" dirty="0">
                <a:solidFill>
                  <a:srgbClr val="0E0E0E"/>
                </a:solidFill>
                <a:latin typeface="Trebuchet MS" pitchFamily="34" charset="0"/>
                <a:ea typeface="Trebuchet MS" pitchFamily="34" charset="-122"/>
                <a:cs typeface="Trebuchet MS" pitchFamily="34" charset="-120"/>
              </a:rPr>
              <a:t>Web Development</a:t>
            </a:r>
            <a:endParaRPr lang="en-US" sz="1600" dirty="0"/>
          </a:p>
        </p:txBody>
      </p:sp>
      <p:sp>
        <p:nvSpPr>
          <p:cNvPr id="11" name="Text 7"/>
          <p:cNvSpPr/>
          <p:nvPr/>
        </p:nvSpPr>
        <p:spPr>
          <a:xfrm>
            <a:off x="859536" y="3639312"/>
            <a:ext cx="2971800" cy="1554480"/>
          </a:xfrm>
          <a:prstGeom prst="rect">
            <a:avLst/>
          </a:prstGeom>
          <a:noFill/>
          <a:ln/>
        </p:spPr>
        <p:txBody>
          <a:bodyPr wrap="square" lIns="0" tIns="0" rIns="0" bIns="0" rtlCol="0" anchor="ctr"/>
          <a:lstStyle/>
          <a:p>
            <a:pPr indent="0" marL="0">
              <a:lnSpc>
                <a:spcPct val="118000"/>
              </a:lnSpc>
              <a:buNone/>
            </a:pPr>
            <a:r>
              <a:rPr lang="en-US" sz="1200" dirty="0">
                <a:solidFill>
                  <a:srgbClr val="3A3A38"/>
                </a:solidFill>
                <a:latin typeface="Calibri" pitchFamily="34" charset="0"/>
                <a:ea typeface="Calibri" pitchFamily="34" charset="-122"/>
                <a:cs typeface="Calibri" pitchFamily="34" charset="-120"/>
              </a:rPr>
              <a:t>Websites and platforms that are clear, fast, responsive, and easy to understand. A site should explain who you are, what you offer, why it matters, and what to do next.</a:t>
            </a:r>
            <a:endParaRPr lang="en-US" sz="1200" dirty="0"/>
          </a:p>
        </p:txBody>
      </p:sp>
      <p:sp>
        <p:nvSpPr>
          <p:cNvPr id="12" name="Shape 8"/>
          <p:cNvSpPr/>
          <p:nvPr/>
        </p:nvSpPr>
        <p:spPr>
          <a:xfrm>
            <a:off x="4379976" y="2057400"/>
            <a:ext cx="3520440" cy="3200400"/>
          </a:xfrm>
          <a:prstGeom prst="roundRect">
            <a:avLst>
              <a:gd name="adj" fmla="val 2571"/>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13" name="Shape 9"/>
          <p:cNvSpPr/>
          <p:nvPr/>
        </p:nvSpPr>
        <p:spPr>
          <a:xfrm>
            <a:off x="4672584" y="2331720"/>
            <a:ext cx="603504" cy="603504"/>
          </a:xfrm>
          <a:prstGeom prst="ellipse">
            <a:avLst/>
          </a:prstGeom>
          <a:solidFill>
            <a:srgbClr val="46D12A"/>
          </a:solidFill>
          <a:ln/>
        </p:spPr>
      </p:sp>
      <p:pic>
        <p:nvPicPr>
          <p:cNvPr id="14" name="Image 2" descr="preencoded.png">    </p:cNvPr>
          <p:cNvPicPr>
            <a:picLocks noChangeAspect="1"/>
          </p:cNvPicPr>
          <p:nvPr/>
        </p:nvPicPr>
        <p:blipFill>
          <a:blip r:embed="rId3"/>
          <a:stretch>
            <a:fillRect/>
          </a:stretch>
        </p:blipFill>
        <p:spPr>
          <a:xfrm>
            <a:off x="4835530" y="2494666"/>
            <a:ext cx="277612" cy="277612"/>
          </a:xfrm>
          <a:prstGeom prst="rect">
            <a:avLst/>
          </a:prstGeom>
        </p:spPr>
      </p:pic>
      <p:sp>
        <p:nvSpPr>
          <p:cNvPr id="15" name="Text 10"/>
          <p:cNvSpPr/>
          <p:nvPr/>
        </p:nvSpPr>
        <p:spPr>
          <a:xfrm>
            <a:off x="7123176" y="2331720"/>
            <a:ext cx="502920" cy="457200"/>
          </a:xfrm>
          <a:prstGeom prst="rect">
            <a:avLst/>
          </a:prstGeom>
          <a:noFill/>
          <a:ln/>
        </p:spPr>
        <p:txBody>
          <a:bodyPr wrap="square" lIns="0" tIns="0" rIns="0" bIns="0" rtlCol="0" anchor="ctr"/>
          <a:lstStyle/>
          <a:p>
            <a:pPr algn="r" indent="0" marL="0">
              <a:buNone/>
            </a:pPr>
            <a:r>
              <a:rPr lang="en-US" sz="1600" b="1" dirty="0">
                <a:solidFill>
                  <a:srgbClr val="E7E3DA"/>
                </a:solidFill>
                <a:latin typeface="Trebuchet MS" pitchFamily="34" charset="0"/>
                <a:ea typeface="Trebuchet MS" pitchFamily="34" charset="-122"/>
                <a:cs typeface="Trebuchet MS" pitchFamily="34" charset="-120"/>
              </a:rPr>
              <a:t>02</a:t>
            </a:r>
            <a:endParaRPr lang="en-US" sz="1600" dirty="0"/>
          </a:p>
        </p:txBody>
      </p:sp>
      <p:sp>
        <p:nvSpPr>
          <p:cNvPr id="16" name="Text 11"/>
          <p:cNvSpPr/>
          <p:nvPr/>
        </p:nvSpPr>
        <p:spPr>
          <a:xfrm>
            <a:off x="4672584" y="3154680"/>
            <a:ext cx="2971800" cy="457200"/>
          </a:xfrm>
          <a:prstGeom prst="rect">
            <a:avLst/>
          </a:prstGeom>
          <a:noFill/>
          <a:ln/>
        </p:spPr>
        <p:txBody>
          <a:bodyPr wrap="square" lIns="0" tIns="0" rIns="0" bIns="0" rtlCol="0" anchor="ctr"/>
          <a:lstStyle/>
          <a:p>
            <a:pPr indent="0" marL="0">
              <a:buNone/>
            </a:pPr>
            <a:r>
              <a:rPr lang="en-US" sz="1600" b="1" dirty="0">
                <a:solidFill>
                  <a:srgbClr val="0E0E0E"/>
                </a:solidFill>
                <a:latin typeface="Trebuchet MS" pitchFamily="34" charset="0"/>
                <a:ea typeface="Trebuchet MS" pitchFamily="34" charset="-122"/>
                <a:cs typeface="Trebuchet MS" pitchFamily="34" charset="-120"/>
              </a:rPr>
              <a:t>UI/UX Design</a:t>
            </a:r>
            <a:endParaRPr lang="en-US" sz="1600" dirty="0"/>
          </a:p>
        </p:txBody>
      </p:sp>
      <p:sp>
        <p:nvSpPr>
          <p:cNvPr id="17" name="Text 12"/>
          <p:cNvSpPr/>
          <p:nvPr/>
        </p:nvSpPr>
        <p:spPr>
          <a:xfrm>
            <a:off x="4672584" y="3639312"/>
            <a:ext cx="2971800" cy="1554480"/>
          </a:xfrm>
          <a:prstGeom prst="rect">
            <a:avLst/>
          </a:prstGeom>
          <a:noFill/>
          <a:ln/>
        </p:spPr>
        <p:txBody>
          <a:bodyPr wrap="square" lIns="0" tIns="0" rIns="0" bIns="0" rtlCol="0" anchor="ctr"/>
          <a:lstStyle/>
          <a:p>
            <a:pPr indent="0" marL="0">
              <a:lnSpc>
                <a:spcPct val="118000"/>
              </a:lnSpc>
              <a:buNone/>
            </a:pPr>
            <a:r>
              <a:rPr lang="en-US" sz="1200" dirty="0">
                <a:solidFill>
                  <a:srgbClr val="3A3A38"/>
                </a:solidFill>
                <a:latin typeface="Calibri" pitchFamily="34" charset="0"/>
                <a:ea typeface="Calibri" pitchFamily="34" charset="-122"/>
                <a:cs typeface="Calibri" pitchFamily="34" charset="-120"/>
              </a:rPr>
              <a:t>Interfaces that help users move with confidence — clear screens, simple flows, useful layouts. Good design is not decoration. It is guidance.</a:t>
            </a:r>
            <a:endParaRPr lang="en-US" sz="1200" dirty="0"/>
          </a:p>
        </p:txBody>
      </p:sp>
      <p:sp>
        <p:nvSpPr>
          <p:cNvPr id="18" name="Shape 13"/>
          <p:cNvSpPr/>
          <p:nvPr/>
        </p:nvSpPr>
        <p:spPr>
          <a:xfrm>
            <a:off x="8193024" y="2057400"/>
            <a:ext cx="3520440" cy="3200400"/>
          </a:xfrm>
          <a:prstGeom prst="roundRect">
            <a:avLst>
              <a:gd name="adj" fmla="val 2571"/>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19" name="Shape 14"/>
          <p:cNvSpPr/>
          <p:nvPr/>
        </p:nvSpPr>
        <p:spPr>
          <a:xfrm>
            <a:off x="8485632" y="2331720"/>
            <a:ext cx="603504" cy="603504"/>
          </a:xfrm>
          <a:prstGeom prst="ellipse">
            <a:avLst/>
          </a:prstGeom>
          <a:solidFill>
            <a:srgbClr val="46D12A"/>
          </a:solidFill>
          <a:ln/>
        </p:spPr>
      </p:sp>
      <p:pic>
        <p:nvPicPr>
          <p:cNvPr id="20" name="Image 3" descr="preencoded.png">    </p:cNvPr>
          <p:cNvPicPr>
            <a:picLocks noChangeAspect="1"/>
          </p:cNvPicPr>
          <p:nvPr/>
        </p:nvPicPr>
        <p:blipFill>
          <a:blip r:embed="rId4"/>
          <a:stretch>
            <a:fillRect/>
          </a:stretch>
        </p:blipFill>
        <p:spPr>
          <a:xfrm>
            <a:off x="8648578" y="2494666"/>
            <a:ext cx="277612" cy="277612"/>
          </a:xfrm>
          <a:prstGeom prst="rect">
            <a:avLst/>
          </a:prstGeom>
        </p:spPr>
      </p:pic>
      <p:sp>
        <p:nvSpPr>
          <p:cNvPr id="21" name="Text 15"/>
          <p:cNvSpPr/>
          <p:nvPr/>
        </p:nvSpPr>
        <p:spPr>
          <a:xfrm>
            <a:off x="10936224" y="2331720"/>
            <a:ext cx="502920" cy="457200"/>
          </a:xfrm>
          <a:prstGeom prst="rect">
            <a:avLst/>
          </a:prstGeom>
          <a:noFill/>
          <a:ln/>
        </p:spPr>
        <p:txBody>
          <a:bodyPr wrap="square" lIns="0" tIns="0" rIns="0" bIns="0" rtlCol="0" anchor="ctr"/>
          <a:lstStyle/>
          <a:p>
            <a:pPr algn="r" indent="0" marL="0">
              <a:buNone/>
            </a:pPr>
            <a:r>
              <a:rPr lang="en-US" sz="1600" b="1" dirty="0">
                <a:solidFill>
                  <a:srgbClr val="E7E3DA"/>
                </a:solidFill>
                <a:latin typeface="Trebuchet MS" pitchFamily="34" charset="0"/>
                <a:ea typeface="Trebuchet MS" pitchFamily="34" charset="-122"/>
                <a:cs typeface="Trebuchet MS" pitchFamily="34" charset="-120"/>
              </a:rPr>
              <a:t>03</a:t>
            </a:r>
            <a:endParaRPr lang="en-US" sz="1600" dirty="0"/>
          </a:p>
        </p:txBody>
      </p:sp>
      <p:sp>
        <p:nvSpPr>
          <p:cNvPr id="22" name="Text 16"/>
          <p:cNvSpPr/>
          <p:nvPr/>
        </p:nvSpPr>
        <p:spPr>
          <a:xfrm>
            <a:off x="8485632" y="3154680"/>
            <a:ext cx="2971800" cy="457200"/>
          </a:xfrm>
          <a:prstGeom prst="rect">
            <a:avLst/>
          </a:prstGeom>
          <a:noFill/>
          <a:ln/>
        </p:spPr>
        <p:txBody>
          <a:bodyPr wrap="square" lIns="0" tIns="0" rIns="0" bIns="0" rtlCol="0" anchor="ctr"/>
          <a:lstStyle/>
          <a:p>
            <a:pPr indent="0" marL="0">
              <a:buNone/>
            </a:pPr>
            <a:r>
              <a:rPr lang="en-US" sz="1600" b="1" dirty="0">
                <a:solidFill>
                  <a:srgbClr val="0E0E0E"/>
                </a:solidFill>
                <a:latin typeface="Trebuchet MS" pitchFamily="34" charset="0"/>
                <a:ea typeface="Trebuchet MS" pitchFamily="34" charset="-122"/>
                <a:cs typeface="Trebuchet MS" pitchFamily="34" charset="-120"/>
              </a:rPr>
              <a:t>E-Commerce</a:t>
            </a:r>
            <a:endParaRPr lang="en-US" sz="1600" dirty="0"/>
          </a:p>
        </p:txBody>
      </p:sp>
      <p:sp>
        <p:nvSpPr>
          <p:cNvPr id="23" name="Text 17"/>
          <p:cNvSpPr/>
          <p:nvPr/>
        </p:nvSpPr>
        <p:spPr>
          <a:xfrm>
            <a:off x="8485632" y="3639312"/>
            <a:ext cx="2971800" cy="1554480"/>
          </a:xfrm>
          <a:prstGeom prst="rect">
            <a:avLst/>
          </a:prstGeom>
          <a:noFill/>
          <a:ln/>
        </p:spPr>
        <p:txBody>
          <a:bodyPr wrap="square" lIns="0" tIns="0" rIns="0" bIns="0" rtlCol="0" anchor="ctr"/>
          <a:lstStyle/>
          <a:p>
            <a:pPr indent="0" marL="0">
              <a:lnSpc>
                <a:spcPct val="118000"/>
              </a:lnSpc>
              <a:buNone/>
            </a:pPr>
            <a:r>
              <a:rPr lang="en-US" sz="1200" dirty="0">
                <a:solidFill>
                  <a:srgbClr val="3A3A38"/>
                </a:solidFill>
                <a:latin typeface="Calibri" pitchFamily="34" charset="0"/>
                <a:ea typeface="Calibri" pitchFamily="34" charset="-122"/>
                <a:cs typeface="Calibri" pitchFamily="34" charset="-120"/>
              </a:rPr>
              <a:t>Online stores that help people browse, trust, and buy. Easy to explore, easy to find, easy to finish — because if buying feels like an investigation, people leave.</a:t>
            </a:r>
            <a:endParaRPr lang="en-US" sz="1200" dirty="0"/>
          </a:p>
        </p:txBody>
      </p:sp>
      <p:sp>
        <p:nvSpPr>
          <p:cNvPr id="24" name="Shape 18"/>
          <p:cNvSpPr/>
          <p:nvPr/>
        </p:nvSpPr>
        <p:spPr>
          <a:xfrm>
            <a:off x="566928" y="5577840"/>
            <a:ext cx="64008" cy="868680"/>
          </a:xfrm>
          <a:prstGeom prst="rect">
            <a:avLst/>
          </a:prstGeom>
          <a:solidFill>
            <a:srgbClr val="46D12A"/>
          </a:solidFill>
          <a:ln/>
        </p:spPr>
      </p:sp>
      <p:sp>
        <p:nvSpPr>
          <p:cNvPr id="25" name="Text 19"/>
          <p:cNvSpPr/>
          <p:nvPr/>
        </p:nvSpPr>
        <p:spPr>
          <a:xfrm>
            <a:off x="768096" y="5532120"/>
            <a:ext cx="10607040" cy="960120"/>
          </a:xfrm>
          <a:prstGeom prst="rect">
            <a:avLst/>
          </a:prstGeom>
          <a:noFill/>
          <a:ln/>
        </p:spPr>
        <p:txBody>
          <a:bodyPr wrap="square" lIns="0" tIns="0" rIns="0" bIns="0" rtlCol="0" anchor="ctr"/>
          <a:lstStyle/>
          <a:p>
            <a:pPr indent="0" marL="0">
              <a:lnSpc>
                <a:spcPct val="105000"/>
              </a:lnSpc>
              <a:buNone/>
            </a:pPr>
            <a:r>
              <a:rPr lang="en-US" sz="1800" b="1" dirty="0">
                <a:solidFill>
                  <a:srgbClr val="0E0E0E"/>
                </a:solidFill>
                <a:latin typeface="Trebuchet MS" pitchFamily="34" charset="0"/>
                <a:ea typeface="Trebuchet MS" pitchFamily="34" charset="-122"/>
                <a:cs typeface="Trebuchet MS" pitchFamily="34" charset="-120"/>
              </a:rPr>
              <a:t>If users need to guess, </a:t>
            </a:r>
            <a:pPr indent="0" marL="0">
              <a:lnSpc>
                <a:spcPct val="105000"/>
              </a:lnSpc>
              <a:buNone/>
            </a:pPr>
            <a:r>
              <a:rPr lang="en-US" sz="1800" b="1" dirty="0">
                <a:solidFill>
                  <a:srgbClr val="2E8E1B"/>
                </a:solidFill>
                <a:latin typeface="Trebuchet MS" pitchFamily="34" charset="0"/>
                <a:ea typeface="Trebuchet MS" pitchFamily="34" charset="-122"/>
                <a:cs typeface="Trebuchet MS" pitchFamily="34" charset="-120"/>
              </a:rPr>
              <a:t>the website is being dramatic.</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08</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SERVICES · 2 OF 2</a:t>
            </a:r>
            <a:endParaRPr lang="en-US" sz="1100" dirty="0"/>
          </a:p>
        </p:txBody>
      </p:sp>
      <p:sp>
        <p:nvSpPr>
          <p:cNvPr id="5" name="Text 2"/>
          <p:cNvSpPr/>
          <p:nvPr/>
        </p:nvSpPr>
        <p:spPr>
          <a:xfrm>
            <a:off x="566928" y="859536"/>
            <a:ext cx="9144000" cy="1188720"/>
          </a:xfrm>
          <a:prstGeom prst="rect">
            <a:avLst/>
          </a:prstGeom>
          <a:noFill/>
          <a:ln/>
        </p:spPr>
        <p:txBody>
          <a:bodyPr wrap="square" lIns="0" tIns="0" rIns="0" bIns="0" rtlCol="0" anchor="t"/>
          <a:lstStyle/>
          <a:p>
            <a:pPr indent="0" marL="0">
              <a:lnSpc>
                <a:spcPct val="98000"/>
              </a:lnSpc>
              <a:buNone/>
            </a:pPr>
            <a:r>
              <a:rPr lang="en-US" sz="3000" b="1" dirty="0">
                <a:solidFill>
                  <a:srgbClr val="0E0E0E"/>
                </a:solidFill>
                <a:latin typeface="Trebuchet MS" pitchFamily="34" charset="0"/>
                <a:ea typeface="Trebuchet MS" pitchFamily="34" charset="-122"/>
                <a:cs typeface="Trebuchet MS" pitchFamily="34" charset="-120"/>
              </a:rPr>
              <a:t>Reach, organize, and automate.</a:t>
            </a:r>
            <a:endParaRPr lang="en-US" sz="3000" dirty="0"/>
          </a:p>
        </p:txBody>
      </p:sp>
      <p:sp>
        <p:nvSpPr>
          <p:cNvPr id="6" name="Shape 3"/>
          <p:cNvSpPr/>
          <p:nvPr/>
        </p:nvSpPr>
        <p:spPr>
          <a:xfrm>
            <a:off x="566928" y="2011680"/>
            <a:ext cx="5285232" cy="1783080"/>
          </a:xfrm>
          <a:prstGeom prst="roundRect">
            <a:avLst>
              <a:gd name="adj" fmla="val 4615"/>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7" name="Shape 4"/>
          <p:cNvSpPr/>
          <p:nvPr/>
        </p:nvSpPr>
        <p:spPr>
          <a:xfrm>
            <a:off x="841248" y="2286000"/>
            <a:ext cx="548640" cy="548640"/>
          </a:xfrm>
          <a:prstGeom prst="ellipse">
            <a:avLst/>
          </a:prstGeom>
          <a:solidFill>
            <a:srgbClr val="46D12A"/>
          </a:solidFill>
          <a:ln/>
        </p:spPr>
      </p:sp>
      <p:pic>
        <p:nvPicPr>
          <p:cNvPr id="8" name="Image 1" descr="preencoded.png">    </p:cNvPr>
          <p:cNvPicPr>
            <a:picLocks noChangeAspect="1"/>
          </p:cNvPicPr>
          <p:nvPr/>
        </p:nvPicPr>
        <p:blipFill>
          <a:blip r:embed="rId2"/>
          <a:stretch>
            <a:fillRect/>
          </a:stretch>
        </p:blipFill>
        <p:spPr>
          <a:xfrm>
            <a:off x="989381" y="2434133"/>
            <a:ext cx="252374" cy="252374"/>
          </a:xfrm>
          <a:prstGeom prst="rect">
            <a:avLst/>
          </a:prstGeom>
        </p:spPr>
      </p:pic>
      <p:sp>
        <p:nvSpPr>
          <p:cNvPr id="9" name="Text 5"/>
          <p:cNvSpPr/>
          <p:nvPr/>
        </p:nvSpPr>
        <p:spPr>
          <a:xfrm>
            <a:off x="5120640" y="2267712"/>
            <a:ext cx="457200" cy="365760"/>
          </a:xfrm>
          <a:prstGeom prst="rect">
            <a:avLst/>
          </a:prstGeom>
          <a:noFill/>
          <a:ln/>
        </p:spPr>
        <p:txBody>
          <a:bodyPr wrap="square" lIns="0" tIns="0" rIns="0" bIns="0" rtlCol="0" anchor="ctr"/>
          <a:lstStyle/>
          <a:p>
            <a:pPr algn="r" indent="0" marL="0">
              <a:buNone/>
            </a:pPr>
            <a:r>
              <a:rPr lang="en-US" sz="1400" b="1" dirty="0">
                <a:solidFill>
                  <a:srgbClr val="E7E3DA"/>
                </a:solidFill>
                <a:latin typeface="Trebuchet MS" pitchFamily="34" charset="0"/>
                <a:ea typeface="Trebuchet MS" pitchFamily="34" charset="-122"/>
                <a:cs typeface="Trebuchet MS" pitchFamily="34" charset="-120"/>
              </a:rPr>
              <a:t>04</a:t>
            </a:r>
            <a:endParaRPr lang="en-US" sz="1400" dirty="0"/>
          </a:p>
        </p:txBody>
      </p:sp>
      <p:sp>
        <p:nvSpPr>
          <p:cNvPr id="10" name="Text 6"/>
          <p:cNvSpPr/>
          <p:nvPr/>
        </p:nvSpPr>
        <p:spPr>
          <a:xfrm>
            <a:off x="1527048" y="2304288"/>
            <a:ext cx="4005072" cy="457200"/>
          </a:xfrm>
          <a:prstGeom prst="rect">
            <a:avLst/>
          </a:prstGeom>
          <a:noFill/>
          <a:ln/>
        </p:spPr>
        <p:txBody>
          <a:bodyPr wrap="square" lIns="0" tIns="0" rIns="0" bIns="0" rtlCol="0" anchor="ctr"/>
          <a:lstStyle/>
          <a:p>
            <a:pPr indent="0" marL="0">
              <a:buNone/>
            </a:pPr>
            <a:r>
              <a:rPr lang="en-US" sz="1500" b="1" dirty="0">
                <a:solidFill>
                  <a:srgbClr val="0E0E0E"/>
                </a:solidFill>
                <a:latin typeface="Trebuchet MS" pitchFamily="34" charset="0"/>
                <a:ea typeface="Trebuchet MS" pitchFamily="34" charset="-122"/>
                <a:cs typeface="Trebuchet MS" pitchFamily="34" charset="-120"/>
              </a:rPr>
              <a:t>Mobile Apps</a:t>
            </a:r>
            <a:endParaRPr lang="en-US" sz="1500" dirty="0"/>
          </a:p>
        </p:txBody>
      </p:sp>
      <p:sp>
        <p:nvSpPr>
          <p:cNvPr id="11" name="Text 7"/>
          <p:cNvSpPr/>
          <p:nvPr/>
        </p:nvSpPr>
        <p:spPr>
          <a:xfrm>
            <a:off x="841248" y="2926080"/>
            <a:ext cx="4736592" cy="777240"/>
          </a:xfrm>
          <a:prstGeom prst="rect">
            <a:avLst/>
          </a:prstGeom>
          <a:noFill/>
          <a:ln/>
        </p:spPr>
        <p:txBody>
          <a:bodyPr wrap="square" lIns="0" tIns="0" rIns="0" bIns="0" rtlCol="0" anchor="ctr"/>
          <a:lstStyle/>
          <a:p>
            <a:pPr indent="0" marL="0">
              <a:lnSpc>
                <a:spcPct val="115000"/>
              </a:lnSpc>
              <a:buNone/>
            </a:pPr>
            <a:r>
              <a:rPr lang="en-US" sz="1150" dirty="0">
                <a:solidFill>
                  <a:srgbClr val="3A3A38"/>
                </a:solidFill>
                <a:latin typeface="Calibri" pitchFamily="34" charset="0"/>
                <a:ea typeface="Calibri" pitchFamily="34" charset="-122"/>
                <a:cs typeface="Calibri" pitchFamily="34" charset="-120"/>
              </a:rPr>
              <a:t>Apps for real users and real daily habits — something people can open, understand, and use without a tutorial and a deep breath.</a:t>
            </a:r>
            <a:endParaRPr lang="en-US" sz="1150" dirty="0"/>
          </a:p>
        </p:txBody>
      </p:sp>
      <p:sp>
        <p:nvSpPr>
          <p:cNvPr id="12" name="Shape 8"/>
          <p:cNvSpPr/>
          <p:nvPr/>
        </p:nvSpPr>
        <p:spPr>
          <a:xfrm>
            <a:off x="6099048" y="2011680"/>
            <a:ext cx="5285232" cy="1783080"/>
          </a:xfrm>
          <a:prstGeom prst="roundRect">
            <a:avLst>
              <a:gd name="adj" fmla="val 4615"/>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13" name="Shape 9"/>
          <p:cNvSpPr/>
          <p:nvPr/>
        </p:nvSpPr>
        <p:spPr>
          <a:xfrm>
            <a:off x="6373368" y="2286000"/>
            <a:ext cx="548640" cy="548640"/>
          </a:xfrm>
          <a:prstGeom prst="ellipse">
            <a:avLst/>
          </a:prstGeom>
          <a:solidFill>
            <a:srgbClr val="46D12A"/>
          </a:solidFill>
          <a:ln/>
        </p:spPr>
      </p:sp>
      <p:pic>
        <p:nvPicPr>
          <p:cNvPr id="14" name="Image 2" descr="preencoded.png">    </p:cNvPr>
          <p:cNvPicPr>
            <a:picLocks noChangeAspect="1"/>
          </p:cNvPicPr>
          <p:nvPr/>
        </p:nvPicPr>
        <p:blipFill>
          <a:blip r:embed="rId3"/>
          <a:stretch>
            <a:fillRect/>
          </a:stretch>
        </p:blipFill>
        <p:spPr>
          <a:xfrm>
            <a:off x="6521501" y="2434133"/>
            <a:ext cx="252374" cy="252374"/>
          </a:xfrm>
          <a:prstGeom prst="rect">
            <a:avLst/>
          </a:prstGeom>
        </p:spPr>
      </p:pic>
      <p:sp>
        <p:nvSpPr>
          <p:cNvPr id="15" name="Text 10"/>
          <p:cNvSpPr/>
          <p:nvPr/>
        </p:nvSpPr>
        <p:spPr>
          <a:xfrm>
            <a:off x="10652760" y="2267712"/>
            <a:ext cx="457200" cy="365760"/>
          </a:xfrm>
          <a:prstGeom prst="rect">
            <a:avLst/>
          </a:prstGeom>
          <a:noFill/>
          <a:ln/>
        </p:spPr>
        <p:txBody>
          <a:bodyPr wrap="square" lIns="0" tIns="0" rIns="0" bIns="0" rtlCol="0" anchor="ctr"/>
          <a:lstStyle/>
          <a:p>
            <a:pPr algn="r" indent="0" marL="0">
              <a:buNone/>
            </a:pPr>
            <a:r>
              <a:rPr lang="en-US" sz="1400" b="1" dirty="0">
                <a:solidFill>
                  <a:srgbClr val="E7E3DA"/>
                </a:solidFill>
                <a:latin typeface="Trebuchet MS" pitchFamily="34" charset="0"/>
                <a:ea typeface="Trebuchet MS" pitchFamily="34" charset="-122"/>
                <a:cs typeface="Trebuchet MS" pitchFamily="34" charset="-120"/>
              </a:rPr>
              <a:t>05</a:t>
            </a:r>
            <a:endParaRPr lang="en-US" sz="1400" dirty="0"/>
          </a:p>
        </p:txBody>
      </p:sp>
      <p:sp>
        <p:nvSpPr>
          <p:cNvPr id="16" name="Text 11"/>
          <p:cNvSpPr/>
          <p:nvPr/>
        </p:nvSpPr>
        <p:spPr>
          <a:xfrm>
            <a:off x="7059168" y="2304288"/>
            <a:ext cx="4005072" cy="457200"/>
          </a:xfrm>
          <a:prstGeom prst="rect">
            <a:avLst/>
          </a:prstGeom>
          <a:noFill/>
          <a:ln/>
        </p:spPr>
        <p:txBody>
          <a:bodyPr wrap="square" lIns="0" tIns="0" rIns="0" bIns="0" rtlCol="0" anchor="ctr"/>
          <a:lstStyle/>
          <a:p>
            <a:pPr indent="0" marL="0">
              <a:buNone/>
            </a:pPr>
            <a:r>
              <a:rPr lang="en-US" sz="1500" b="1" dirty="0">
                <a:solidFill>
                  <a:srgbClr val="0E0E0E"/>
                </a:solidFill>
                <a:latin typeface="Trebuchet MS" pitchFamily="34" charset="0"/>
                <a:ea typeface="Trebuchet MS" pitchFamily="34" charset="-122"/>
                <a:cs typeface="Trebuchet MS" pitchFamily="34" charset="-120"/>
              </a:rPr>
              <a:t>SEO</a:t>
            </a:r>
            <a:endParaRPr lang="en-US" sz="1500" dirty="0"/>
          </a:p>
        </p:txBody>
      </p:sp>
      <p:sp>
        <p:nvSpPr>
          <p:cNvPr id="17" name="Text 12"/>
          <p:cNvSpPr/>
          <p:nvPr/>
        </p:nvSpPr>
        <p:spPr>
          <a:xfrm>
            <a:off x="6373368" y="2926080"/>
            <a:ext cx="4736592" cy="777240"/>
          </a:xfrm>
          <a:prstGeom prst="rect">
            <a:avLst/>
          </a:prstGeom>
          <a:noFill/>
          <a:ln/>
        </p:spPr>
        <p:txBody>
          <a:bodyPr wrap="square" lIns="0" tIns="0" rIns="0" bIns="0" rtlCol="0" anchor="ctr"/>
          <a:lstStyle/>
          <a:p>
            <a:pPr indent="0" marL="0">
              <a:lnSpc>
                <a:spcPct val="115000"/>
              </a:lnSpc>
              <a:buNone/>
            </a:pPr>
            <a:r>
              <a:rPr lang="en-US" sz="1150" dirty="0">
                <a:solidFill>
                  <a:srgbClr val="3A3A38"/>
                </a:solidFill>
                <a:latin typeface="Calibri" pitchFamily="34" charset="0"/>
                <a:ea typeface="Calibri" pitchFamily="34" charset="-122"/>
                <a:cs typeface="Calibri" pitchFamily="34" charset="-120"/>
              </a:rPr>
              <a:t>SEO-ready pages and clean technical foundations: clear structure, useful content, fast performance, search-friendly from the start.</a:t>
            </a:r>
            <a:endParaRPr lang="en-US" sz="1150" dirty="0"/>
          </a:p>
        </p:txBody>
      </p:sp>
      <p:sp>
        <p:nvSpPr>
          <p:cNvPr id="18" name="Shape 13"/>
          <p:cNvSpPr/>
          <p:nvPr/>
        </p:nvSpPr>
        <p:spPr>
          <a:xfrm>
            <a:off x="566928" y="4023360"/>
            <a:ext cx="5285232" cy="1783080"/>
          </a:xfrm>
          <a:prstGeom prst="roundRect">
            <a:avLst>
              <a:gd name="adj" fmla="val 4615"/>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19" name="Shape 14"/>
          <p:cNvSpPr/>
          <p:nvPr/>
        </p:nvSpPr>
        <p:spPr>
          <a:xfrm>
            <a:off x="841248" y="4297680"/>
            <a:ext cx="548640" cy="548640"/>
          </a:xfrm>
          <a:prstGeom prst="ellipse">
            <a:avLst/>
          </a:prstGeom>
          <a:solidFill>
            <a:srgbClr val="46D12A"/>
          </a:solidFill>
          <a:ln/>
        </p:spPr>
      </p:sp>
      <p:pic>
        <p:nvPicPr>
          <p:cNvPr id="20" name="Image 3" descr="preencoded.png">    </p:cNvPr>
          <p:cNvPicPr>
            <a:picLocks noChangeAspect="1"/>
          </p:cNvPicPr>
          <p:nvPr/>
        </p:nvPicPr>
        <p:blipFill>
          <a:blip r:embed="rId4"/>
          <a:stretch>
            <a:fillRect/>
          </a:stretch>
        </p:blipFill>
        <p:spPr>
          <a:xfrm>
            <a:off x="989381" y="4445813"/>
            <a:ext cx="252374" cy="252374"/>
          </a:xfrm>
          <a:prstGeom prst="rect">
            <a:avLst/>
          </a:prstGeom>
        </p:spPr>
      </p:pic>
      <p:sp>
        <p:nvSpPr>
          <p:cNvPr id="21" name="Text 15"/>
          <p:cNvSpPr/>
          <p:nvPr/>
        </p:nvSpPr>
        <p:spPr>
          <a:xfrm>
            <a:off x="5120640" y="4279392"/>
            <a:ext cx="457200" cy="365760"/>
          </a:xfrm>
          <a:prstGeom prst="rect">
            <a:avLst/>
          </a:prstGeom>
          <a:noFill/>
          <a:ln/>
        </p:spPr>
        <p:txBody>
          <a:bodyPr wrap="square" lIns="0" tIns="0" rIns="0" bIns="0" rtlCol="0" anchor="ctr"/>
          <a:lstStyle/>
          <a:p>
            <a:pPr algn="r" indent="0" marL="0">
              <a:buNone/>
            </a:pPr>
            <a:r>
              <a:rPr lang="en-US" sz="1400" b="1" dirty="0">
                <a:solidFill>
                  <a:srgbClr val="E7E3DA"/>
                </a:solidFill>
                <a:latin typeface="Trebuchet MS" pitchFamily="34" charset="0"/>
                <a:ea typeface="Trebuchet MS" pitchFamily="34" charset="-122"/>
                <a:cs typeface="Trebuchet MS" pitchFamily="34" charset="-120"/>
              </a:rPr>
              <a:t>06</a:t>
            </a:r>
            <a:endParaRPr lang="en-US" sz="1400" dirty="0"/>
          </a:p>
        </p:txBody>
      </p:sp>
      <p:sp>
        <p:nvSpPr>
          <p:cNvPr id="22" name="Text 16"/>
          <p:cNvSpPr/>
          <p:nvPr/>
        </p:nvSpPr>
        <p:spPr>
          <a:xfrm>
            <a:off x="1527048" y="4315968"/>
            <a:ext cx="4005072" cy="457200"/>
          </a:xfrm>
          <a:prstGeom prst="rect">
            <a:avLst/>
          </a:prstGeom>
          <a:noFill/>
          <a:ln/>
        </p:spPr>
        <p:txBody>
          <a:bodyPr wrap="square" lIns="0" tIns="0" rIns="0" bIns="0" rtlCol="0" anchor="ctr"/>
          <a:lstStyle/>
          <a:p>
            <a:pPr indent="0" marL="0">
              <a:buNone/>
            </a:pPr>
            <a:r>
              <a:rPr lang="en-US" sz="1500" b="1" dirty="0">
                <a:solidFill>
                  <a:srgbClr val="0E0E0E"/>
                </a:solidFill>
                <a:latin typeface="Trebuchet MS" pitchFamily="34" charset="0"/>
                <a:ea typeface="Trebuchet MS" pitchFamily="34" charset="-122"/>
                <a:cs typeface="Trebuchet MS" pitchFamily="34" charset="-120"/>
              </a:rPr>
              <a:t>CRM Platforms</a:t>
            </a:r>
            <a:endParaRPr lang="en-US" sz="1500" dirty="0"/>
          </a:p>
        </p:txBody>
      </p:sp>
      <p:sp>
        <p:nvSpPr>
          <p:cNvPr id="23" name="Text 17"/>
          <p:cNvSpPr/>
          <p:nvPr/>
        </p:nvSpPr>
        <p:spPr>
          <a:xfrm>
            <a:off x="841248" y="4937760"/>
            <a:ext cx="4736592" cy="777240"/>
          </a:xfrm>
          <a:prstGeom prst="rect">
            <a:avLst/>
          </a:prstGeom>
          <a:noFill/>
          <a:ln/>
        </p:spPr>
        <p:txBody>
          <a:bodyPr wrap="square" lIns="0" tIns="0" rIns="0" bIns="0" rtlCol="0" anchor="ctr"/>
          <a:lstStyle/>
          <a:p>
            <a:pPr indent="0" marL="0">
              <a:lnSpc>
                <a:spcPct val="115000"/>
              </a:lnSpc>
              <a:buNone/>
            </a:pPr>
            <a:r>
              <a:rPr lang="en-US" sz="1150" dirty="0">
                <a:solidFill>
                  <a:srgbClr val="3A3A38"/>
                </a:solidFill>
                <a:latin typeface="Calibri" pitchFamily="34" charset="0"/>
                <a:ea typeface="Calibri" pitchFamily="34" charset="-122"/>
                <a:cs typeface="Calibri" pitchFamily="34" charset="-120"/>
              </a:rPr>
              <a:t>CRMs, booking flows, pipelines, automations, and follow-up tools. Leads should not disappear into WhatsApp, memory, or “I think someone replied.”</a:t>
            </a:r>
            <a:endParaRPr lang="en-US" sz="1150" dirty="0"/>
          </a:p>
        </p:txBody>
      </p:sp>
      <p:sp>
        <p:nvSpPr>
          <p:cNvPr id="24" name="Shape 18"/>
          <p:cNvSpPr/>
          <p:nvPr/>
        </p:nvSpPr>
        <p:spPr>
          <a:xfrm>
            <a:off x="6099048" y="4023360"/>
            <a:ext cx="5285232" cy="1783080"/>
          </a:xfrm>
          <a:prstGeom prst="roundRect">
            <a:avLst>
              <a:gd name="adj" fmla="val 4615"/>
            </a:avLst>
          </a:prstGeom>
          <a:solidFill>
            <a:srgbClr val="F7F5EF"/>
          </a:solidFill>
          <a:ln w="12700">
            <a:solidFill>
              <a:srgbClr val="E7E3DA"/>
            </a:solidFill>
            <a:prstDash val="solid"/>
          </a:ln>
          <a:effectLst>
            <a:outerShdw sx="100000" sy="100000" kx="0" ky="0" algn="bl" rotWithShape="0" blurRad="114300" dist="38100" dir="5400000">
              <a:srgbClr val="000000">
                <a:alpha val="10000"/>
              </a:srgbClr>
            </a:outerShdw>
          </a:effectLst>
        </p:spPr>
      </p:sp>
      <p:sp>
        <p:nvSpPr>
          <p:cNvPr id="25" name="Shape 19"/>
          <p:cNvSpPr/>
          <p:nvPr/>
        </p:nvSpPr>
        <p:spPr>
          <a:xfrm>
            <a:off x="6373368" y="4297680"/>
            <a:ext cx="548640" cy="548640"/>
          </a:xfrm>
          <a:prstGeom prst="ellipse">
            <a:avLst/>
          </a:prstGeom>
          <a:solidFill>
            <a:srgbClr val="46D12A"/>
          </a:solidFill>
          <a:ln/>
        </p:spPr>
      </p:sp>
      <p:pic>
        <p:nvPicPr>
          <p:cNvPr id="26" name="Image 4" descr="preencoded.png">    </p:cNvPr>
          <p:cNvPicPr>
            <a:picLocks noChangeAspect="1"/>
          </p:cNvPicPr>
          <p:nvPr/>
        </p:nvPicPr>
        <p:blipFill>
          <a:blip r:embed="rId5"/>
          <a:stretch>
            <a:fillRect/>
          </a:stretch>
        </p:blipFill>
        <p:spPr>
          <a:xfrm>
            <a:off x="6521501" y="4445813"/>
            <a:ext cx="252374" cy="252374"/>
          </a:xfrm>
          <a:prstGeom prst="rect">
            <a:avLst/>
          </a:prstGeom>
        </p:spPr>
      </p:pic>
      <p:sp>
        <p:nvSpPr>
          <p:cNvPr id="27" name="Text 20"/>
          <p:cNvSpPr/>
          <p:nvPr/>
        </p:nvSpPr>
        <p:spPr>
          <a:xfrm>
            <a:off x="10652760" y="4279392"/>
            <a:ext cx="457200" cy="365760"/>
          </a:xfrm>
          <a:prstGeom prst="rect">
            <a:avLst/>
          </a:prstGeom>
          <a:noFill/>
          <a:ln/>
        </p:spPr>
        <p:txBody>
          <a:bodyPr wrap="square" lIns="0" tIns="0" rIns="0" bIns="0" rtlCol="0" anchor="ctr"/>
          <a:lstStyle/>
          <a:p>
            <a:pPr algn="r" indent="0" marL="0">
              <a:buNone/>
            </a:pPr>
            <a:r>
              <a:rPr lang="en-US" sz="1400" b="1" dirty="0">
                <a:solidFill>
                  <a:srgbClr val="E7E3DA"/>
                </a:solidFill>
                <a:latin typeface="Trebuchet MS" pitchFamily="34" charset="0"/>
                <a:ea typeface="Trebuchet MS" pitchFamily="34" charset="-122"/>
                <a:cs typeface="Trebuchet MS" pitchFamily="34" charset="-120"/>
              </a:rPr>
              <a:t>07</a:t>
            </a:r>
            <a:endParaRPr lang="en-US" sz="1400" dirty="0"/>
          </a:p>
        </p:txBody>
      </p:sp>
      <p:sp>
        <p:nvSpPr>
          <p:cNvPr id="28" name="Text 21"/>
          <p:cNvSpPr/>
          <p:nvPr/>
        </p:nvSpPr>
        <p:spPr>
          <a:xfrm>
            <a:off x="7059168" y="4315968"/>
            <a:ext cx="4005072" cy="457200"/>
          </a:xfrm>
          <a:prstGeom prst="rect">
            <a:avLst/>
          </a:prstGeom>
          <a:noFill/>
          <a:ln/>
        </p:spPr>
        <p:txBody>
          <a:bodyPr wrap="square" lIns="0" tIns="0" rIns="0" bIns="0" rtlCol="0" anchor="ctr"/>
          <a:lstStyle/>
          <a:p>
            <a:pPr indent="0" marL="0">
              <a:buNone/>
            </a:pPr>
            <a:r>
              <a:rPr lang="en-US" sz="1500" b="1" dirty="0">
                <a:solidFill>
                  <a:srgbClr val="0E0E0E"/>
                </a:solidFill>
                <a:latin typeface="Trebuchet MS" pitchFamily="34" charset="0"/>
                <a:ea typeface="Trebuchet MS" pitchFamily="34" charset="-122"/>
                <a:cs typeface="Trebuchet MS" pitchFamily="34" charset="-120"/>
              </a:rPr>
              <a:t>Custom Systems</a:t>
            </a:r>
            <a:endParaRPr lang="en-US" sz="1500" dirty="0"/>
          </a:p>
        </p:txBody>
      </p:sp>
      <p:sp>
        <p:nvSpPr>
          <p:cNvPr id="29" name="Text 22"/>
          <p:cNvSpPr/>
          <p:nvPr/>
        </p:nvSpPr>
        <p:spPr>
          <a:xfrm>
            <a:off x="6373368" y="4937760"/>
            <a:ext cx="4736592" cy="777240"/>
          </a:xfrm>
          <a:prstGeom prst="rect">
            <a:avLst/>
          </a:prstGeom>
          <a:noFill/>
          <a:ln/>
        </p:spPr>
        <p:txBody>
          <a:bodyPr wrap="square" lIns="0" tIns="0" rIns="0" bIns="0" rtlCol="0" anchor="ctr"/>
          <a:lstStyle/>
          <a:p>
            <a:pPr indent="0" marL="0">
              <a:lnSpc>
                <a:spcPct val="115000"/>
              </a:lnSpc>
              <a:buNone/>
            </a:pPr>
            <a:r>
              <a:rPr lang="en-US" sz="1150" dirty="0">
                <a:solidFill>
                  <a:srgbClr val="3A3A38"/>
                </a:solidFill>
                <a:latin typeface="Calibri" pitchFamily="34" charset="0"/>
                <a:ea typeface="Calibri" pitchFamily="34" charset="-122"/>
                <a:cs typeface="Calibri" pitchFamily="34" charset="-120"/>
              </a:rPr>
              <a:t>A dashboard, a portal, an internal tool — a workflow that does not fit a template. We plan it, simplify it, and build the version that makes sense.</a:t>
            </a:r>
            <a:endParaRPr lang="en-US" sz="1150" dirty="0"/>
          </a:p>
        </p:txBody>
      </p:sp>
      <p:sp>
        <p:nvSpPr>
          <p:cNvPr id="30" name="Text 23"/>
          <p:cNvSpPr/>
          <p:nvPr/>
        </p:nvSpPr>
        <p:spPr>
          <a:xfrm>
            <a:off x="566928" y="5989320"/>
            <a:ext cx="10881360" cy="365760"/>
          </a:xfrm>
          <a:prstGeom prst="rect">
            <a:avLst/>
          </a:prstGeom>
          <a:noFill/>
          <a:ln/>
        </p:spPr>
        <p:txBody>
          <a:bodyPr wrap="square" lIns="0" tIns="0" rIns="0" bIns="0" rtlCol="0" anchor="ctr"/>
          <a:lstStyle/>
          <a:p>
            <a:pPr algn="ctr" indent="0" marL="0">
              <a:buNone/>
            </a:pPr>
            <a:r>
              <a:rPr lang="en-US" sz="1400" i="1" dirty="0">
                <a:solidFill>
                  <a:srgbClr val="3A3A38"/>
                </a:solidFill>
                <a:latin typeface="Trebuchet MS" pitchFamily="34" charset="0"/>
                <a:ea typeface="Trebuchet MS" pitchFamily="34" charset="-122"/>
                <a:cs typeface="Trebuchet MS" pitchFamily="34" charset="-120"/>
              </a:rPr>
              <a:t>Your CRM should not be </a:t>
            </a:r>
            <a:pPr algn="ctr" indent="0" marL="0">
              <a:buNone/>
            </a:pPr>
            <a:r>
              <a:rPr lang="en-US" sz="1400" b="1" i="1" dirty="0">
                <a:solidFill>
                  <a:srgbClr val="2E8E1B"/>
                </a:solidFill>
                <a:latin typeface="Trebuchet MS" pitchFamily="34" charset="0"/>
                <a:ea typeface="Trebuchet MS" pitchFamily="34" charset="-122"/>
                <a:cs typeface="Trebuchet MS" pitchFamily="34" charset="-120"/>
              </a:rPr>
              <a:t>a group chat with extra steps.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pic>
        <p:nvPicPr>
          <p:cNvPr id="2" name="Image 0" descr="/home/claude/logo_white.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5C5C56"/>
                </a:solidFill>
                <a:latin typeface="Trebuchet MS" pitchFamily="34" charset="0"/>
                <a:ea typeface="Trebuchet MS" pitchFamily="34" charset="-122"/>
                <a:cs typeface="Trebuchet MS" pitchFamily="34" charset="-120"/>
              </a:rPr>
              <a:t>09</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46D12A"/>
                </a:solidFill>
                <a:latin typeface="Trebuchet MS" pitchFamily="34" charset="0"/>
                <a:ea typeface="Trebuchet MS" pitchFamily="34" charset="-122"/>
                <a:cs typeface="Trebuchet MS" pitchFamily="34" charset="-120"/>
              </a:rPr>
              <a:t>HOW TO WORK WITH US</a:t>
            </a:r>
            <a:endParaRPr lang="en-US" sz="1100" dirty="0"/>
          </a:p>
        </p:txBody>
      </p:sp>
      <p:sp>
        <p:nvSpPr>
          <p:cNvPr id="5" name="Text 2"/>
          <p:cNvSpPr/>
          <p:nvPr/>
        </p:nvSpPr>
        <p:spPr>
          <a:xfrm>
            <a:off x="566928" y="859536"/>
            <a:ext cx="8229600" cy="11887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Trebuchet MS" pitchFamily="34" charset="0"/>
                <a:ea typeface="Trebuchet MS" pitchFamily="34" charset="-122"/>
                <a:cs typeface="Trebuchet MS" pitchFamily="34" charset="-120"/>
              </a:rPr>
              <a:t>Two ways in.</a:t>
            </a:r>
            <a:endParaRPr lang="en-US" sz="3000" dirty="0"/>
          </a:p>
        </p:txBody>
      </p:sp>
      <p:sp>
        <p:nvSpPr>
          <p:cNvPr id="6" name="Shape 3"/>
          <p:cNvSpPr/>
          <p:nvPr/>
        </p:nvSpPr>
        <p:spPr>
          <a:xfrm>
            <a:off x="566928" y="2011680"/>
            <a:ext cx="5285232" cy="4114800"/>
          </a:xfrm>
          <a:prstGeom prst="roundRect">
            <a:avLst>
              <a:gd name="adj" fmla="val 2000"/>
            </a:avLst>
          </a:prstGeom>
          <a:solidFill>
            <a:srgbClr val="141414"/>
          </a:solidFill>
          <a:ln w="12700">
            <a:solidFill>
              <a:srgbClr val="262626"/>
            </a:solidFill>
            <a:prstDash val="solid"/>
          </a:ln>
        </p:spPr>
      </p:sp>
      <p:sp>
        <p:nvSpPr>
          <p:cNvPr id="7" name="Shape 4"/>
          <p:cNvSpPr/>
          <p:nvPr/>
        </p:nvSpPr>
        <p:spPr>
          <a:xfrm>
            <a:off x="859536" y="2286000"/>
            <a:ext cx="566928" cy="566928"/>
          </a:xfrm>
          <a:prstGeom prst="ellipse">
            <a:avLst/>
          </a:prstGeom>
          <a:solidFill>
            <a:srgbClr val="46D12A"/>
          </a:solidFill>
          <a:ln/>
        </p:spPr>
      </p:sp>
      <p:sp>
        <p:nvSpPr>
          <p:cNvPr id="8" name="Text 5"/>
          <p:cNvSpPr/>
          <p:nvPr/>
        </p:nvSpPr>
        <p:spPr>
          <a:xfrm>
            <a:off x="859536" y="2286000"/>
            <a:ext cx="566928" cy="566928"/>
          </a:xfrm>
          <a:prstGeom prst="rect">
            <a:avLst/>
          </a:prstGeom>
          <a:noFill/>
          <a:ln/>
        </p:spPr>
        <p:txBody>
          <a:bodyPr wrap="square" lIns="0" tIns="0" rIns="0" bIns="0" rtlCol="0" anchor="ctr"/>
          <a:lstStyle/>
          <a:p>
            <a:pPr algn="ctr" indent="0" marL="0">
              <a:buNone/>
            </a:pPr>
            <a:r>
              <a:rPr lang="en-US" sz="2000" b="1" dirty="0">
                <a:solidFill>
                  <a:srgbClr val="0A0A0A"/>
                </a:solidFill>
                <a:latin typeface="Trebuchet MS" pitchFamily="34" charset="0"/>
                <a:ea typeface="Trebuchet MS" pitchFamily="34" charset="-122"/>
                <a:cs typeface="Trebuchet MS" pitchFamily="34" charset="-120"/>
              </a:rPr>
              <a:t>A</a:t>
            </a:r>
            <a:endParaRPr lang="en-US" sz="2000" dirty="0"/>
          </a:p>
        </p:txBody>
      </p:sp>
      <p:sp>
        <p:nvSpPr>
          <p:cNvPr id="9" name="Text 6"/>
          <p:cNvSpPr/>
          <p:nvPr/>
        </p:nvSpPr>
        <p:spPr>
          <a:xfrm>
            <a:off x="1572768" y="2304288"/>
            <a:ext cx="4005072" cy="54864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Full System Build</a:t>
            </a:r>
            <a:endParaRPr lang="en-US" sz="1700" dirty="0"/>
          </a:p>
        </p:txBody>
      </p:sp>
      <p:sp>
        <p:nvSpPr>
          <p:cNvPr id="10" name="Text 7"/>
          <p:cNvSpPr/>
          <p:nvPr/>
        </p:nvSpPr>
        <p:spPr>
          <a:xfrm>
            <a:off x="859536" y="3017520"/>
            <a:ext cx="4700016" cy="685800"/>
          </a:xfrm>
          <a:prstGeom prst="rect">
            <a:avLst/>
          </a:prstGeom>
          <a:noFill/>
          <a:ln/>
        </p:spPr>
        <p:txBody>
          <a:bodyPr wrap="square" lIns="0" tIns="0" rIns="0" bIns="0" rtlCol="0" anchor="ctr"/>
          <a:lstStyle/>
          <a:p>
            <a:pPr indent="0" marL="0">
              <a:lnSpc>
                <a:spcPct val="118000"/>
              </a:lnSpc>
              <a:buNone/>
            </a:pPr>
            <a:r>
              <a:rPr lang="en-US" sz="1250" dirty="0">
                <a:solidFill>
                  <a:srgbClr val="A8A8A2"/>
                </a:solidFill>
                <a:latin typeface="Calibri" pitchFamily="34" charset="0"/>
                <a:ea typeface="Calibri" pitchFamily="34" charset="-122"/>
                <a:cs typeface="Calibri" pitchFamily="34" charset="-120"/>
              </a:rPr>
              <a:t>For businesses that need more than a website. We plan, design, and build the full system behind the experience.</a:t>
            </a:r>
            <a:endParaRPr lang="en-US" sz="1250" dirty="0"/>
          </a:p>
        </p:txBody>
      </p:sp>
      <p:sp>
        <p:nvSpPr>
          <p:cNvPr id="11" name="Shape 8"/>
          <p:cNvSpPr/>
          <p:nvPr/>
        </p:nvSpPr>
        <p:spPr>
          <a:xfrm>
            <a:off x="877824" y="3877056"/>
            <a:ext cx="82296" cy="82296"/>
          </a:xfrm>
          <a:prstGeom prst="ellipse">
            <a:avLst/>
          </a:prstGeom>
          <a:solidFill>
            <a:srgbClr val="46D12A"/>
          </a:solidFill>
          <a:ln/>
        </p:spPr>
      </p:sp>
      <p:sp>
        <p:nvSpPr>
          <p:cNvPr id="12" name="Text 9"/>
          <p:cNvSpPr/>
          <p:nvPr/>
        </p:nvSpPr>
        <p:spPr>
          <a:xfrm>
            <a:off x="1115568" y="3794760"/>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Website &amp; app</a:t>
            </a:r>
            <a:endParaRPr lang="en-US" sz="1250" dirty="0"/>
          </a:p>
        </p:txBody>
      </p:sp>
      <p:sp>
        <p:nvSpPr>
          <p:cNvPr id="13" name="Shape 10"/>
          <p:cNvSpPr/>
          <p:nvPr/>
        </p:nvSpPr>
        <p:spPr>
          <a:xfrm>
            <a:off x="859536" y="4160520"/>
            <a:ext cx="4700016" cy="0"/>
          </a:xfrm>
          <a:prstGeom prst="line">
            <a:avLst/>
          </a:prstGeom>
          <a:noFill/>
          <a:ln w="12700">
            <a:solidFill>
              <a:srgbClr val="262626"/>
            </a:solidFill>
            <a:prstDash val="solid"/>
          </a:ln>
        </p:spPr>
      </p:sp>
      <p:sp>
        <p:nvSpPr>
          <p:cNvPr id="14" name="Shape 11"/>
          <p:cNvSpPr/>
          <p:nvPr/>
        </p:nvSpPr>
        <p:spPr>
          <a:xfrm>
            <a:off x="877824" y="4297680"/>
            <a:ext cx="82296" cy="82296"/>
          </a:xfrm>
          <a:prstGeom prst="ellipse">
            <a:avLst/>
          </a:prstGeom>
          <a:solidFill>
            <a:srgbClr val="46D12A"/>
          </a:solidFill>
          <a:ln/>
        </p:spPr>
      </p:sp>
      <p:sp>
        <p:nvSpPr>
          <p:cNvPr id="15" name="Text 12"/>
          <p:cNvSpPr/>
          <p:nvPr/>
        </p:nvSpPr>
        <p:spPr>
          <a:xfrm>
            <a:off x="1115568" y="4215384"/>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CRM &amp; booking system</a:t>
            </a:r>
            <a:endParaRPr lang="en-US" sz="1250" dirty="0"/>
          </a:p>
        </p:txBody>
      </p:sp>
      <p:sp>
        <p:nvSpPr>
          <p:cNvPr id="16" name="Shape 13"/>
          <p:cNvSpPr/>
          <p:nvPr/>
        </p:nvSpPr>
        <p:spPr>
          <a:xfrm>
            <a:off x="859536" y="4581144"/>
            <a:ext cx="4700016" cy="0"/>
          </a:xfrm>
          <a:prstGeom prst="line">
            <a:avLst/>
          </a:prstGeom>
          <a:noFill/>
          <a:ln w="12700">
            <a:solidFill>
              <a:srgbClr val="262626"/>
            </a:solidFill>
            <a:prstDash val="solid"/>
          </a:ln>
        </p:spPr>
      </p:sp>
      <p:sp>
        <p:nvSpPr>
          <p:cNvPr id="17" name="Shape 14"/>
          <p:cNvSpPr/>
          <p:nvPr/>
        </p:nvSpPr>
        <p:spPr>
          <a:xfrm>
            <a:off x="877824" y="4718304"/>
            <a:ext cx="82296" cy="82296"/>
          </a:xfrm>
          <a:prstGeom prst="ellipse">
            <a:avLst/>
          </a:prstGeom>
          <a:solidFill>
            <a:srgbClr val="46D12A"/>
          </a:solidFill>
          <a:ln/>
        </p:spPr>
      </p:sp>
      <p:sp>
        <p:nvSpPr>
          <p:cNvPr id="18" name="Text 15"/>
          <p:cNvSpPr/>
          <p:nvPr/>
        </p:nvSpPr>
        <p:spPr>
          <a:xfrm>
            <a:off x="1115568" y="4636008"/>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Dashboard &amp; admin panel</a:t>
            </a:r>
            <a:endParaRPr lang="en-US" sz="1250" dirty="0"/>
          </a:p>
        </p:txBody>
      </p:sp>
      <p:sp>
        <p:nvSpPr>
          <p:cNvPr id="19" name="Shape 16"/>
          <p:cNvSpPr/>
          <p:nvPr/>
        </p:nvSpPr>
        <p:spPr>
          <a:xfrm>
            <a:off x="859536" y="5001768"/>
            <a:ext cx="4700016" cy="0"/>
          </a:xfrm>
          <a:prstGeom prst="line">
            <a:avLst/>
          </a:prstGeom>
          <a:noFill/>
          <a:ln w="12700">
            <a:solidFill>
              <a:srgbClr val="262626"/>
            </a:solidFill>
            <a:prstDash val="solid"/>
          </a:ln>
        </p:spPr>
      </p:sp>
      <p:sp>
        <p:nvSpPr>
          <p:cNvPr id="20" name="Shape 17"/>
          <p:cNvSpPr/>
          <p:nvPr/>
        </p:nvSpPr>
        <p:spPr>
          <a:xfrm>
            <a:off x="877824" y="5138928"/>
            <a:ext cx="82296" cy="82296"/>
          </a:xfrm>
          <a:prstGeom prst="ellipse">
            <a:avLst/>
          </a:prstGeom>
          <a:solidFill>
            <a:srgbClr val="46D12A"/>
          </a:solidFill>
          <a:ln/>
        </p:spPr>
      </p:sp>
      <p:sp>
        <p:nvSpPr>
          <p:cNvPr id="21" name="Text 18"/>
          <p:cNvSpPr/>
          <p:nvPr/>
        </p:nvSpPr>
        <p:spPr>
          <a:xfrm>
            <a:off x="1115568" y="5056632"/>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Automation &amp; e-commerce</a:t>
            </a:r>
            <a:endParaRPr lang="en-US" sz="1250" dirty="0"/>
          </a:p>
        </p:txBody>
      </p:sp>
      <p:sp>
        <p:nvSpPr>
          <p:cNvPr id="22" name="Shape 19"/>
          <p:cNvSpPr/>
          <p:nvPr/>
        </p:nvSpPr>
        <p:spPr>
          <a:xfrm>
            <a:off x="859536" y="5422392"/>
            <a:ext cx="4700016" cy="0"/>
          </a:xfrm>
          <a:prstGeom prst="line">
            <a:avLst/>
          </a:prstGeom>
          <a:noFill/>
          <a:ln w="12700">
            <a:solidFill>
              <a:srgbClr val="262626"/>
            </a:solidFill>
            <a:prstDash val="solid"/>
          </a:ln>
        </p:spPr>
      </p:sp>
      <p:sp>
        <p:nvSpPr>
          <p:cNvPr id="23" name="Shape 20"/>
          <p:cNvSpPr/>
          <p:nvPr/>
        </p:nvSpPr>
        <p:spPr>
          <a:xfrm>
            <a:off x="877824" y="5559552"/>
            <a:ext cx="82296" cy="82296"/>
          </a:xfrm>
          <a:prstGeom prst="ellipse">
            <a:avLst/>
          </a:prstGeom>
          <a:solidFill>
            <a:srgbClr val="46D12A"/>
          </a:solidFill>
          <a:ln/>
        </p:spPr>
      </p:sp>
      <p:sp>
        <p:nvSpPr>
          <p:cNvPr id="24" name="Text 21"/>
          <p:cNvSpPr/>
          <p:nvPr/>
        </p:nvSpPr>
        <p:spPr>
          <a:xfrm>
            <a:off x="1115568" y="5477256"/>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User accounts &amp; custom workflows</a:t>
            </a:r>
            <a:endParaRPr lang="en-US" sz="1250" dirty="0"/>
          </a:p>
        </p:txBody>
      </p:sp>
      <p:sp>
        <p:nvSpPr>
          <p:cNvPr id="25" name="Shape 22"/>
          <p:cNvSpPr/>
          <p:nvPr/>
        </p:nvSpPr>
        <p:spPr>
          <a:xfrm>
            <a:off x="859536" y="5843016"/>
            <a:ext cx="4700016" cy="0"/>
          </a:xfrm>
          <a:prstGeom prst="line">
            <a:avLst/>
          </a:prstGeom>
          <a:noFill/>
          <a:ln w="12700">
            <a:solidFill>
              <a:srgbClr val="262626"/>
            </a:solidFill>
            <a:prstDash val="solid"/>
          </a:ln>
        </p:spPr>
      </p:sp>
      <p:sp>
        <p:nvSpPr>
          <p:cNvPr id="26" name="Shape 23"/>
          <p:cNvSpPr/>
          <p:nvPr/>
        </p:nvSpPr>
        <p:spPr>
          <a:xfrm>
            <a:off x="6099048" y="2011680"/>
            <a:ext cx="5285232" cy="4114800"/>
          </a:xfrm>
          <a:prstGeom prst="roundRect">
            <a:avLst>
              <a:gd name="adj" fmla="val 2000"/>
            </a:avLst>
          </a:prstGeom>
          <a:solidFill>
            <a:srgbClr val="141414"/>
          </a:solidFill>
          <a:ln w="12700">
            <a:solidFill>
              <a:srgbClr val="262626"/>
            </a:solidFill>
            <a:prstDash val="solid"/>
          </a:ln>
        </p:spPr>
      </p:sp>
      <p:sp>
        <p:nvSpPr>
          <p:cNvPr id="27" name="Shape 24"/>
          <p:cNvSpPr/>
          <p:nvPr/>
        </p:nvSpPr>
        <p:spPr>
          <a:xfrm>
            <a:off x="6391656" y="2286000"/>
            <a:ext cx="566928" cy="566928"/>
          </a:xfrm>
          <a:prstGeom prst="ellipse">
            <a:avLst/>
          </a:prstGeom>
          <a:solidFill>
            <a:srgbClr val="46D12A"/>
          </a:solidFill>
          <a:ln/>
        </p:spPr>
      </p:sp>
      <p:sp>
        <p:nvSpPr>
          <p:cNvPr id="28" name="Text 25"/>
          <p:cNvSpPr/>
          <p:nvPr/>
        </p:nvSpPr>
        <p:spPr>
          <a:xfrm>
            <a:off x="6391656" y="2286000"/>
            <a:ext cx="566928" cy="566928"/>
          </a:xfrm>
          <a:prstGeom prst="rect">
            <a:avLst/>
          </a:prstGeom>
          <a:noFill/>
          <a:ln/>
        </p:spPr>
        <p:txBody>
          <a:bodyPr wrap="square" lIns="0" tIns="0" rIns="0" bIns="0" rtlCol="0" anchor="ctr"/>
          <a:lstStyle/>
          <a:p>
            <a:pPr algn="ctr" indent="0" marL="0">
              <a:buNone/>
            </a:pPr>
            <a:r>
              <a:rPr lang="en-US" sz="2000" b="1" dirty="0">
                <a:solidFill>
                  <a:srgbClr val="0A0A0A"/>
                </a:solidFill>
                <a:latin typeface="Trebuchet MS" pitchFamily="34" charset="0"/>
                <a:ea typeface="Trebuchet MS" pitchFamily="34" charset="-122"/>
                <a:cs typeface="Trebuchet MS" pitchFamily="34" charset="-120"/>
              </a:rPr>
              <a:t>B</a:t>
            </a:r>
            <a:endParaRPr lang="en-US" sz="2000" dirty="0"/>
          </a:p>
        </p:txBody>
      </p:sp>
      <p:sp>
        <p:nvSpPr>
          <p:cNvPr id="29" name="Text 26"/>
          <p:cNvSpPr/>
          <p:nvPr/>
        </p:nvSpPr>
        <p:spPr>
          <a:xfrm>
            <a:off x="7104888" y="2304288"/>
            <a:ext cx="4005072" cy="54864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Hit &amp; Go Website</a:t>
            </a:r>
            <a:endParaRPr lang="en-US" sz="1700" dirty="0"/>
          </a:p>
        </p:txBody>
      </p:sp>
      <p:sp>
        <p:nvSpPr>
          <p:cNvPr id="30" name="Text 27"/>
          <p:cNvSpPr/>
          <p:nvPr/>
        </p:nvSpPr>
        <p:spPr>
          <a:xfrm>
            <a:off x="6391656" y="3017520"/>
            <a:ext cx="4700016" cy="685800"/>
          </a:xfrm>
          <a:prstGeom prst="rect">
            <a:avLst/>
          </a:prstGeom>
          <a:noFill/>
          <a:ln/>
        </p:spPr>
        <p:txBody>
          <a:bodyPr wrap="square" lIns="0" tIns="0" rIns="0" bIns="0" rtlCol="0" anchor="ctr"/>
          <a:lstStyle/>
          <a:p>
            <a:pPr indent="0" marL="0">
              <a:lnSpc>
                <a:spcPct val="118000"/>
              </a:lnSpc>
              <a:buNone/>
            </a:pPr>
            <a:r>
              <a:rPr lang="en-US" sz="1250" dirty="0">
                <a:solidFill>
                  <a:srgbClr val="A8A8A2"/>
                </a:solidFill>
                <a:latin typeface="Calibri" pitchFamily="34" charset="0"/>
                <a:ea typeface="Calibri" pitchFamily="34" charset="-122"/>
                <a:cs typeface="Calibri" pitchFamily="34" charset="-120"/>
              </a:rPr>
              <a:t>For businesses that need to show up clearly, look credible, and launch without a long emotional journey.</a:t>
            </a:r>
            <a:endParaRPr lang="en-US" sz="1250" dirty="0"/>
          </a:p>
        </p:txBody>
      </p:sp>
      <p:sp>
        <p:nvSpPr>
          <p:cNvPr id="31" name="Shape 28"/>
          <p:cNvSpPr/>
          <p:nvPr/>
        </p:nvSpPr>
        <p:spPr>
          <a:xfrm>
            <a:off x="6409944" y="3877056"/>
            <a:ext cx="82296" cy="82296"/>
          </a:xfrm>
          <a:prstGeom prst="ellipse">
            <a:avLst/>
          </a:prstGeom>
          <a:solidFill>
            <a:srgbClr val="46D12A"/>
          </a:solidFill>
          <a:ln/>
        </p:spPr>
      </p:sp>
      <p:sp>
        <p:nvSpPr>
          <p:cNvPr id="32" name="Text 29"/>
          <p:cNvSpPr/>
          <p:nvPr/>
        </p:nvSpPr>
        <p:spPr>
          <a:xfrm>
            <a:off x="6647688" y="3794760"/>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Landing &amp; campaign pages</a:t>
            </a:r>
            <a:endParaRPr lang="en-US" sz="1250" dirty="0"/>
          </a:p>
        </p:txBody>
      </p:sp>
      <p:sp>
        <p:nvSpPr>
          <p:cNvPr id="33" name="Shape 30"/>
          <p:cNvSpPr/>
          <p:nvPr/>
        </p:nvSpPr>
        <p:spPr>
          <a:xfrm>
            <a:off x="6391656" y="4160520"/>
            <a:ext cx="4700016" cy="0"/>
          </a:xfrm>
          <a:prstGeom prst="line">
            <a:avLst/>
          </a:prstGeom>
          <a:noFill/>
          <a:ln w="12700">
            <a:solidFill>
              <a:srgbClr val="262626"/>
            </a:solidFill>
            <a:prstDash val="solid"/>
          </a:ln>
        </p:spPr>
      </p:sp>
      <p:sp>
        <p:nvSpPr>
          <p:cNvPr id="34" name="Shape 31"/>
          <p:cNvSpPr/>
          <p:nvPr/>
        </p:nvSpPr>
        <p:spPr>
          <a:xfrm>
            <a:off x="6409944" y="4297680"/>
            <a:ext cx="82296" cy="82296"/>
          </a:xfrm>
          <a:prstGeom prst="ellipse">
            <a:avLst/>
          </a:prstGeom>
          <a:solidFill>
            <a:srgbClr val="46D12A"/>
          </a:solidFill>
          <a:ln/>
        </p:spPr>
      </p:sp>
      <p:sp>
        <p:nvSpPr>
          <p:cNvPr id="35" name="Text 32"/>
          <p:cNvSpPr/>
          <p:nvPr/>
        </p:nvSpPr>
        <p:spPr>
          <a:xfrm>
            <a:off x="6647688" y="4215384"/>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Company &amp; service websites</a:t>
            </a:r>
            <a:endParaRPr lang="en-US" sz="1250" dirty="0"/>
          </a:p>
        </p:txBody>
      </p:sp>
      <p:sp>
        <p:nvSpPr>
          <p:cNvPr id="36" name="Shape 33"/>
          <p:cNvSpPr/>
          <p:nvPr/>
        </p:nvSpPr>
        <p:spPr>
          <a:xfrm>
            <a:off x="6391656" y="4581144"/>
            <a:ext cx="4700016" cy="0"/>
          </a:xfrm>
          <a:prstGeom prst="line">
            <a:avLst/>
          </a:prstGeom>
          <a:noFill/>
          <a:ln w="12700">
            <a:solidFill>
              <a:srgbClr val="262626"/>
            </a:solidFill>
            <a:prstDash val="solid"/>
          </a:ln>
        </p:spPr>
      </p:sp>
      <p:sp>
        <p:nvSpPr>
          <p:cNvPr id="37" name="Shape 34"/>
          <p:cNvSpPr/>
          <p:nvPr/>
        </p:nvSpPr>
        <p:spPr>
          <a:xfrm>
            <a:off x="6409944" y="4718304"/>
            <a:ext cx="82296" cy="82296"/>
          </a:xfrm>
          <a:prstGeom prst="ellipse">
            <a:avLst/>
          </a:prstGeom>
          <a:solidFill>
            <a:srgbClr val="46D12A"/>
          </a:solidFill>
          <a:ln/>
        </p:spPr>
      </p:sp>
      <p:sp>
        <p:nvSpPr>
          <p:cNvPr id="38" name="Text 35"/>
          <p:cNvSpPr/>
          <p:nvPr/>
        </p:nvSpPr>
        <p:spPr>
          <a:xfrm>
            <a:off x="6647688" y="4636008"/>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Portfolio &amp; personal brand</a:t>
            </a:r>
            <a:endParaRPr lang="en-US" sz="1250" dirty="0"/>
          </a:p>
        </p:txBody>
      </p:sp>
      <p:sp>
        <p:nvSpPr>
          <p:cNvPr id="39" name="Shape 36"/>
          <p:cNvSpPr/>
          <p:nvPr/>
        </p:nvSpPr>
        <p:spPr>
          <a:xfrm>
            <a:off x="6391656" y="5001768"/>
            <a:ext cx="4700016" cy="0"/>
          </a:xfrm>
          <a:prstGeom prst="line">
            <a:avLst/>
          </a:prstGeom>
          <a:noFill/>
          <a:ln w="12700">
            <a:solidFill>
              <a:srgbClr val="262626"/>
            </a:solidFill>
            <a:prstDash val="solid"/>
          </a:ln>
        </p:spPr>
      </p:sp>
      <p:sp>
        <p:nvSpPr>
          <p:cNvPr id="40" name="Shape 37"/>
          <p:cNvSpPr/>
          <p:nvPr/>
        </p:nvSpPr>
        <p:spPr>
          <a:xfrm>
            <a:off x="6409944" y="5138928"/>
            <a:ext cx="82296" cy="82296"/>
          </a:xfrm>
          <a:prstGeom prst="ellipse">
            <a:avLst/>
          </a:prstGeom>
          <a:solidFill>
            <a:srgbClr val="46D12A"/>
          </a:solidFill>
          <a:ln/>
        </p:spPr>
      </p:sp>
      <p:sp>
        <p:nvSpPr>
          <p:cNvPr id="41" name="Text 38"/>
          <p:cNvSpPr/>
          <p:nvPr/>
        </p:nvSpPr>
        <p:spPr>
          <a:xfrm>
            <a:off x="6647688" y="5056632"/>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Clinic websites</a:t>
            </a:r>
            <a:endParaRPr lang="en-US" sz="1250" dirty="0"/>
          </a:p>
        </p:txBody>
      </p:sp>
      <p:sp>
        <p:nvSpPr>
          <p:cNvPr id="42" name="Shape 39"/>
          <p:cNvSpPr/>
          <p:nvPr/>
        </p:nvSpPr>
        <p:spPr>
          <a:xfrm>
            <a:off x="6391656" y="5422392"/>
            <a:ext cx="4700016" cy="0"/>
          </a:xfrm>
          <a:prstGeom prst="line">
            <a:avLst/>
          </a:prstGeom>
          <a:noFill/>
          <a:ln w="12700">
            <a:solidFill>
              <a:srgbClr val="262626"/>
            </a:solidFill>
            <a:prstDash val="solid"/>
          </a:ln>
        </p:spPr>
      </p:sp>
      <p:sp>
        <p:nvSpPr>
          <p:cNvPr id="43" name="Shape 40"/>
          <p:cNvSpPr/>
          <p:nvPr/>
        </p:nvSpPr>
        <p:spPr>
          <a:xfrm>
            <a:off x="6409944" y="5559552"/>
            <a:ext cx="82296" cy="82296"/>
          </a:xfrm>
          <a:prstGeom prst="ellipse">
            <a:avLst/>
          </a:prstGeom>
          <a:solidFill>
            <a:srgbClr val="46D12A"/>
          </a:solidFill>
          <a:ln/>
        </p:spPr>
      </p:sp>
      <p:sp>
        <p:nvSpPr>
          <p:cNvPr id="44" name="Text 41"/>
          <p:cNvSpPr/>
          <p:nvPr/>
        </p:nvSpPr>
        <p:spPr>
          <a:xfrm>
            <a:off x="6647688" y="5477256"/>
            <a:ext cx="4462272" cy="292608"/>
          </a:xfrm>
          <a:prstGeom prst="rect">
            <a:avLst/>
          </a:prstGeom>
          <a:noFill/>
          <a:ln/>
        </p:spPr>
        <p:txBody>
          <a:bodyPr wrap="square" lIns="0" tIns="0" rIns="0" bIns="0" rtlCol="0" anchor="ctr"/>
          <a:lstStyle/>
          <a:p>
            <a:pPr indent="0" marL="0">
              <a:buNone/>
            </a:pPr>
            <a:r>
              <a:rPr lang="en-US" sz="1250" dirty="0">
                <a:solidFill>
                  <a:srgbClr val="C8C8C2"/>
                </a:solidFill>
                <a:latin typeface="Calibri" pitchFamily="34" charset="0"/>
                <a:ea typeface="Calibri" pitchFamily="34" charset="-122"/>
                <a:cs typeface="Calibri" pitchFamily="34" charset="-120"/>
              </a:rPr>
              <a:t>Restaurant &amp; cafe websites</a:t>
            </a:r>
            <a:endParaRPr lang="en-US" sz="1250" dirty="0"/>
          </a:p>
        </p:txBody>
      </p:sp>
      <p:sp>
        <p:nvSpPr>
          <p:cNvPr id="45" name="Shape 42"/>
          <p:cNvSpPr/>
          <p:nvPr/>
        </p:nvSpPr>
        <p:spPr>
          <a:xfrm>
            <a:off x="6391656" y="5843016"/>
            <a:ext cx="4700016" cy="0"/>
          </a:xfrm>
          <a:prstGeom prst="line">
            <a:avLst/>
          </a:prstGeom>
          <a:noFill/>
          <a:ln w="12700">
            <a:solidFill>
              <a:srgbClr val="262626"/>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10</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OUR PROCESS</a:t>
            </a:r>
            <a:endParaRPr lang="en-US" sz="1100" dirty="0"/>
          </a:p>
        </p:txBody>
      </p:sp>
      <p:sp>
        <p:nvSpPr>
          <p:cNvPr id="5" name="Text 2"/>
          <p:cNvSpPr/>
          <p:nvPr/>
        </p:nvSpPr>
        <p:spPr>
          <a:xfrm>
            <a:off x="566928" y="859536"/>
            <a:ext cx="8229600" cy="1188720"/>
          </a:xfrm>
          <a:prstGeom prst="rect">
            <a:avLst/>
          </a:prstGeom>
          <a:noFill/>
          <a:ln/>
        </p:spPr>
        <p:txBody>
          <a:bodyPr wrap="square" lIns="0" tIns="0" rIns="0" bIns="0" rtlCol="0" anchor="t"/>
          <a:lstStyle/>
          <a:p>
            <a:pPr indent="0" marL="0">
              <a:lnSpc>
                <a:spcPct val="98000"/>
              </a:lnSpc>
              <a:buNone/>
            </a:pPr>
            <a:r>
              <a:rPr lang="en-US" sz="3000" b="1" dirty="0">
                <a:solidFill>
                  <a:srgbClr val="0E0E0E"/>
                </a:solidFill>
                <a:latin typeface="Trebuchet MS" pitchFamily="34" charset="0"/>
                <a:ea typeface="Trebuchet MS" pitchFamily="34" charset="-122"/>
                <a:cs typeface="Trebuchet MS" pitchFamily="34" charset="-120"/>
              </a:rPr>
              <a:t>How nox Studio works.</a:t>
            </a:r>
            <a:endParaRPr lang="en-US" sz="3000" dirty="0"/>
          </a:p>
        </p:txBody>
      </p:sp>
      <p:sp>
        <p:nvSpPr>
          <p:cNvPr id="6" name="Shape 3"/>
          <p:cNvSpPr/>
          <p:nvPr/>
        </p:nvSpPr>
        <p:spPr>
          <a:xfrm>
            <a:off x="566928" y="2377440"/>
            <a:ext cx="731520" cy="731520"/>
          </a:xfrm>
          <a:prstGeom prst="ellipse">
            <a:avLst/>
          </a:prstGeom>
          <a:solidFill>
            <a:srgbClr val="46D12A"/>
          </a:solidFill>
          <a:ln/>
        </p:spPr>
      </p:sp>
      <p:sp>
        <p:nvSpPr>
          <p:cNvPr id="7" name="Text 4"/>
          <p:cNvSpPr/>
          <p:nvPr/>
        </p:nvSpPr>
        <p:spPr>
          <a:xfrm>
            <a:off x="566928" y="2377440"/>
            <a:ext cx="731520" cy="731520"/>
          </a:xfrm>
          <a:prstGeom prst="rect">
            <a:avLst/>
          </a:prstGeom>
          <a:noFill/>
          <a:ln/>
        </p:spPr>
        <p:txBody>
          <a:bodyPr wrap="square" lIns="0" tIns="0" rIns="0" bIns="0" rtlCol="0" anchor="ctr"/>
          <a:lstStyle/>
          <a:p>
            <a:pPr algn="ctr" indent="0" marL="0">
              <a:buNone/>
            </a:pPr>
            <a:r>
              <a:rPr lang="en-US" sz="2600" b="1" dirty="0">
                <a:solidFill>
                  <a:srgbClr val="0A0A0A"/>
                </a:solidFill>
                <a:latin typeface="Trebuchet MS" pitchFamily="34" charset="0"/>
                <a:ea typeface="Trebuchet MS" pitchFamily="34" charset="-122"/>
                <a:cs typeface="Trebuchet MS" pitchFamily="34" charset="-120"/>
              </a:rPr>
              <a:t>1</a:t>
            </a:r>
            <a:endParaRPr lang="en-US" sz="2600" dirty="0"/>
          </a:p>
        </p:txBody>
      </p:sp>
      <p:pic>
        <p:nvPicPr>
          <p:cNvPr id="8" name="Image 1" descr="preencoded.png">    </p:cNvPr>
          <p:cNvPicPr>
            <a:picLocks noChangeAspect="1"/>
          </p:cNvPicPr>
          <p:nvPr/>
        </p:nvPicPr>
        <p:blipFill>
          <a:blip r:embed="rId2"/>
          <a:stretch>
            <a:fillRect/>
          </a:stretch>
        </p:blipFill>
        <p:spPr>
          <a:xfrm>
            <a:off x="2359152" y="2633472"/>
            <a:ext cx="219456" cy="219456"/>
          </a:xfrm>
          <a:prstGeom prst="rect">
            <a:avLst/>
          </a:prstGeom>
        </p:spPr>
      </p:pic>
      <p:sp>
        <p:nvSpPr>
          <p:cNvPr id="9" name="Text 5"/>
          <p:cNvSpPr/>
          <p:nvPr/>
        </p:nvSpPr>
        <p:spPr>
          <a:xfrm>
            <a:off x="566928" y="3291840"/>
            <a:ext cx="1993392" cy="502920"/>
          </a:xfrm>
          <a:prstGeom prst="rect">
            <a:avLst/>
          </a:prstGeom>
          <a:noFill/>
          <a:ln/>
        </p:spPr>
        <p:txBody>
          <a:bodyPr wrap="square" lIns="0" tIns="0" rIns="0" bIns="0" rtlCol="0" anchor="ctr"/>
          <a:lstStyle/>
          <a:p>
            <a:pPr indent="0" marL="0">
              <a:lnSpc>
                <a:spcPct val="98000"/>
              </a:lnSpc>
              <a:buNone/>
            </a:pPr>
            <a:r>
              <a:rPr lang="en-US" sz="1450" b="1" dirty="0">
                <a:solidFill>
                  <a:srgbClr val="0E0E0E"/>
                </a:solidFill>
                <a:latin typeface="Trebuchet MS" pitchFamily="34" charset="0"/>
                <a:ea typeface="Trebuchet MS" pitchFamily="34" charset="-122"/>
                <a:cs typeface="Trebuchet MS" pitchFamily="34" charset="-120"/>
              </a:rPr>
              <a:t>We listen</a:t>
            </a:r>
            <a:endParaRPr lang="en-US" sz="1450" dirty="0"/>
          </a:p>
        </p:txBody>
      </p:sp>
      <p:sp>
        <p:nvSpPr>
          <p:cNvPr id="10" name="Text 6"/>
          <p:cNvSpPr/>
          <p:nvPr/>
        </p:nvSpPr>
        <p:spPr>
          <a:xfrm>
            <a:off x="566928" y="3840480"/>
            <a:ext cx="1947672" cy="1463040"/>
          </a:xfrm>
          <a:prstGeom prst="rect">
            <a:avLst/>
          </a:prstGeom>
          <a:noFill/>
          <a:ln/>
        </p:spPr>
        <p:txBody>
          <a:bodyPr wrap="square" lIns="0" tIns="0" rIns="0" bIns="0" rtlCol="0" anchor="ctr"/>
          <a:lstStyle/>
          <a:p>
            <a:pPr indent="0" marL="0">
              <a:lnSpc>
                <a:spcPct val="118000"/>
              </a:lnSpc>
              <a:buNone/>
            </a:pPr>
            <a:r>
              <a:rPr lang="en-US" sz="1150" dirty="0">
                <a:solidFill>
                  <a:srgbClr val="3A3A38"/>
                </a:solidFill>
                <a:latin typeface="Calibri" pitchFamily="34" charset="0"/>
                <a:ea typeface="Calibri" pitchFamily="34" charset="-122"/>
                <a:cs typeface="Calibri" pitchFamily="34" charset="-120"/>
              </a:rPr>
              <a:t>We start by understanding the business, the users, the problem, and the current situation.</a:t>
            </a:r>
            <a:endParaRPr lang="en-US" sz="1150" dirty="0"/>
          </a:p>
        </p:txBody>
      </p:sp>
      <p:sp>
        <p:nvSpPr>
          <p:cNvPr id="11" name="Shape 7"/>
          <p:cNvSpPr/>
          <p:nvPr/>
        </p:nvSpPr>
        <p:spPr>
          <a:xfrm>
            <a:off x="2816352" y="2377440"/>
            <a:ext cx="731520" cy="731520"/>
          </a:xfrm>
          <a:prstGeom prst="ellipse">
            <a:avLst/>
          </a:prstGeom>
          <a:solidFill>
            <a:srgbClr val="0A0A0A"/>
          </a:solidFill>
          <a:ln/>
        </p:spPr>
      </p:sp>
      <p:sp>
        <p:nvSpPr>
          <p:cNvPr id="12" name="Text 8"/>
          <p:cNvSpPr/>
          <p:nvPr/>
        </p:nvSpPr>
        <p:spPr>
          <a:xfrm>
            <a:off x="2816352" y="2377440"/>
            <a:ext cx="731520" cy="731520"/>
          </a:xfrm>
          <a:prstGeom prst="rect">
            <a:avLst/>
          </a:prstGeom>
          <a:noFill/>
          <a:ln/>
        </p:spPr>
        <p:txBody>
          <a:bodyPr wrap="square" lIns="0" tIns="0" rIns="0" bIns="0" rtlCol="0" anchor="ctr"/>
          <a:lstStyle/>
          <a:p>
            <a:pPr algn="ctr" indent="0" marL="0">
              <a:buNone/>
            </a:pPr>
            <a:r>
              <a:rPr lang="en-US" sz="2600" b="1" dirty="0">
                <a:solidFill>
                  <a:srgbClr val="46D12A"/>
                </a:solidFill>
                <a:latin typeface="Trebuchet MS" pitchFamily="34" charset="0"/>
                <a:ea typeface="Trebuchet MS" pitchFamily="34" charset="-122"/>
                <a:cs typeface="Trebuchet MS" pitchFamily="34" charset="-120"/>
              </a:rPr>
              <a:t>2</a:t>
            </a:r>
            <a:endParaRPr lang="en-US" sz="2600" dirty="0"/>
          </a:p>
        </p:txBody>
      </p:sp>
      <p:pic>
        <p:nvPicPr>
          <p:cNvPr id="13" name="Image 2" descr="preencoded.png">    </p:cNvPr>
          <p:cNvPicPr>
            <a:picLocks noChangeAspect="1"/>
          </p:cNvPicPr>
          <p:nvPr/>
        </p:nvPicPr>
        <p:blipFill>
          <a:blip r:embed="rId3"/>
          <a:stretch>
            <a:fillRect/>
          </a:stretch>
        </p:blipFill>
        <p:spPr>
          <a:xfrm>
            <a:off x="4608576" y="2633472"/>
            <a:ext cx="219456" cy="219456"/>
          </a:xfrm>
          <a:prstGeom prst="rect">
            <a:avLst/>
          </a:prstGeom>
        </p:spPr>
      </p:pic>
      <p:sp>
        <p:nvSpPr>
          <p:cNvPr id="14" name="Text 9"/>
          <p:cNvSpPr/>
          <p:nvPr/>
        </p:nvSpPr>
        <p:spPr>
          <a:xfrm>
            <a:off x="2816352" y="3291840"/>
            <a:ext cx="1993392" cy="502920"/>
          </a:xfrm>
          <a:prstGeom prst="rect">
            <a:avLst/>
          </a:prstGeom>
          <a:noFill/>
          <a:ln/>
        </p:spPr>
        <p:txBody>
          <a:bodyPr wrap="square" lIns="0" tIns="0" rIns="0" bIns="0" rtlCol="0" anchor="ctr"/>
          <a:lstStyle/>
          <a:p>
            <a:pPr indent="0" marL="0">
              <a:lnSpc>
                <a:spcPct val="98000"/>
              </a:lnSpc>
              <a:buNone/>
            </a:pPr>
            <a:r>
              <a:rPr lang="en-US" sz="1450" b="1" dirty="0">
                <a:solidFill>
                  <a:srgbClr val="0E0E0E"/>
                </a:solidFill>
                <a:latin typeface="Trebuchet MS" pitchFamily="34" charset="0"/>
                <a:ea typeface="Trebuchet MS" pitchFamily="34" charset="-122"/>
                <a:cs typeface="Trebuchet MS" pitchFamily="34" charset="-120"/>
              </a:rPr>
              <a:t>We simplify</a:t>
            </a:r>
            <a:endParaRPr lang="en-US" sz="1450" dirty="0"/>
          </a:p>
        </p:txBody>
      </p:sp>
      <p:sp>
        <p:nvSpPr>
          <p:cNvPr id="15" name="Text 10"/>
          <p:cNvSpPr/>
          <p:nvPr/>
        </p:nvSpPr>
        <p:spPr>
          <a:xfrm>
            <a:off x="2816352" y="3840480"/>
            <a:ext cx="1947672" cy="1463040"/>
          </a:xfrm>
          <a:prstGeom prst="rect">
            <a:avLst/>
          </a:prstGeom>
          <a:noFill/>
          <a:ln/>
        </p:spPr>
        <p:txBody>
          <a:bodyPr wrap="square" lIns="0" tIns="0" rIns="0" bIns="0" rtlCol="0" anchor="ctr"/>
          <a:lstStyle/>
          <a:p>
            <a:pPr indent="0" marL="0">
              <a:lnSpc>
                <a:spcPct val="118000"/>
              </a:lnSpc>
              <a:buNone/>
            </a:pPr>
            <a:r>
              <a:rPr lang="en-US" sz="1150" dirty="0">
                <a:solidFill>
                  <a:srgbClr val="3A3A38"/>
                </a:solidFill>
                <a:latin typeface="Calibri" pitchFamily="34" charset="0"/>
                <a:ea typeface="Calibri" pitchFamily="34" charset="-122"/>
                <a:cs typeface="Calibri" pitchFamily="34" charset="-120"/>
              </a:rPr>
              <a:t>We make the idea clearer. What matters? What can wait? We remove confusion before it gets expensive.</a:t>
            </a:r>
            <a:endParaRPr lang="en-US" sz="1150" dirty="0"/>
          </a:p>
        </p:txBody>
      </p:sp>
      <p:sp>
        <p:nvSpPr>
          <p:cNvPr id="16" name="Shape 11"/>
          <p:cNvSpPr/>
          <p:nvPr/>
        </p:nvSpPr>
        <p:spPr>
          <a:xfrm>
            <a:off x="5065776" y="2377440"/>
            <a:ext cx="731520" cy="731520"/>
          </a:xfrm>
          <a:prstGeom prst="ellipse">
            <a:avLst/>
          </a:prstGeom>
          <a:solidFill>
            <a:srgbClr val="46D12A"/>
          </a:solidFill>
          <a:ln/>
        </p:spPr>
      </p:sp>
      <p:sp>
        <p:nvSpPr>
          <p:cNvPr id="17" name="Text 12"/>
          <p:cNvSpPr/>
          <p:nvPr/>
        </p:nvSpPr>
        <p:spPr>
          <a:xfrm>
            <a:off x="5065776" y="2377440"/>
            <a:ext cx="731520" cy="731520"/>
          </a:xfrm>
          <a:prstGeom prst="rect">
            <a:avLst/>
          </a:prstGeom>
          <a:noFill/>
          <a:ln/>
        </p:spPr>
        <p:txBody>
          <a:bodyPr wrap="square" lIns="0" tIns="0" rIns="0" bIns="0" rtlCol="0" anchor="ctr"/>
          <a:lstStyle/>
          <a:p>
            <a:pPr algn="ctr" indent="0" marL="0">
              <a:buNone/>
            </a:pPr>
            <a:r>
              <a:rPr lang="en-US" sz="2600" b="1" dirty="0">
                <a:solidFill>
                  <a:srgbClr val="0A0A0A"/>
                </a:solidFill>
                <a:latin typeface="Trebuchet MS" pitchFamily="34" charset="0"/>
                <a:ea typeface="Trebuchet MS" pitchFamily="34" charset="-122"/>
                <a:cs typeface="Trebuchet MS" pitchFamily="34" charset="-120"/>
              </a:rPr>
              <a:t>3</a:t>
            </a:r>
            <a:endParaRPr lang="en-US" sz="2600" dirty="0"/>
          </a:p>
        </p:txBody>
      </p:sp>
      <p:pic>
        <p:nvPicPr>
          <p:cNvPr id="18" name="Image 3" descr="preencoded.png">    </p:cNvPr>
          <p:cNvPicPr>
            <a:picLocks noChangeAspect="1"/>
          </p:cNvPicPr>
          <p:nvPr/>
        </p:nvPicPr>
        <p:blipFill>
          <a:blip r:embed="rId4"/>
          <a:stretch>
            <a:fillRect/>
          </a:stretch>
        </p:blipFill>
        <p:spPr>
          <a:xfrm>
            <a:off x="6858000" y="2633472"/>
            <a:ext cx="219456" cy="219456"/>
          </a:xfrm>
          <a:prstGeom prst="rect">
            <a:avLst/>
          </a:prstGeom>
        </p:spPr>
      </p:pic>
      <p:sp>
        <p:nvSpPr>
          <p:cNvPr id="19" name="Text 13"/>
          <p:cNvSpPr/>
          <p:nvPr/>
        </p:nvSpPr>
        <p:spPr>
          <a:xfrm>
            <a:off x="5065776" y="3291840"/>
            <a:ext cx="1993392" cy="502920"/>
          </a:xfrm>
          <a:prstGeom prst="rect">
            <a:avLst/>
          </a:prstGeom>
          <a:noFill/>
          <a:ln/>
        </p:spPr>
        <p:txBody>
          <a:bodyPr wrap="square" lIns="0" tIns="0" rIns="0" bIns="0" rtlCol="0" anchor="ctr"/>
          <a:lstStyle/>
          <a:p>
            <a:pPr indent="0" marL="0">
              <a:lnSpc>
                <a:spcPct val="98000"/>
              </a:lnSpc>
              <a:buNone/>
            </a:pPr>
            <a:r>
              <a:rPr lang="en-US" sz="1450" b="1" dirty="0">
                <a:solidFill>
                  <a:srgbClr val="0E0E0E"/>
                </a:solidFill>
                <a:latin typeface="Trebuchet MS" pitchFamily="34" charset="0"/>
                <a:ea typeface="Trebuchet MS" pitchFamily="34" charset="-122"/>
                <a:cs typeface="Trebuchet MS" pitchFamily="34" charset="-120"/>
              </a:rPr>
              <a:t>We suggest options</a:t>
            </a:r>
            <a:endParaRPr lang="en-US" sz="1450" dirty="0"/>
          </a:p>
        </p:txBody>
      </p:sp>
      <p:sp>
        <p:nvSpPr>
          <p:cNvPr id="20" name="Text 14"/>
          <p:cNvSpPr/>
          <p:nvPr/>
        </p:nvSpPr>
        <p:spPr>
          <a:xfrm>
            <a:off x="5065776" y="3840480"/>
            <a:ext cx="1947672" cy="1463040"/>
          </a:xfrm>
          <a:prstGeom prst="rect">
            <a:avLst/>
          </a:prstGeom>
          <a:noFill/>
          <a:ln/>
        </p:spPr>
        <p:txBody>
          <a:bodyPr wrap="square" lIns="0" tIns="0" rIns="0" bIns="0" rtlCol="0" anchor="ctr"/>
          <a:lstStyle/>
          <a:p>
            <a:pPr indent="0" marL="0">
              <a:lnSpc>
                <a:spcPct val="118000"/>
              </a:lnSpc>
              <a:buNone/>
            </a:pPr>
            <a:r>
              <a:rPr lang="en-US" sz="1150" dirty="0">
                <a:solidFill>
                  <a:srgbClr val="3A3A38"/>
                </a:solidFill>
                <a:latin typeface="Calibri" pitchFamily="34" charset="0"/>
                <a:ea typeface="Calibri" pitchFamily="34" charset="-122"/>
                <a:cs typeface="Calibri" pitchFamily="34" charset="-120"/>
              </a:rPr>
              <a:t>We don’t force one path. We explain what fits your goals and budget. Smaller is often wiser.</a:t>
            </a:r>
            <a:endParaRPr lang="en-US" sz="1150" dirty="0"/>
          </a:p>
        </p:txBody>
      </p:sp>
      <p:sp>
        <p:nvSpPr>
          <p:cNvPr id="21" name="Shape 15"/>
          <p:cNvSpPr/>
          <p:nvPr/>
        </p:nvSpPr>
        <p:spPr>
          <a:xfrm>
            <a:off x="7315200" y="2377440"/>
            <a:ext cx="731520" cy="731520"/>
          </a:xfrm>
          <a:prstGeom prst="ellipse">
            <a:avLst/>
          </a:prstGeom>
          <a:solidFill>
            <a:srgbClr val="0A0A0A"/>
          </a:solidFill>
          <a:ln/>
        </p:spPr>
      </p:sp>
      <p:sp>
        <p:nvSpPr>
          <p:cNvPr id="22" name="Text 16"/>
          <p:cNvSpPr/>
          <p:nvPr/>
        </p:nvSpPr>
        <p:spPr>
          <a:xfrm>
            <a:off x="7315200" y="2377440"/>
            <a:ext cx="731520" cy="731520"/>
          </a:xfrm>
          <a:prstGeom prst="rect">
            <a:avLst/>
          </a:prstGeom>
          <a:noFill/>
          <a:ln/>
        </p:spPr>
        <p:txBody>
          <a:bodyPr wrap="square" lIns="0" tIns="0" rIns="0" bIns="0" rtlCol="0" anchor="ctr"/>
          <a:lstStyle/>
          <a:p>
            <a:pPr algn="ctr" indent="0" marL="0">
              <a:buNone/>
            </a:pPr>
            <a:r>
              <a:rPr lang="en-US" sz="2600" b="1" dirty="0">
                <a:solidFill>
                  <a:srgbClr val="46D12A"/>
                </a:solidFill>
                <a:latin typeface="Trebuchet MS" pitchFamily="34" charset="0"/>
                <a:ea typeface="Trebuchet MS" pitchFamily="34" charset="-122"/>
                <a:cs typeface="Trebuchet MS" pitchFamily="34" charset="-120"/>
              </a:rPr>
              <a:t>4</a:t>
            </a:r>
            <a:endParaRPr lang="en-US" sz="2600" dirty="0"/>
          </a:p>
        </p:txBody>
      </p:sp>
      <p:pic>
        <p:nvPicPr>
          <p:cNvPr id="23" name="Image 4" descr="preencoded.png">    </p:cNvPr>
          <p:cNvPicPr>
            <a:picLocks noChangeAspect="1"/>
          </p:cNvPicPr>
          <p:nvPr/>
        </p:nvPicPr>
        <p:blipFill>
          <a:blip r:embed="rId5"/>
          <a:stretch>
            <a:fillRect/>
          </a:stretch>
        </p:blipFill>
        <p:spPr>
          <a:xfrm>
            <a:off x="9107424" y="2633472"/>
            <a:ext cx="219456" cy="219456"/>
          </a:xfrm>
          <a:prstGeom prst="rect">
            <a:avLst/>
          </a:prstGeom>
        </p:spPr>
      </p:pic>
      <p:sp>
        <p:nvSpPr>
          <p:cNvPr id="24" name="Text 17"/>
          <p:cNvSpPr/>
          <p:nvPr/>
        </p:nvSpPr>
        <p:spPr>
          <a:xfrm>
            <a:off x="7315200" y="3291840"/>
            <a:ext cx="1993392" cy="502920"/>
          </a:xfrm>
          <a:prstGeom prst="rect">
            <a:avLst/>
          </a:prstGeom>
          <a:noFill/>
          <a:ln/>
        </p:spPr>
        <p:txBody>
          <a:bodyPr wrap="square" lIns="0" tIns="0" rIns="0" bIns="0" rtlCol="0" anchor="ctr"/>
          <a:lstStyle/>
          <a:p>
            <a:pPr indent="0" marL="0">
              <a:lnSpc>
                <a:spcPct val="98000"/>
              </a:lnSpc>
              <a:buNone/>
            </a:pPr>
            <a:r>
              <a:rPr lang="en-US" sz="1450" b="1" dirty="0">
                <a:solidFill>
                  <a:srgbClr val="0E0E0E"/>
                </a:solidFill>
                <a:latin typeface="Trebuchet MS" pitchFamily="34" charset="0"/>
                <a:ea typeface="Trebuchet MS" pitchFamily="34" charset="-122"/>
                <a:cs typeface="Trebuchet MS" pitchFamily="34" charset="-120"/>
              </a:rPr>
              <a:t>We build</a:t>
            </a:r>
            <a:endParaRPr lang="en-US" sz="1450" dirty="0"/>
          </a:p>
        </p:txBody>
      </p:sp>
      <p:sp>
        <p:nvSpPr>
          <p:cNvPr id="25" name="Text 18"/>
          <p:cNvSpPr/>
          <p:nvPr/>
        </p:nvSpPr>
        <p:spPr>
          <a:xfrm>
            <a:off x="7315200" y="3840480"/>
            <a:ext cx="1947672" cy="1463040"/>
          </a:xfrm>
          <a:prstGeom prst="rect">
            <a:avLst/>
          </a:prstGeom>
          <a:noFill/>
          <a:ln/>
        </p:spPr>
        <p:txBody>
          <a:bodyPr wrap="square" lIns="0" tIns="0" rIns="0" bIns="0" rtlCol="0" anchor="ctr"/>
          <a:lstStyle/>
          <a:p>
            <a:pPr indent="0" marL="0">
              <a:lnSpc>
                <a:spcPct val="118000"/>
              </a:lnSpc>
              <a:buNone/>
            </a:pPr>
            <a:r>
              <a:rPr lang="en-US" sz="1150" dirty="0">
                <a:solidFill>
                  <a:srgbClr val="3A3A38"/>
                </a:solidFill>
                <a:latin typeface="Calibri" pitchFamily="34" charset="0"/>
                <a:ea typeface="Calibri" pitchFamily="34" charset="-122"/>
                <a:cs typeface="Calibri" pitchFamily="34" charset="-120"/>
              </a:rPr>
              <a:t>We design and develop. Client informed, work focused, process human. No disappearing.</a:t>
            </a:r>
            <a:endParaRPr lang="en-US" sz="1150" dirty="0"/>
          </a:p>
        </p:txBody>
      </p:sp>
      <p:sp>
        <p:nvSpPr>
          <p:cNvPr id="26" name="Shape 19"/>
          <p:cNvSpPr/>
          <p:nvPr/>
        </p:nvSpPr>
        <p:spPr>
          <a:xfrm>
            <a:off x="9564624" y="2377440"/>
            <a:ext cx="731520" cy="731520"/>
          </a:xfrm>
          <a:prstGeom prst="ellipse">
            <a:avLst/>
          </a:prstGeom>
          <a:solidFill>
            <a:srgbClr val="46D12A"/>
          </a:solidFill>
          <a:ln/>
        </p:spPr>
      </p:sp>
      <p:sp>
        <p:nvSpPr>
          <p:cNvPr id="27" name="Text 20"/>
          <p:cNvSpPr/>
          <p:nvPr/>
        </p:nvSpPr>
        <p:spPr>
          <a:xfrm>
            <a:off x="9564624" y="2377440"/>
            <a:ext cx="731520" cy="731520"/>
          </a:xfrm>
          <a:prstGeom prst="rect">
            <a:avLst/>
          </a:prstGeom>
          <a:noFill/>
          <a:ln/>
        </p:spPr>
        <p:txBody>
          <a:bodyPr wrap="square" lIns="0" tIns="0" rIns="0" bIns="0" rtlCol="0" anchor="ctr"/>
          <a:lstStyle/>
          <a:p>
            <a:pPr algn="ctr" indent="0" marL="0">
              <a:buNone/>
            </a:pPr>
            <a:r>
              <a:rPr lang="en-US" sz="2600" b="1" dirty="0">
                <a:solidFill>
                  <a:srgbClr val="0A0A0A"/>
                </a:solidFill>
                <a:latin typeface="Trebuchet MS" pitchFamily="34" charset="0"/>
                <a:ea typeface="Trebuchet MS" pitchFamily="34" charset="-122"/>
                <a:cs typeface="Trebuchet MS" pitchFamily="34" charset="-120"/>
              </a:rPr>
              <a:t>5</a:t>
            </a:r>
            <a:endParaRPr lang="en-US" sz="2600" dirty="0"/>
          </a:p>
        </p:txBody>
      </p:sp>
      <p:sp>
        <p:nvSpPr>
          <p:cNvPr id="28" name="Text 21"/>
          <p:cNvSpPr/>
          <p:nvPr/>
        </p:nvSpPr>
        <p:spPr>
          <a:xfrm>
            <a:off x="9564624" y="3291840"/>
            <a:ext cx="1993392" cy="502920"/>
          </a:xfrm>
          <a:prstGeom prst="rect">
            <a:avLst/>
          </a:prstGeom>
          <a:noFill/>
          <a:ln/>
        </p:spPr>
        <p:txBody>
          <a:bodyPr wrap="square" lIns="0" tIns="0" rIns="0" bIns="0" rtlCol="0" anchor="ctr"/>
          <a:lstStyle/>
          <a:p>
            <a:pPr indent="0" marL="0">
              <a:lnSpc>
                <a:spcPct val="98000"/>
              </a:lnSpc>
              <a:buNone/>
            </a:pPr>
            <a:r>
              <a:rPr lang="en-US" sz="1450" b="1" dirty="0">
                <a:solidFill>
                  <a:srgbClr val="0E0E0E"/>
                </a:solidFill>
                <a:latin typeface="Trebuchet MS" pitchFamily="34" charset="0"/>
                <a:ea typeface="Trebuchet MS" pitchFamily="34" charset="-122"/>
                <a:cs typeface="Trebuchet MS" pitchFamily="34" charset="-120"/>
              </a:rPr>
              <a:t>Launch &amp; support</a:t>
            </a:r>
            <a:endParaRPr lang="en-US" sz="1450" dirty="0"/>
          </a:p>
        </p:txBody>
      </p:sp>
      <p:sp>
        <p:nvSpPr>
          <p:cNvPr id="29" name="Text 22"/>
          <p:cNvSpPr/>
          <p:nvPr/>
        </p:nvSpPr>
        <p:spPr>
          <a:xfrm>
            <a:off x="9564624" y="3840480"/>
            <a:ext cx="1947672" cy="1463040"/>
          </a:xfrm>
          <a:prstGeom prst="rect">
            <a:avLst/>
          </a:prstGeom>
          <a:noFill/>
          <a:ln/>
        </p:spPr>
        <p:txBody>
          <a:bodyPr wrap="square" lIns="0" tIns="0" rIns="0" bIns="0" rtlCol="0" anchor="ctr"/>
          <a:lstStyle/>
          <a:p>
            <a:pPr indent="0" marL="0">
              <a:lnSpc>
                <a:spcPct val="118000"/>
              </a:lnSpc>
              <a:buNone/>
            </a:pPr>
            <a:r>
              <a:rPr lang="en-US" sz="1150" dirty="0">
                <a:solidFill>
                  <a:srgbClr val="3A3A38"/>
                </a:solidFill>
                <a:latin typeface="Calibri" pitchFamily="34" charset="0"/>
                <a:ea typeface="Calibri" pitchFamily="34" charset="-122"/>
                <a:cs typeface="Calibri" pitchFamily="34" charset="-120"/>
              </a:rPr>
              <a:t>We make sure it works and is ready for real people. Launch is the first meeting with the world.</a:t>
            </a:r>
            <a:endParaRPr lang="en-US" sz="1150" dirty="0"/>
          </a:p>
        </p:txBody>
      </p:sp>
      <p:sp>
        <p:nvSpPr>
          <p:cNvPr id="30" name="Shape 23"/>
          <p:cNvSpPr/>
          <p:nvPr/>
        </p:nvSpPr>
        <p:spPr>
          <a:xfrm>
            <a:off x="566928" y="5897880"/>
            <a:ext cx="64008" cy="868680"/>
          </a:xfrm>
          <a:prstGeom prst="rect">
            <a:avLst/>
          </a:prstGeom>
          <a:solidFill>
            <a:srgbClr val="46D12A"/>
          </a:solidFill>
          <a:ln/>
        </p:spPr>
      </p:sp>
      <p:sp>
        <p:nvSpPr>
          <p:cNvPr id="31" name="Text 24"/>
          <p:cNvSpPr/>
          <p:nvPr/>
        </p:nvSpPr>
        <p:spPr>
          <a:xfrm>
            <a:off x="768096" y="5852160"/>
            <a:ext cx="10607040" cy="960120"/>
          </a:xfrm>
          <a:prstGeom prst="rect">
            <a:avLst/>
          </a:prstGeom>
          <a:noFill/>
          <a:ln/>
        </p:spPr>
        <p:txBody>
          <a:bodyPr wrap="square" lIns="0" tIns="0" rIns="0" bIns="0" rtlCol="0" anchor="ctr"/>
          <a:lstStyle/>
          <a:p>
            <a:pPr indent="0" marL="0">
              <a:lnSpc>
                <a:spcPct val="105000"/>
              </a:lnSpc>
              <a:buNone/>
            </a:pPr>
            <a:r>
              <a:rPr lang="en-US" sz="1800" b="1" dirty="0">
                <a:solidFill>
                  <a:srgbClr val="0E0E0E"/>
                </a:solidFill>
                <a:latin typeface="Trebuchet MS" pitchFamily="34" charset="0"/>
                <a:ea typeface="Trebuchet MS" pitchFamily="34" charset="-122"/>
                <a:cs typeface="Trebuchet MS" pitchFamily="34" charset="-120"/>
              </a:rPr>
              <a:t>No mystery. No “we’re almost done” for six weeks. </a:t>
            </a:r>
            <a:pPr indent="0" marL="0">
              <a:lnSpc>
                <a:spcPct val="105000"/>
              </a:lnSpc>
              <a:buNone/>
            </a:pPr>
            <a:r>
              <a:rPr lang="en-US" sz="1800" b="1" dirty="0">
                <a:solidFill>
                  <a:srgbClr val="2E8E1B"/>
                </a:solidFill>
                <a:latin typeface="Trebuchet MS" pitchFamily="34" charset="0"/>
                <a:ea typeface="Trebuchet MS" pitchFamily="34" charset="-122"/>
                <a:cs typeface="Trebuchet MS" pitchFamily="34" charset="-120"/>
              </a:rPr>
              <a:t>Just clear, steady progress.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11</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WHY CLIENTS CHOOSE US</a:t>
            </a:r>
            <a:endParaRPr lang="en-US" sz="1100" dirty="0"/>
          </a:p>
        </p:txBody>
      </p:sp>
      <p:sp>
        <p:nvSpPr>
          <p:cNvPr id="5" name="Text 2"/>
          <p:cNvSpPr/>
          <p:nvPr/>
        </p:nvSpPr>
        <p:spPr>
          <a:xfrm>
            <a:off x="566928" y="859536"/>
            <a:ext cx="10058400" cy="1188720"/>
          </a:xfrm>
          <a:prstGeom prst="rect">
            <a:avLst/>
          </a:prstGeom>
          <a:noFill/>
          <a:ln/>
        </p:spPr>
        <p:txBody>
          <a:bodyPr wrap="square" lIns="0" tIns="0" rIns="0" bIns="0" rtlCol="0" anchor="t"/>
          <a:lstStyle/>
          <a:p>
            <a:pPr indent="0" marL="0">
              <a:lnSpc>
                <a:spcPct val="98000"/>
              </a:lnSpc>
              <a:buNone/>
            </a:pPr>
            <a:r>
              <a:rPr lang="en-US" sz="3000" b="1" dirty="0">
                <a:solidFill>
                  <a:srgbClr val="0E0E0E"/>
                </a:solidFill>
                <a:latin typeface="Trebuchet MS" pitchFamily="34" charset="0"/>
                <a:ea typeface="Trebuchet MS" pitchFamily="34" charset="-122"/>
                <a:cs typeface="Trebuchet MS" pitchFamily="34" charset="-120"/>
              </a:rPr>
              <a:t>Small enough to care. Skilled enough to </a:t>
            </a:r>
            <a:pPr indent="0" marL="0">
              <a:lnSpc>
                <a:spcPct val="98000"/>
              </a:lnSpc>
              <a:buNone/>
            </a:pPr>
            <a:r>
              <a:rPr lang="en-US" sz="3000" b="1" dirty="0">
                <a:solidFill>
                  <a:srgbClr val="2E8E1B"/>
                </a:solidFill>
                <a:latin typeface="Trebuchet MS" pitchFamily="34" charset="0"/>
                <a:ea typeface="Trebuchet MS" pitchFamily="34" charset="-122"/>
                <a:cs typeface="Trebuchet MS" pitchFamily="34" charset="-120"/>
              </a:rPr>
              <a:t>build.</a:t>
            </a:r>
            <a:endParaRPr lang="en-US" sz="3000" dirty="0"/>
          </a:p>
        </p:txBody>
      </p:sp>
      <p:sp>
        <p:nvSpPr>
          <p:cNvPr id="6" name="Text 3"/>
          <p:cNvSpPr/>
          <p:nvPr/>
        </p:nvSpPr>
        <p:spPr>
          <a:xfrm>
            <a:off x="566928" y="2057400"/>
            <a:ext cx="4572000" cy="274320"/>
          </a:xfrm>
          <a:prstGeom prst="rect">
            <a:avLst/>
          </a:prstGeom>
          <a:noFill/>
          <a:ln/>
        </p:spPr>
        <p:txBody>
          <a:bodyPr wrap="square" lIns="0" tIns="0" rIns="0" bIns="0" rtlCol="0" anchor="ctr"/>
          <a:lstStyle/>
          <a:p>
            <a:pPr indent="0" marL="0">
              <a:buNone/>
            </a:pPr>
            <a:r>
              <a:rPr lang="en-US" sz="1100" b="1" spc="200" kern="0" dirty="0">
                <a:solidFill>
                  <a:srgbClr val="9A958A"/>
                </a:solidFill>
                <a:latin typeface="Trebuchet MS" pitchFamily="34" charset="0"/>
                <a:ea typeface="Trebuchet MS" pitchFamily="34" charset="-122"/>
                <a:cs typeface="Trebuchet MS" pitchFamily="34" charset="-120"/>
              </a:rPr>
              <a:t>WHAT WE OFFER</a:t>
            </a:r>
            <a:endParaRPr lang="en-US" sz="1100" dirty="0"/>
          </a:p>
        </p:txBody>
      </p:sp>
      <p:sp>
        <p:nvSpPr>
          <p:cNvPr id="7" name="Shape 4"/>
          <p:cNvSpPr/>
          <p:nvPr/>
        </p:nvSpPr>
        <p:spPr>
          <a:xfrm>
            <a:off x="566928" y="2542032"/>
            <a:ext cx="118872" cy="118872"/>
          </a:xfrm>
          <a:prstGeom prst="rect">
            <a:avLst/>
          </a:prstGeom>
          <a:solidFill>
            <a:srgbClr val="46D12A"/>
          </a:solidFill>
          <a:ln/>
        </p:spPr>
      </p:sp>
      <p:sp>
        <p:nvSpPr>
          <p:cNvPr id="8" name="Text 5"/>
          <p:cNvSpPr/>
          <p:nvPr/>
        </p:nvSpPr>
        <p:spPr>
          <a:xfrm>
            <a:off x="841248" y="24688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Direct communication</a:t>
            </a:r>
            <a:endParaRPr lang="en-US" sz="1300" dirty="0"/>
          </a:p>
        </p:txBody>
      </p:sp>
      <p:sp>
        <p:nvSpPr>
          <p:cNvPr id="9" name="Shape 6"/>
          <p:cNvSpPr/>
          <p:nvPr/>
        </p:nvSpPr>
        <p:spPr>
          <a:xfrm>
            <a:off x="566928" y="2852928"/>
            <a:ext cx="4663440" cy="0"/>
          </a:xfrm>
          <a:prstGeom prst="line">
            <a:avLst/>
          </a:prstGeom>
          <a:noFill/>
          <a:ln w="12700">
            <a:solidFill>
              <a:srgbClr val="E7E3DA"/>
            </a:solidFill>
            <a:prstDash val="solid"/>
          </a:ln>
        </p:spPr>
      </p:sp>
      <p:sp>
        <p:nvSpPr>
          <p:cNvPr id="10" name="Shape 7"/>
          <p:cNvSpPr/>
          <p:nvPr/>
        </p:nvSpPr>
        <p:spPr>
          <a:xfrm>
            <a:off x="566928" y="2999232"/>
            <a:ext cx="118872" cy="118872"/>
          </a:xfrm>
          <a:prstGeom prst="rect">
            <a:avLst/>
          </a:prstGeom>
          <a:solidFill>
            <a:srgbClr val="46D12A"/>
          </a:solidFill>
          <a:ln/>
        </p:spPr>
      </p:sp>
      <p:sp>
        <p:nvSpPr>
          <p:cNvPr id="11" name="Text 8"/>
          <p:cNvSpPr/>
          <p:nvPr/>
        </p:nvSpPr>
        <p:spPr>
          <a:xfrm>
            <a:off x="841248" y="29260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Honest advice</a:t>
            </a:r>
            <a:endParaRPr lang="en-US" sz="1300" dirty="0"/>
          </a:p>
        </p:txBody>
      </p:sp>
      <p:sp>
        <p:nvSpPr>
          <p:cNvPr id="12" name="Shape 9"/>
          <p:cNvSpPr/>
          <p:nvPr/>
        </p:nvSpPr>
        <p:spPr>
          <a:xfrm>
            <a:off x="566928" y="3310128"/>
            <a:ext cx="4663440" cy="0"/>
          </a:xfrm>
          <a:prstGeom prst="line">
            <a:avLst/>
          </a:prstGeom>
          <a:noFill/>
          <a:ln w="12700">
            <a:solidFill>
              <a:srgbClr val="E7E3DA"/>
            </a:solidFill>
            <a:prstDash val="solid"/>
          </a:ln>
        </p:spPr>
      </p:sp>
      <p:sp>
        <p:nvSpPr>
          <p:cNvPr id="13" name="Shape 10"/>
          <p:cNvSpPr/>
          <p:nvPr/>
        </p:nvSpPr>
        <p:spPr>
          <a:xfrm>
            <a:off x="566928" y="3456432"/>
            <a:ext cx="118872" cy="118872"/>
          </a:xfrm>
          <a:prstGeom prst="rect">
            <a:avLst/>
          </a:prstGeom>
          <a:solidFill>
            <a:srgbClr val="46D12A"/>
          </a:solidFill>
          <a:ln/>
        </p:spPr>
      </p:sp>
      <p:sp>
        <p:nvSpPr>
          <p:cNvPr id="14" name="Text 11"/>
          <p:cNvSpPr/>
          <p:nvPr/>
        </p:nvSpPr>
        <p:spPr>
          <a:xfrm>
            <a:off x="841248" y="33832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Practical options</a:t>
            </a:r>
            <a:endParaRPr lang="en-US" sz="1300" dirty="0"/>
          </a:p>
        </p:txBody>
      </p:sp>
      <p:sp>
        <p:nvSpPr>
          <p:cNvPr id="15" name="Shape 12"/>
          <p:cNvSpPr/>
          <p:nvPr/>
        </p:nvSpPr>
        <p:spPr>
          <a:xfrm>
            <a:off x="566928" y="3767328"/>
            <a:ext cx="4663440" cy="0"/>
          </a:xfrm>
          <a:prstGeom prst="line">
            <a:avLst/>
          </a:prstGeom>
          <a:noFill/>
          <a:ln w="12700">
            <a:solidFill>
              <a:srgbClr val="E7E3DA"/>
            </a:solidFill>
            <a:prstDash val="solid"/>
          </a:ln>
        </p:spPr>
      </p:sp>
      <p:sp>
        <p:nvSpPr>
          <p:cNvPr id="16" name="Shape 13"/>
          <p:cNvSpPr/>
          <p:nvPr/>
        </p:nvSpPr>
        <p:spPr>
          <a:xfrm>
            <a:off x="566928" y="3913632"/>
            <a:ext cx="118872" cy="118872"/>
          </a:xfrm>
          <a:prstGeom prst="rect">
            <a:avLst/>
          </a:prstGeom>
          <a:solidFill>
            <a:srgbClr val="46D12A"/>
          </a:solidFill>
          <a:ln/>
        </p:spPr>
      </p:sp>
      <p:sp>
        <p:nvSpPr>
          <p:cNvPr id="17" name="Text 14"/>
          <p:cNvSpPr/>
          <p:nvPr/>
        </p:nvSpPr>
        <p:spPr>
          <a:xfrm>
            <a:off x="841248" y="38404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Clear explanations</a:t>
            </a:r>
            <a:endParaRPr lang="en-US" sz="1300" dirty="0"/>
          </a:p>
        </p:txBody>
      </p:sp>
      <p:sp>
        <p:nvSpPr>
          <p:cNvPr id="18" name="Shape 15"/>
          <p:cNvSpPr/>
          <p:nvPr/>
        </p:nvSpPr>
        <p:spPr>
          <a:xfrm>
            <a:off x="566928" y="4224528"/>
            <a:ext cx="4663440" cy="0"/>
          </a:xfrm>
          <a:prstGeom prst="line">
            <a:avLst/>
          </a:prstGeom>
          <a:noFill/>
          <a:ln w="12700">
            <a:solidFill>
              <a:srgbClr val="E7E3DA"/>
            </a:solidFill>
            <a:prstDash val="solid"/>
          </a:ln>
        </p:spPr>
      </p:sp>
      <p:sp>
        <p:nvSpPr>
          <p:cNvPr id="19" name="Shape 16"/>
          <p:cNvSpPr/>
          <p:nvPr/>
        </p:nvSpPr>
        <p:spPr>
          <a:xfrm>
            <a:off x="566928" y="4370832"/>
            <a:ext cx="118872" cy="118872"/>
          </a:xfrm>
          <a:prstGeom prst="rect">
            <a:avLst/>
          </a:prstGeom>
          <a:solidFill>
            <a:srgbClr val="46D12A"/>
          </a:solidFill>
          <a:ln/>
        </p:spPr>
      </p:sp>
      <p:sp>
        <p:nvSpPr>
          <p:cNvPr id="20" name="Text 17"/>
          <p:cNvSpPr/>
          <p:nvPr/>
        </p:nvSpPr>
        <p:spPr>
          <a:xfrm>
            <a:off x="841248" y="42976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Strong technical work</a:t>
            </a:r>
            <a:endParaRPr lang="en-US" sz="1300" dirty="0"/>
          </a:p>
        </p:txBody>
      </p:sp>
      <p:sp>
        <p:nvSpPr>
          <p:cNvPr id="21" name="Shape 18"/>
          <p:cNvSpPr/>
          <p:nvPr/>
        </p:nvSpPr>
        <p:spPr>
          <a:xfrm>
            <a:off x="566928" y="4681728"/>
            <a:ext cx="4663440" cy="0"/>
          </a:xfrm>
          <a:prstGeom prst="line">
            <a:avLst/>
          </a:prstGeom>
          <a:noFill/>
          <a:ln w="12700">
            <a:solidFill>
              <a:srgbClr val="E7E3DA"/>
            </a:solidFill>
            <a:prstDash val="solid"/>
          </a:ln>
        </p:spPr>
      </p:sp>
      <p:sp>
        <p:nvSpPr>
          <p:cNvPr id="22" name="Shape 19"/>
          <p:cNvSpPr/>
          <p:nvPr/>
        </p:nvSpPr>
        <p:spPr>
          <a:xfrm>
            <a:off x="566928" y="4828032"/>
            <a:ext cx="118872" cy="118872"/>
          </a:xfrm>
          <a:prstGeom prst="rect">
            <a:avLst/>
          </a:prstGeom>
          <a:solidFill>
            <a:srgbClr val="46D12A"/>
          </a:solidFill>
          <a:ln/>
        </p:spPr>
      </p:sp>
      <p:sp>
        <p:nvSpPr>
          <p:cNvPr id="23" name="Text 20"/>
          <p:cNvSpPr/>
          <p:nvPr/>
        </p:nvSpPr>
        <p:spPr>
          <a:xfrm>
            <a:off x="841248" y="47548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Budget-aware solutions</a:t>
            </a:r>
            <a:endParaRPr lang="en-US" sz="1300" dirty="0"/>
          </a:p>
        </p:txBody>
      </p:sp>
      <p:sp>
        <p:nvSpPr>
          <p:cNvPr id="24" name="Shape 21"/>
          <p:cNvSpPr/>
          <p:nvPr/>
        </p:nvSpPr>
        <p:spPr>
          <a:xfrm>
            <a:off x="566928" y="5138928"/>
            <a:ext cx="4663440" cy="0"/>
          </a:xfrm>
          <a:prstGeom prst="line">
            <a:avLst/>
          </a:prstGeom>
          <a:noFill/>
          <a:ln w="12700">
            <a:solidFill>
              <a:srgbClr val="E7E3DA"/>
            </a:solidFill>
            <a:prstDash val="solid"/>
          </a:ln>
        </p:spPr>
      </p:sp>
      <p:sp>
        <p:nvSpPr>
          <p:cNvPr id="25" name="Shape 22"/>
          <p:cNvSpPr/>
          <p:nvPr/>
        </p:nvSpPr>
        <p:spPr>
          <a:xfrm>
            <a:off x="566928" y="5285232"/>
            <a:ext cx="118872" cy="118872"/>
          </a:xfrm>
          <a:prstGeom prst="rect">
            <a:avLst/>
          </a:prstGeom>
          <a:solidFill>
            <a:srgbClr val="46D12A"/>
          </a:solidFill>
          <a:ln/>
        </p:spPr>
      </p:sp>
      <p:sp>
        <p:nvSpPr>
          <p:cNvPr id="26" name="Text 23"/>
          <p:cNvSpPr/>
          <p:nvPr/>
        </p:nvSpPr>
        <p:spPr>
          <a:xfrm>
            <a:off x="841248" y="52120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Real attention from a small team</a:t>
            </a:r>
            <a:endParaRPr lang="en-US" sz="1300" dirty="0"/>
          </a:p>
        </p:txBody>
      </p:sp>
      <p:sp>
        <p:nvSpPr>
          <p:cNvPr id="27" name="Shape 24"/>
          <p:cNvSpPr/>
          <p:nvPr/>
        </p:nvSpPr>
        <p:spPr>
          <a:xfrm>
            <a:off x="566928" y="5596128"/>
            <a:ext cx="4663440" cy="0"/>
          </a:xfrm>
          <a:prstGeom prst="line">
            <a:avLst/>
          </a:prstGeom>
          <a:noFill/>
          <a:ln w="12700">
            <a:solidFill>
              <a:srgbClr val="E7E3DA"/>
            </a:solidFill>
            <a:prstDash val="solid"/>
          </a:ln>
        </p:spPr>
      </p:sp>
      <p:sp>
        <p:nvSpPr>
          <p:cNvPr id="28" name="Text 25"/>
          <p:cNvSpPr/>
          <p:nvPr/>
        </p:nvSpPr>
        <p:spPr>
          <a:xfrm>
            <a:off x="6327648" y="2057400"/>
            <a:ext cx="4572000" cy="274320"/>
          </a:xfrm>
          <a:prstGeom prst="rect">
            <a:avLst/>
          </a:prstGeom>
          <a:noFill/>
          <a:ln/>
        </p:spPr>
        <p:txBody>
          <a:bodyPr wrap="square" lIns="0" tIns="0" rIns="0" bIns="0" rtlCol="0" anchor="ctr"/>
          <a:lstStyle/>
          <a:p>
            <a:pPr indent="0" marL="0">
              <a:buNone/>
            </a:pPr>
            <a:r>
              <a:rPr lang="en-US" sz="1100" b="1" spc="200" kern="0" dirty="0">
                <a:solidFill>
                  <a:srgbClr val="9A958A"/>
                </a:solidFill>
                <a:latin typeface="Trebuchet MS" pitchFamily="34" charset="0"/>
                <a:ea typeface="Trebuchet MS" pitchFamily="34" charset="-122"/>
                <a:cs typeface="Trebuchet MS" pitchFamily="34" charset="-120"/>
              </a:rPr>
              <a:t>HOW IT SHOULD FEEL</a:t>
            </a:r>
            <a:endParaRPr lang="en-US" sz="1100" dirty="0"/>
          </a:p>
        </p:txBody>
      </p:sp>
      <p:sp>
        <p:nvSpPr>
          <p:cNvPr id="29" name="Shape 26"/>
          <p:cNvSpPr/>
          <p:nvPr/>
        </p:nvSpPr>
        <p:spPr>
          <a:xfrm>
            <a:off x="6327648" y="2542032"/>
            <a:ext cx="118872" cy="118872"/>
          </a:xfrm>
          <a:prstGeom prst="rect">
            <a:avLst/>
          </a:prstGeom>
          <a:solidFill>
            <a:srgbClr val="46D12A"/>
          </a:solidFill>
          <a:ln/>
        </p:spPr>
      </p:sp>
      <p:sp>
        <p:nvSpPr>
          <p:cNvPr id="30" name="Text 27"/>
          <p:cNvSpPr/>
          <p:nvPr/>
        </p:nvSpPr>
        <p:spPr>
          <a:xfrm>
            <a:off x="6601968" y="24688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Heard</a:t>
            </a:r>
            <a:endParaRPr lang="en-US" sz="1300" dirty="0"/>
          </a:p>
        </p:txBody>
      </p:sp>
      <p:sp>
        <p:nvSpPr>
          <p:cNvPr id="31" name="Shape 28"/>
          <p:cNvSpPr/>
          <p:nvPr/>
        </p:nvSpPr>
        <p:spPr>
          <a:xfrm>
            <a:off x="6327648" y="2852928"/>
            <a:ext cx="4663440" cy="0"/>
          </a:xfrm>
          <a:prstGeom prst="line">
            <a:avLst/>
          </a:prstGeom>
          <a:noFill/>
          <a:ln w="12700">
            <a:solidFill>
              <a:srgbClr val="E7E3DA"/>
            </a:solidFill>
            <a:prstDash val="solid"/>
          </a:ln>
        </p:spPr>
      </p:sp>
      <p:sp>
        <p:nvSpPr>
          <p:cNvPr id="32" name="Shape 29"/>
          <p:cNvSpPr/>
          <p:nvPr/>
        </p:nvSpPr>
        <p:spPr>
          <a:xfrm>
            <a:off x="6327648" y="2999232"/>
            <a:ext cx="118872" cy="118872"/>
          </a:xfrm>
          <a:prstGeom prst="rect">
            <a:avLst/>
          </a:prstGeom>
          <a:solidFill>
            <a:srgbClr val="46D12A"/>
          </a:solidFill>
          <a:ln/>
        </p:spPr>
      </p:sp>
      <p:sp>
        <p:nvSpPr>
          <p:cNvPr id="33" name="Text 30"/>
          <p:cNvSpPr/>
          <p:nvPr/>
        </p:nvSpPr>
        <p:spPr>
          <a:xfrm>
            <a:off x="6601968" y="29260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Guided</a:t>
            </a:r>
            <a:endParaRPr lang="en-US" sz="1300" dirty="0"/>
          </a:p>
        </p:txBody>
      </p:sp>
      <p:sp>
        <p:nvSpPr>
          <p:cNvPr id="34" name="Shape 31"/>
          <p:cNvSpPr/>
          <p:nvPr/>
        </p:nvSpPr>
        <p:spPr>
          <a:xfrm>
            <a:off x="6327648" y="3310128"/>
            <a:ext cx="4663440" cy="0"/>
          </a:xfrm>
          <a:prstGeom prst="line">
            <a:avLst/>
          </a:prstGeom>
          <a:noFill/>
          <a:ln w="12700">
            <a:solidFill>
              <a:srgbClr val="E7E3DA"/>
            </a:solidFill>
            <a:prstDash val="solid"/>
          </a:ln>
        </p:spPr>
      </p:sp>
      <p:sp>
        <p:nvSpPr>
          <p:cNvPr id="35" name="Shape 32"/>
          <p:cNvSpPr/>
          <p:nvPr/>
        </p:nvSpPr>
        <p:spPr>
          <a:xfrm>
            <a:off x="6327648" y="3456432"/>
            <a:ext cx="118872" cy="118872"/>
          </a:xfrm>
          <a:prstGeom prst="rect">
            <a:avLst/>
          </a:prstGeom>
          <a:solidFill>
            <a:srgbClr val="46D12A"/>
          </a:solidFill>
          <a:ln/>
        </p:spPr>
      </p:sp>
      <p:sp>
        <p:nvSpPr>
          <p:cNvPr id="36" name="Text 33"/>
          <p:cNvSpPr/>
          <p:nvPr/>
        </p:nvSpPr>
        <p:spPr>
          <a:xfrm>
            <a:off x="6601968" y="33832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Respected</a:t>
            </a:r>
            <a:endParaRPr lang="en-US" sz="1300" dirty="0"/>
          </a:p>
        </p:txBody>
      </p:sp>
      <p:sp>
        <p:nvSpPr>
          <p:cNvPr id="37" name="Shape 34"/>
          <p:cNvSpPr/>
          <p:nvPr/>
        </p:nvSpPr>
        <p:spPr>
          <a:xfrm>
            <a:off x="6327648" y="3767328"/>
            <a:ext cx="4663440" cy="0"/>
          </a:xfrm>
          <a:prstGeom prst="line">
            <a:avLst/>
          </a:prstGeom>
          <a:noFill/>
          <a:ln w="12700">
            <a:solidFill>
              <a:srgbClr val="E7E3DA"/>
            </a:solidFill>
            <a:prstDash val="solid"/>
          </a:ln>
        </p:spPr>
      </p:sp>
      <p:sp>
        <p:nvSpPr>
          <p:cNvPr id="38" name="Shape 35"/>
          <p:cNvSpPr/>
          <p:nvPr/>
        </p:nvSpPr>
        <p:spPr>
          <a:xfrm>
            <a:off x="6327648" y="3913632"/>
            <a:ext cx="118872" cy="118872"/>
          </a:xfrm>
          <a:prstGeom prst="rect">
            <a:avLst/>
          </a:prstGeom>
          <a:solidFill>
            <a:srgbClr val="46D12A"/>
          </a:solidFill>
          <a:ln/>
        </p:spPr>
      </p:sp>
      <p:sp>
        <p:nvSpPr>
          <p:cNvPr id="39" name="Text 36"/>
          <p:cNvSpPr/>
          <p:nvPr/>
        </p:nvSpPr>
        <p:spPr>
          <a:xfrm>
            <a:off x="6601968" y="38404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Informed</a:t>
            </a:r>
            <a:endParaRPr lang="en-US" sz="1300" dirty="0"/>
          </a:p>
        </p:txBody>
      </p:sp>
      <p:sp>
        <p:nvSpPr>
          <p:cNvPr id="40" name="Shape 37"/>
          <p:cNvSpPr/>
          <p:nvPr/>
        </p:nvSpPr>
        <p:spPr>
          <a:xfrm>
            <a:off x="6327648" y="4224528"/>
            <a:ext cx="4663440" cy="0"/>
          </a:xfrm>
          <a:prstGeom prst="line">
            <a:avLst/>
          </a:prstGeom>
          <a:noFill/>
          <a:ln w="12700">
            <a:solidFill>
              <a:srgbClr val="E7E3DA"/>
            </a:solidFill>
            <a:prstDash val="solid"/>
          </a:ln>
        </p:spPr>
      </p:sp>
      <p:sp>
        <p:nvSpPr>
          <p:cNvPr id="41" name="Shape 38"/>
          <p:cNvSpPr/>
          <p:nvPr/>
        </p:nvSpPr>
        <p:spPr>
          <a:xfrm>
            <a:off x="6327648" y="4370832"/>
            <a:ext cx="118872" cy="118872"/>
          </a:xfrm>
          <a:prstGeom prst="rect">
            <a:avLst/>
          </a:prstGeom>
          <a:solidFill>
            <a:srgbClr val="46D12A"/>
          </a:solidFill>
          <a:ln/>
        </p:spPr>
      </p:sp>
      <p:sp>
        <p:nvSpPr>
          <p:cNvPr id="42" name="Text 39"/>
          <p:cNvSpPr/>
          <p:nvPr/>
        </p:nvSpPr>
        <p:spPr>
          <a:xfrm>
            <a:off x="6601968" y="42976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Not judged</a:t>
            </a:r>
            <a:endParaRPr lang="en-US" sz="1300" dirty="0"/>
          </a:p>
        </p:txBody>
      </p:sp>
      <p:sp>
        <p:nvSpPr>
          <p:cNvPr id="43" name="Shape 40"/>
          <p:cNvSpPr/>
          <p:nvPr/>
        </p:nvSpPr>
        <p:spPr>
          <a:xfrm>
            <a:off x="6327648" y="4681728"/>
            <a:ext cx="4663440" cy="0"/>
          </a:xfrm>
          <a:prstGeom prst="line">
            <a:avLst/>
          </a:prstGeom>
          <a:noFill/>
          <a:ln w="12700">
            <a:solidFill>
              <a:srgbClr val="E7E3DA"/>
            </a:solidFill>
            <a:prstDash val="solid"/>
          </a:ln>
        </p:spPr>
      </p:sp>
      <p:sp>
        <p:nvSpPr>
          <p:cNvPr id="44" name="Shape 41"/>
          <p:cNvSpPr/>
          <p:nvPr/>
        </p:nvSpPr>
        <p:spPr>
          <a:xfrm>
            <a:off x="6327648" y="4828032"/>
            <a:ext cx="118872" cy="118872"/>
          </a:xfrm>
          <a:prstGeom prst="rect">
            <a:avLst/>
          </a:prstGeom>
          <a:solidFill>
            <a:srgbClr val="46D12A"/>
          </a:solidFill>
          <a:ln/>
        </p:spPr>
      </p:sp>
      <p:sp>
        <p:nvSpPr>
          <p:cNvPr id="45" name="Text 42"/>
          <p:cNvSpPr/>
          <p:nvPr/>
        </p:nvSpPr>
        <p:spPr>
          <a:xfrm>
            <a:off x="6601968" y="47548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Not overcharged</a:t>
            </a:r>
            <a:endParaRPr lang="en-US" sz="1300" dirty="0"/>
          </a:p>
        </p:txBody>
      </p:sp>
      <p:sp>
        <p:nvSpPr>
          <p:cNvPr id="46" name="Shape 43"/>
          <p:cNvSpPr/>
          <p:nvPr/>
        </p:nvSpPr>
        <p:spPr>
          <a:xfrm>
            <a:off x="6327648" y="5138928"/>
            <a:ext cx="4663440" cy="0"/>
          </a:xfrm>
          <a:prstGeom prst="line">
            <a:avLst/>
          </a:prstGeom>
          <a:noFill/>
          <a:ln w="12700">
            <a:solidFill>
              <a:srgbClr val="E7E3DA"/>
            </a:solidFill>
            <a:prstDash val="solid"/>
          </a:ln>
        </p:spPr>
      </p:sp>
      <p:sp>
        <p:nvSpPr>
          <p:cNvPr id="47" name="Shape 44"/>
          <p:cNvSpPr/>
          <p:nvPr/>
        </p:nvSpPr>
        <p:spPr>
          <a:xfrm>
            <a:off x="6327648" y="5285232"/>
            <a:ext cx="118872" cy="118872"/>
          </a:xfrm>
          <a:prstGeom prst="rect">
            <a:avLst/>
          </a:prstGeom>
          <a:solidFill>
            <a:srgbClr val="46D12A"/>
          </a:solidFill>
          <a:ln/>
        </p:spPr>
      </p:sp>
      <p:sp>
        <p:nvSpPr>
          <p:cNvPr id="48" name="Text 45"/>
          <p:cNvSpPr/>
          <p:nvPr/>
        </p:nvSpPr>
        <p:spPr>
          <a:xfrm>
            <a:off x="6601968" y="52120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Not left alone with confusion</a:t>
            </a:r>
            <a:endParaRPr lang="en-US" sz="1300" dirty="0"/>
          </a:p>
        </p:txBody>
      </p:sp>
      <p:sp>
        <p:nvSpPr>
          <p:cNvPr id="49" name="Shape 46"/>
          <p:cNvSpPr/>
          <p:nvPr/>
        </p:nvSpPr>
        <p:spPr>
          <a:xfrm>
            <a:off x="6327648" y="5596128"/>
            <a:ext cx="4663440" cy="0"/>
          </a:xfrm>
          <a:prstGeom prst="line">
            <a:avLst/>
          </a:prstGeom>
          <a:noFill/>
          <a:ln w="12700">
            <a:solidFill>
              <a:srgbClr val="E7E3DA"/>
            </a:solidFill>
            <a:prstDash val="solid"/>
          </a:ln>
        </p:spPr>
      </p:sp>
      <p:sp>
        <p:nvSpPr>
          <p:cNvPr id="50" name="Shape 47"/>
          <p:cNvSpPr/>
          <p:nvPr/>
        </p:nvSpPr>
        <p:spPr>
          <a:xfrm>
            <a:off x="566928" y="5897880"/>
            <a:ext cx="64008" cy="868680"/>
          </a:xfrm>
          <a:prstGeom prst="rect">
            <a:avLst/>
          </a:prstGeom>
          <a:solidFill>
            <a:srgbClr val="46D12A"/>
          </a:solidFill>
          <a:ln/>
        </p:spPr>
      </p:sp>
      <p:sp>
        <p:nvSpPr>
          <p:cNvPr id="51" name="Text 48"/>
          <p:cNvSpPr/>
          <p:nvPr/>
        </p:nvSpPr>
        <p:spPr>
          <a:xfrm>
            <a:off x="768096" y="5852160"/>
            <a:ext cx="10607040" cy="960120"/>
          </a:xfrm>
          <a:prstGeom prst="rect">
            <a:avLst/>
          </a:prstGeom>
          <a:noFill/>
          <a:ln/>
        </p:spPr>
        <p:txBody>
          <a:bodyPr wrap="square" lIns="0" tIns="0" rIns="0" bIns="0" rtlCol="0" anchor="ctr"/>
          <a:lstStyle/>
          <a:p>
            <a:pPr indent="0" marL="0">
              <a:lnSpc>
                <a:spcPct val="105000"/>
              </a:lnSpc>
              <a:buNone/>
            </a:pPr>
            <a:r>
              <a:rPr lang="en-US" sz="1800" b="1" dirty="0">
                <a:solidFill>
                  <a:srgbClr val="0E0E0E"/>
                </a:solidFill>
                <a:latin typeface="Trebuchet MS" pitchFamily="34" charset="0"/>
                <a:ea typeface="Trebuchet MS" pitchFamily="34" charset="-122"/>
                <a:cs typeface="Trebuchet MS" pitchFamily="34" charset="-120"/>
              </a:rPr>
              <a:t>People come to us for the build. </a:t>
            </a:r>
            <a:pPr indent="0" marL="0">
              <a:lnSpc>
                <a:spcPct val="105000"/>
              </a:lnSpc>
              <a:buNone/>
            </a:pPr>
            <a:r>
              <a:rPr lang="en-US" sz="1800" b="1" dirty="0">
                <a:solidFill>
                  <a:srgbClr val="2E8E1B"/>
                </a:solidFill>
                <a:latin typeface="Trebuchet MS" pitchFamily="34" charset="0"/>
                <a:ea typeface="Trebuchet MS" pitchFamily="34" charset="-122"/>
                <a:cs typeface="Trebuchet MS" pitchFamily="34" charset="-120"/>
              </a:rPr>
              <a:t>They remember the way the process felt.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12</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WHO WE HELP</a:t>
            </a:r>
            <a:endParaRPr lang="en-US" sz="1100" dirty="0"/>
          </a:p>
        </p:txBody>
      </p:sp>
      <p:sp>
        <p:nvSpPr>
          <p:cNvPr id="5" name="Text 2"/>
          <p:cNvSpPr/>
          <p:nvPr/>
        </p:nvSpPr>
        <p:spPr>
          <a:xfrm>
            <a:off x="566928" y="859536"/>
            <a:ext cx="9144000" cy="1188720"/>
          </a:xfrm>
          <a:prstGeom prst="rect">
            <a:avLst/>
          </a:prstGeom>
          <a:noFill/>
          <a:ln/>
        </p:spPr>
        <p:txBody>
          <a:bodyPr wrap="square" lIns="0" tIns="0" rIns="0" bIns="0" rtlCol="0" anchor="t"/>
          <a:lstStyle/>
          <a:p>
            <a:pPr indent="0" marL="0">
              <a:lnSpc>
                <a:spcPct val="98000"/>
              </a:lnSpc>
              <a:buNone/>
            </a:pPr>
            <a:r>
              <a:rPr lang="en-US" sz="3000" b="1" dirty="0">
                <a:solidFill>
                  <a:srgbClr val="0E0E0E"/>
                </a:solidFill>
                <a:latin typeface="Trebuchet MS" pitchFamily="34" charset="0"/>
                <a:ea typeface="Trebuchet MS" pitchFamily="34" charset="-122"/>
                <a:cs typeface="Trebuchet MS" pitchFamily="34" charset="-120"/>
              </a:rPr>
              <a:t>Problems we solve, people we fit.</a:t>
            </a:r>
            <a:endParaRPr lang="en-US" sz="3000" dirty="0"/>
          </a:p>
        </p:txBody>
      </p:sp>
      <p:sp>
        <p:nvSpPr>
          <p:cNvPr id="6" name="Text 3"/>
          <p:cNvSpPr/>
          <p:nvPr/>
        </p:nvSpPr>
        <p:spPr>
          <a:xfrm>
            <a:off x="566928" y="2057400"/>
            <a:ext cx="4572000" cy="274320"/>
          </a:xfrm>
          <a:prstGeom prst="rect">
            <a:avLst/>
          </a:prstGeom>
          <a:noFill/>
          <a:ln/>
        </p:spPr>
        <p:txBody>
          <a:bodyPr wrap="square" lIns="0" tIns="0" rIns="0" bIns="0" rtlCol="0" anchor="ctr"/>
          <a:lstStyle/>
          <a:p>
            <a:pPr indent="0" marL="0">
              <a:buNone/>
            </a:pPr>
            <a:r>
              <a:rPr lang="en-US" sz="1100" b="1" spc="200" kern="0" dirty="0">
                <a:solidFill>
                  <a:srgbClr val="9A958A"/>
                </a:solidFill>
                <a:latin typeface="Trebuchet MS" pitchFamily="34" charset="0"/>
                <a:ea typeface="Trebuchet MS" pitchFamily="34" charset="-122"/>
                <a:cs typeface="Trebuchet MS" pitchFamily="34" charset="-120"/>
              </a:rPr>
              <a:t>CLIENTS OFTEN COME WHEN…</a:t>
            </a:r>
            <a:endParaRPr lang="en-US" sz="1100" dirty="0"/>
          </a:p>
        </p:txBody>
      </p:sp>
      <p:sp>
        <p:nvSpPr>
          <p:cNvPr id="7" name="Shape 4"/>
          <p:cNvSpPr/>
          <p:nvPr/>
        </p:nvSpPr>
        <p:spPr>
          <a:xfrm>
            <a:off x="566928" y="2542032"/>
            <a:ext cx="118872" cy="118872"/>
          </a:xfrm>
          <a:prstGeom prst="rect">
            <a:avLst/>
          </a:prstGeom>
          <a:solidFill>
            <a:srgbClr val="46D12A"/>
          </a:solidFill>
          <a:ln/>
        </p:spPr>
      </p:sp>
      <p:sp>
        <p:nvSpPr>
          <p:cNvPr id="8" name="Text 5"/>
          <p:cNvSpPr/>
          <p:nvPr/>
        </p:nvSpPr>
        <p:spPr>
          <a:xfrm>
            <a:off x="841248" y="24688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A previous team stopped halfway</a:t>
            </a:r>
            <a:endParaRPr lang="en-US" sz="1300" dirty="0"/>
          </a:p>
        </p:txBody>
      </p:sp>
      <p:sp>
        <p:nvSpPr>
          <p:cNvPr id="9" name="Shape 6"/>
          <p:cNvSpPr/>
          <p:nvPr/>
        </p:nvSpPr>
        <p:spPr>
          <a:xfrm>
            <a:off x="566928" y="2852928"/>
            <a:ext cx="4663440" cy="0"/>
          </a:xfrm>
          <a:prstGeom prst="line">
            <a:avLst/>
          </a:prstGeom>
          <a:noFill/>
          <a:ln w="12700">
            <a:solidFill>
              <a:srgbClr val="E7E3DA"/>
            </a:solidFill>
            <a:prstDash val="solid"/>
          </a:ln>
        </p:spPr>
      </p:sp>
      <p:sp>
        <p:nvSpPr>
          <p:cNvPr id="10" name="Shape 7"/>
          <p:cNvSpPr/>
          <p:nvPr/>
        </p:nvSpPr>
        <p:spPr>
          <a:xfrm>
            <a:off x="566928" y="2999232"/>
            <a:ext cx="118872" cy="118872"/>
          </a:xfrm>
          <a:prstGeom prst="rect">
            <a:avLst/>
          </a:prstGeom>
          <a:solidFill>
            <a:srgbClr val="46D12A"/>
          </a:solidFill>
          <a:ln/>
        </p:spPr>
      </p:sp>
      <p:sp>
        <p:nvSpPr>
          <p:cNvPr id="11" name="Text 8"/>
          <p:cNvSpPr/>
          <p:nvPr/>
        </p:nvSpPr>
        <p:spPr>
          <a:xfrm>
            <a:off x="841248" y="29260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A website exists but brings no results</a:t>
            </a:r>
            <a:endParaRPr lang="en-US" sz="1300" dirty="0"/>
          </a:p>
        </p:txBody>
      </p:sp>
      <p:sp>
        <p:nvSpPr>
          <p:cNvPr id="12" name="Shape 9"/>
          <p:cNvSpPr/>
          <p:nvPr/>
        </p:nvSpPr>
        <p:spPr>
          <a:xfrm>
            <a:off x="566928" y="3310128"/>
            <a:ext cx="4663440" cy="0"/>
          </a:xfrm>
          <a:prstGeom prst="line">
            <a:avLst/>
          </a:prstGeom>
          <a:noFill/>
          <a:ln w="12700">
            <a:solidFill>
              <a:srgbClr val="E7E3DA"/>
            </a:solidFill>
            <a:prstDash val="solid"/>
          </a:ln>
        </p:spPr>
      </p:sp>
      <p:sp>
        <p:nvSpPr>
          <p:cNvPr id="13" name="Shape 10"/>
          <p:cNvSpPr/>
          <p:nvPr/>
        </p:nvSpPr>
        <p:spPr>
          <a:xfrm>
            <a:off x="566928" y="3456432"/>
            <a:ext cx="118872" cy="118872"/>
          </a:xfrm>
          <a:prstGeom prst="rect">
            <a:avLst/>
          </a:prstGeom>
          <a:solidFill>
            <a:srgbClr val="46D12A"/>
          </a:solidFill>
          <a:ln/>
        </p:spPr>
      </p:sp>
      <p:sp>
        <p:nvSpPr>
          <p:cNvPr id="14" name="Text 11"/>
          <p:cNvSpPr/>
          <p:nvPr/>
        </p:nvSpPr>
        <p:spPr>
          <a:xfrm>
            <a:off x="841248" y="33832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They don’t know what solution they need</a:t>
            </a:r>
            <a:endParaRPr lang="en-US" sz="1300" dirty="0"/>
          </a:p>
        </p:txBody>
      </p:sp>
      <p:sp>
        <p:nvSpPr>
          <p:cNvPr id="15" name="Shape 12"/>
          <p:cNvSpPr/>
          <p:nvPr/>
        </p:nvSpPr>
        <p:spPr>
          <a:xfrm>
            <a:off x="566928" y="3767328"/>
            <a:ext cx="4663440" cy="0"/>
          </a:xfrm>
          <a:prstGeom prst="line">
            <a:avLst/>
          </a:prstGeom>
          <a:noFill/>
          <a:ln w="12700">
            <a:solidFill>
              <a:srgbClr val="E7E3DA"/>
            </a:solidFill>
            <a:prstDash val="solid"/>
          </a:ln>
        </p:spPr>
      </p:sp>
      <p:sp>
        <p:nvSpPr>
          <p:cNvPr id="16" name="Shape 13"/>
          <p:cNvSpPr/>
          <p:nvPr/>
        </p:nvSpPr>
        <p:spPr>
          <a:xfrm>
            <a:off x="566928" y="3913632"/>
            <a:ext cx="118872" cy="118872"/>
          </a:xfrm>
          <a:prstGeom prst="rect">
            <a:avLst/>
          </a:prstGeom>
          <a:solidFill>
            <a:srgbClr val="46D12A"/>
          </a:solidFill>
          <a:ln/>
        </p:spPr>
      </p:sp>
      <p:sp>
        <p:nvSpPr>
          <p:cNvPr id="17" name="Text 14"/>
          <p:cNvSpPr/>
          <p:nvPr/>
        </p:nvSpPr>
        <p:spPr>
          <a:xfrm>
            <a:off x="841248" y="38404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The project became too complicated</a:t>
            </a:r>
            <a:endParaRPr lang="en-US" sz="1300" dirty="0"/>
          </a:p>
        </p:txBody>
      </p:sp>
      <p:sp>
        <p:nvSpPr>
          <p:cNvPr id="18" name="Shape 15"/>
          <p:cNvSpPr/>
          <p:nvPr/>
        </p:nvSpPr>
        <p:spPr>
          <a:xfrm>
            <a:off x="566928" y="4224528"/>
            <a:ext cx="4663440" cy="0"/>
          </a:xfrm>
          <a:prstGeom prst="line">
            <a:avLst/>
          </a:prstGeom>
          <a:noFill/>
          <a:ln w="12700">
            <a:solidFill>
              <a:srgbClr val="E7E3DA"/>
            </a:solidFill>
            <a:prstDash val="solid"/>
          </a:ln>
        </p:spPr>
      </p:sp>
      <p:sp>
        <p:nvSpPr>
          <p:cNvPr id="19" name="Shape 16"/>
          <p:cNvSpPr/>
          <p:nvPr/>
        </p:nvSpPr>
        <p:spPr>
          <a:xfrm>
            <a:off x="566928" y="4370832"/>
            <a:ext cx="118872" cy="118872"/>
          </a:xfrm>
          <a:prstGeom prst="rect">
            <a:avLst/>
          </a:prstGeom>
          <a:solidFill>
            <a:srgbClr val="46D12A"/>
          </a:solidFill>
          <a:ln/>
        </p:spPr>
      </p:sp>
      <p:sp>
        <p:nvSpPr>
          <p:cNvPr id="20" name="Text 17"/>
          <p:cNvSpPr/>
          <p:nvPr/>
        </p:nvSpPr>
        <p:spPr>
          <a:xfrm>
            <a:off x="841248" y="42976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The idea is good but unclear</a:t>
            </a:r>
            <a:endParaRPr lang="en-US" sz="1300" dirty="0"/>
          </a:p>
        </p:txBody>
      </p:sp>
      <p:sp>
        <p:nvSpPr>
          <p:cNvPr id="21" name="Shape 18"/>
          <p:cNvSpPr/>
          <p:nvPr/>
        </p:nvSpPr>
        <p:spPr>
          <a:xfrm>
            <a:off x="566928" y="4681728"/>
            <a:ext cx="4663440" cy="0"/>
          </a:xfrm>
          <a:prstGeom prst="line">
            <a:avLst/>
          </a:prstGeom>
          <a:noFill/>
          <a:ln w="12700">
            <a:solidFill>
              <a:srgbClr val="E7E3DA"/>
            </a:solidFill>
            <a:prstDash val="solid"/>
          </a:ln>
        </p:spPr>
      </p:sp>
      <p:sp>
        <p:nvSpPr>
          <p:cNvPr id="22" name="Shape 19"/>
          <p:cNvSpPr/>
          <p:nvPr/>
        </p:nvSpPr>
        <p:spPr>
          <a:xfrm>
            <a:off x="566928" y="4828032"/>
            <a:ext cx="118872" cy="118872"/>
          </a:xfrm>
          <a:prstGeom prst="rect">
            <a:avLst/>
          </a:prstGeom>
          <a:solidFill>
            <a:srgbClr val="46D12A"/>
          </a:solidFill>
          <a:ln/>
        </p:spPr>
      </p:sp>
      <p:sp>
        <p:nvSpPr>
          <p:cNvPr id="23" name="Text 20"/>
          <p:cNvSpPr/>
          <p:nvPr/>
        </p:nvSpPr>
        <p:spPr>
          <a:xfrm>
            <a:off x="841248" y="47548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Leads are getting lost</a:t>
            </a:r>
            <a:endParaRPr lang="en-US" sz="1300" dirty="0"/>
          </a:p>
        </p:txBody>
      </p:sp>
      <p:sp>
        <p:nvSpPr>
          <p:cNvPr id="24" name="Shape 21"/>
          <p:cNvSpPr/>
          <p:nvPr/>
        </p:nvSpPr>
        <p:spPr>
          <a:xfrm>
            <a:off x="566928" y="5138928"/>
            <a:ext cx="4663440" cy="0"/>
          </a:xfrm>
          <a:prstGeom prst="line">
            <a:avLst/>
          </a:prstGeom>
          <a:noFill/>
          <a:ln w="12700">
            <a:solidFill>
              <a:srgbClr val="E7E3DA"/>
            </a:solidFill>
            <a:prstDash val="solid"/>
          </a:ln>
        </p:spPr>
      </p:sp>
      <p:sp>
        <p:nvSpPr>
          <p:cNvPr id="25" name="Shape 22"/>
          <p:cNvSpPr/>
          <p:nvPr/>
        </p:nvSpPr>
        <p:spPr>
          <a:xfrm>
            <a:off x="566928" y="5285232"/>
            <a:ext cx="118872" cy="118872"/>
          </a:xfrm>
          <a:prstGeom prst="rect">
            <a:avLst/>
          </a:prstGeom>
          <a:solidFill>
            <a:srgbClr val="46D12A"/>
          </a:solidFill>
          <a:ln/>
        </p:spPr>
      </p:sp>
      <p:sp>
        <p:nvSpPr>
          <p:cNvPr id="26" name="Text 23"/>
          <p:cNvSpPr/>
          <p:nvPr/>
        </p:nvSpPr>
        <p:spPr>
          <a:xfrm>
            <a:off x="841248" y="52120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They need to launch quickly</a:t>
            </a:r>
            <a:endParaRPr lang="en-US" sz="1300" dirty="0"/>
          </a:p>
        </p:txBody>
      </p:sp>
      <p:sp>
        <p:nvSpPr>
          <p:cNvPr id="27" name="Shape 24"/>
          <p:cNvSpPr/>
          <p:nvPr/>
        </p:nvSpPr>
        <p:spPr>
          <a:xfrm>
            <a:off x="566928" y="5596128"/>
            <a:ext cx="4663440" cy="0"/>
          </a:xfrm>
          <a:prstGeom prst="line">
            <a:avLst/>
          </a:prstGeom>
          <a:noFill/>
          <a:ln w="12700">
            <a:solidFill>
              <a:srgbClr val="E7E3DA"/>
            </a:solidFill>
            <a:prstDash val="solid"/>
          </a:ln>
        </p:spPr>
      </p:sp>
      <p:sp>
        <p:nvSpPr>
          <p:cNvPr id="28" name="Text 25"/>
          <p:cNvSpPr/>
          <p:nvPr/>
        </p:nvSpPr>
        <p:spPr>
          <a:xfrm>
            <a:off x="6327648" y="2057400"/>
            <a:ext cx="4572000" cy="274320"/>
          </a:xfrm>
          <a:prstGeom prst="rect">
            <a:avLst/>
          </a:prstGeom>
          <a:noFill/>
          <a:ln/>
        </p:spPr>
        <p:txBody>
          <a:bodyPr wrap="square" lIns="0" tIns="0" rIns="0" bIns="0" rtlCol="0" anchor="ctr"/>
          <a:lstStyle/>
          <a:p>
            <a:pPr indent="0" marL="0">
              <a:buNone/>
            </a:pPr>
            <a:r>
              <a:rPr lang="en-US" sz="1100" b="1" spc="200" kern="0" dirty="0">
                <a:solidFill>
                  <a:srgbClr val="9A958A"/>
                </a:solidFill>
                <a:latin typeface="Trebuchet MS" pitchFamily="34" charset="0"/>
                <a:ea typeface="Trebuchet MS" pitchFamily="34" charset="-122"/>
                <a:cs typeface="Trebuchet MS" pitchFamily="34" charset="-120"/>
              </a:rPr>
              <a:t>GOOD-FIT CLIENTS</a:t>
            </a:r>
            <a:endParaRPr lang="en-US" sz="1100" dirty="0"/>
          </a:p>
        </p:txBody>
      </p:sp>
      <p:sp>
        <p:nvSpPr>
          <p:cNvPr id="29" name="Shape 26"/>
          <p:cNvSpPr/>
          <p:nvPr/>
        </p:nvSpPr>
        <p:spPr>
          <a:xfrm>
            <a:off x="6327648" y="2542032"/>
            <a:ext cx="118872" cy="118872"/>
          </a:xfrm>
          <a:prstGeom prst="rect">
            <a:avLst/>
          </a:prstGeom>
          <a:solidFill>
            <a:srgbClr val="46D12A"/>
          </a:solidFill>
          <a:ln/>
        </p:spPr>
      </p:sp>
      <p:sp>
        <p:nvSpPr>
          <p:cNvPr id="30" name="Text 27"/>
          <p:cNvSpPr/>
          <p:nvPr/>
        </p:nvSpPr>
        <p:spPr>
          <a:xfrm>
            <a:off x="6601968" y="24688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Service businesses &amp; agencies</a:t>
            </a:r>
            <a:endParaRPr lang="en-US" sz="1300" dirty="0"/>
          </a:p>
        </p:txBody>
      </p:sp>
      <p:sp>
        <p:nvSpPr>
          <p:cNvPr id="31" name="Shape 28"/>
          <p:cNvSpPr/>
          <p:nvPr/>
        </p:nvSpPr>
        <p:spPr>
          <a:xfrm>
            <a:off x="6327648" y="2852928"/>
            <a:ext cx="4663440" cy="0"/>
          </a:xfrm>
          <a:prstGeom prst="line">
            <a:avLst/>
          </a:prstGeom>
          <a:noFill/>
          <a:ln w="12700">
            <a:solidFill>
              <a:srgbClr val="E7E3DA"/>
            </a:solidFill>
            <a:prstDash val="solid"/>
          </a:ln>
        </p:spPr>
      </p:sp>
      <p:sp>
        <p:nvSpPr>
          <p:cNvPr id="32" name="Shape 29"/>
          <p:cNvSpPr/>
          <p:nvPr/>
        </p:nvSpPr>
        <p:spPr>
          <a:xfrm>
            <a:off x="6327648" y="2999232"/>
            <a:ext cx="118872" cy="118872"/>
          </a:xfrm>
          <a:prstGeom prst="rect">
            <a:avLst/>
          </a:prstGeom>
          <a:solidFill>
            <a:srgbClr val="46D12A"/>
          </a:solidFill>
          <a:ln/>
        </p:spPr>
      </p:sp>
      <p:sp>
        <p:nvSpPr>
          <p:cNvPr id="33" name="Text 30"/>
          <p:cNvSpPr/>
          <p:nvPr/>
        </p:nvSpPr>
        <p:spPr>
          <a:xfrm>
            <a:off x="6601968" y="29260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Clinics &amp; healthcare brands</a:t>
            </a:r>
            <a:endParaRPr lang="en-US" sz="1300" dirty="0"/>
          </a:p>
        </p:txBody>
      </p:sp>
      <p:sp>
        <p:nvSpPr>
          <p:cNvPr id="34" name="Shape 31"/>
          <p:cNvSpPr/>
          <p:nvPr/>
        </p:nvSpPr>
        <p:spPr>
          <a:xfrm>
            <a:off x="6327648" y="3310128"/>
            <a:ext cx="4663440" cy="0"/>
          </a:xfrm>
          <a:prstGeom prst="line">
            <a:avLst/>
          </a:prstGeom>
          <a:noFill/>
          <a:ln w="12700">
            <a:solidFill>
              <a:srgbClr val="E7E3DA"/>
            </a:solidFill>
            <a:prstDash val="solid"/>
          </a:ln>
        </p:spPr>
      </p:sp>
      <p:sp>
        <p:nvSpPr>
          <p:cNvPr id="35" name="Shape 32"/>
          <p:cNvSpPr/>
          <p:nvPr/>
        </p:nvSpPr>
        <p:spPr>
          <a:xfrm>
            <a:off x="6327648" y="3456432"/>
            <a:ext cx="118872" cy="118872"/>
          </a:xfrm>
          <a:prstGeom prst="rect">
            <a:avLst/>
          </a:prstGeom>
          <a:solidFill>
            <a:srgbClr val="46D12A"/>
          </a:solidFill>
          <a:ln/>
        </p:spPr>
      </p:sp>
      <p:sp>
        <p:nvSpPr>
          <p:cNvPr id="36" name="Text 33"/>
          <p:cNvSpPr/>
          <p:nvPr/>
        </p:nvSpPr>
        <p:spPr>
          <a:xfrm>
            <a:off x="6601968" y="33832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E-commerce businesses</a:t>
            </a:r>
            <a:endParaRPr lang="en-US" sz="1300" dirty="0"/>
          </a:p>
        </p:txBody>
      </p:sp>
      <p:sp>
        <p:nvSpPr>
          <p:cNvPr id="37" name="Shape 34"/>
          <p:cNvSpPr/>
          <p:nvPr/>
        </p:nvSpPr>
        <p:spPr>
          <a:xfrm>
            <a:off x="6327648" y="3767328"/>
            <a:ext cx="4663440" cy="0"/>
          </a:xfrm>
          <a:prstGeom prst="line">
            <a:avLst/>
          </a:prstGeom>
          <a:noFill/>
          <a:ln w="12700">
            <a:solidFill>
              <a:srgbClr val="E7E3DA"/>
            </a:solidFill>
            <a:prstDash val="solid"/>
          </a:ln>
        </p:spPr>
      </p:sp>
      <p:sp>
        <p:nvSpPr>
          <p:cNvPr id="38" name="Shape 35"/>
          <p:cNvSpPr/>
          <p:nvPr/>
        </p:nvSpPr>
        <p:spPr>
          <a:xfrm>
            <a:off x="6327648" y="3913632"/>
            <a:ext cx="118872" cy="118872"/>
          </a:xfrm>
          <a:prstGeom prst="rect">
            <a:avLst/>
          </a:prstGeom>
          <a:solidFill>
            <a:srgbClr val="46D12A"/>
          </a:solidFill>
          <a:ln/>
        </p:spPr>
      </p:sp>
      <p:sp>
        <p:nvSpPr>
          <p:cNvPr id="39" name="Text 36"/>
          <p:cNvSpPr/>
          <p:nvPr/>
        </p:nvSpPr>
        <p:spPr>
          <a:xfrm>
            <a:off x="6601968" y="38404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Restaurants &amp; cafes</a:t>
            </a:r>
            <a:endParaRPr lang="en-US" sz="1300" dirty="0"/>
          </a:p>
        </p:txBody>
      </p:sp>
      <p:sp>
        <p:nvSpPr>
          <p:cNvPr id="40" name="Shape 37"/>
          <p:cNvSpPr/>
          <p:nvPr/>
        </p:nvSpPr>
        <p:spPr>
          <a:xfrm>
            <a:off x="6327648" y="4224528"/>
            <a:ext cx="4663440" cy="0"/>
          </a:xfrm>
          <a:prstGeom prst="line">
            <a:avLst/>
          </a:prstGeom>
          <a:noFill/>
          <a:ln w="12700">
            <a:solidFill>
              <a:srgbClr val="E7E3DA"/>
            </a:solidFill>
            <a:prstDash val="solid"/>
          </a:ln>
        </p:spPr>
      </p:sp>
      <p:sp>
        <p:nvSpPr>
          <p:cNvPr id="41" name="Shape 38"/>
          <p:cNvSpPr/>
          <p:nvPr/>
        </p:nvSpPr>
        <p:spPr>
          <a:xfrm>
            <a:off x="6327648" y="4370832"/>
            <a:ext cx="118872" cy="118872"/>
          </a:xfrm>
          <a:prstGeom prst="rect">
            <a:avLst/>
          </a:prstGeom>
          <a:solidFill>
            <a:srgbClr val="46D12A"/>
          </a:solidFill>
          <a:ln/>
        </p:spPr>
      </p:sp>
      <p:sp>
        <p:nvSpPr>
          <p:cNvPr id="42" name="Text 39"/>
          <p:cNvSpPr/>
          <p:nvPr/>
        </p:nvSpPr>
        <p:spPr>
          <a:xfrm>
            <a:off x="6601968" y="42976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Fitness &amp; wellness brands</a:t>
            </a:r>
            <a:endParaRPr lang="en-US" sz="1300" dirty="0"/>
          </a:p>
        </p:txBody>
      </p:sp>
      <p:sp>
        <p:nvSpPr>
          <p:cNvPr id="43" name="Shape 40"/>
          <p:cNvSpPr/>
          <p:nvPr/>
        </p:nvSpPr>
        <p:spPr>
          <a:xfrm>
            <a:off x="6327648" y="4681728"/>
            <a:ext cx="4663440" cy="0"/>
          </a:xfrm>
          <a:prstGeom prst="line">
            <a:avLst/>
          </a:prstGeom>
          <a:noFill/>
          <a:ln w="12700">
            <a:solidFill>
              <a:srgbClr val="E7E3DA"/>
            </a:solidFill>
            <a:prstDash val="solid"/>
          </a:ln>
        </p:spPr>
      </p:sp>
      <p:sp>
        <p:nvSpPr>
          <p:cNvPr id="44" name="Shape 41"/>
          <p:cNvSpPr/>
          <p:nvPr/>
        </p:nvSpPr>
        <p:spPr>
          <a:xfrm>
            <a:off x="6327648" y="4828032"/>
            <a:ext cx="118872" cy="118872"/>
          </a:xfrm>
          <a:prstGeom prst="rect">
            <a:avLst/>
          </a:prstGeom>
          <a:solidFill>
            <a:srgbClr val="46D12A"/>
          </a:solidFill>
          <a:ln/>
        </p:spPr>
      </p:sp>
      <p:sp>
        <p:nvSpPr>
          <p:cNvPr id="45" name="Text 42"/>
          <p:cNvSpPr/>
          <p:nvPr/>
        </p:nvSpPr>
        <p:spPr>
          <a:xfrm>
            <a:off x="6601968" y="47548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Real estate &amp; architecture</a:t>
            </a:r>
            <a:endParaRPr lang="en-US" sz="1300" dirty="0"/>
          </a:p>
        </p:txBody>
      </p:sp>
      <p:sp>
        <p:nvSpPr>
          <p:cNvPr id="46" name="Shape 43"/>
          <p:cNvSpPr/>
          <p:nvPr/>
        </p:nvSpPr>
        <p:spPr>
          <a:xfrm>
            <a:off x="6327648" y="5138928"/>
            <a:ext cx="4663440" cy="0"/>
          </a:xfrm>
          <a:prstGeom prst="line">
            <a:avLst/>
          </a:prstGeom>
          <a:noFill/>
          <a:ln w="12700">
            <a:solidFill>
              <a:srgbClr val="E7E3DA"/>
            </a:solidFill>
            <a:prstDash val="solid"/>
          </a:ln>
        </p:spPr>
      </p:sp>
      <p:sp>
        <p:nvSpPr>
          <p:cNvPr id="47" name="Shape 44"/>
          <p:cNvSpPr/>
          <p:nvPr/>
        </p:nvSpPr>
        <p:spPr>
          <a:xfrm>
            <a:off x="6327648" y="5285232"/>
            <a:ext cx="118872" cy="118872"/>
          </a:xfrm>
          <a:prstGeom prst="rect">
            <a:avLst/>
          </a:prstGeom>
          <a:solidFill>
            <a:srgbClr val="46D12A"/>
          </a:solidFill>
          <a:ln/>
        </p:spPr>
      </p:sp>
      <p:sp>
        <p:nvSpPr>
          <p:cNvPr id="48" name="Text 45"/>
          <p:cNvSpPr/>
          <p:nvPr/>
        </p:nvSpPr>
        <p:spPr>
          <a:xfrm>
            <a:off x="6601968" y="5212080"/>
            <a:ext cx="4480560" cy="310896"/>
          </a:xfrm>
          <a:prstGeom prst="rect">
            <a:avLst/>
          </a:prstGeom>
          <a:noFill/>
          <a:ln/>
        </p:spPr>
        <p:txBody>
          <a:bodyPr wrap="square" lIns="0" tIns="0" rIns="0" bIns="0" rtlCol="0" anchor="ctr"/>
          <a:lstStyle/>
          <a:p>
            <a:pPr indent="0" marL="0">
              <a:buNone/>
            </a:pPr>
            <a:r>
              <a:rPr lang="en-US" sz="1300" dirty="0">
                <a:solidFill>
                  <a:srgbClr val="0E0E0E"/>
                </a:solidFill>
                <a:latin typeface="Calibri" pitchFamily="34" charset="0"/>
                <a:ea typeface="Calibri" pitchFamily="34" charset="-122"/>
                <a:cs typeface="Calibri" pitchFamily="34" charset="-120"/>
              </a:rPr>
              <a:t>Startups &amp; production companies</a:t>
            </a:r>
            <a:endParaRPr lang="en-US" sz="1300" dirty="0"/>
          </a:p>
        </p:txBody>
      </p:sp>
      <p:sp>
        <p:nvSpPr>
          <p:cNvPr id="49" name="Shape 46"/>
          <p:cNvSpPr/>
          <p:nvPr/>
        </p:nvSpPr>
        <p:spPr>
          <a:xfrm>
            <a:off x="6327648" y="5596128"/>
            <a:ext cx="4663440" cy="0"/>
          </a:xfrm>
          <a:prstGeom prst="line">
            <a:avLst/>
          </a:prstGeom>
          <a:noFill/>
          <a:ln w="12700">
            <a:solidFill>
              <a:srgbClr val="E7E3DA"/>
            </a:solidFill>
            <a:prstDash val="solid"/>
          </a:ln>
        </p:spPr>
      </p:sp>
      <p:sp>
        <p:nvSpPr>
          <p:cNvPr id="50" name="Shape 47"/>
          <p:cNvSpPr/>
          <p:nvPr/>
        </p:nvSpPr>
        <p:spPr>
          <a:xfrm>
            <a:off x="566928" y="5897880"/>
            <a:ext cx="64008" cy="868680"/>
          </a:xfrm>
          <a:prstGeom prst="rect">
            <a:avLst/>
          </a:prstGeom>
          <a:solidFill>
            <a:srgbClr val="46D12A"/>
          </a:solidFill>
          <a:ln/>
        </p:spPr>
      </p:sp>
      <p:sp>
        <p:nvSpPr>
          <p:cNvPr id="51" name="Text 48"/>
          <p:cNvSpPr/>
          <p:nvPr/>
        </p:nvSpPr>
        <p:spPr>
          <a:xfrm>
            <a:off x="768096" y="5852160"/>
            <a:ext cx="10607040" cy="960120"/>
          </a:xfrm>
          <a:prstGeom prst="rect">
            <a:avLst/>
          </a:prstGeom>
          <a:noFill/>
          <a:ln/>
        </p:spPr>
        <p:txBody>
          <a:bodyPr wrap="square" lIns="0" tIns="0" rIns="0" bIns="0" rtlCol="0" anchor="ctr"/>
          <a:lstStyle/>
          <a:p>
            <a:pPr indent="0" marL="0">
              <a:lnSpc>
                <a:spcPct val="105000"/>
              </a:lnSpc>
              <a:buNone/>
            </a:pPr>
            <a:r>
              <a:rPr lang="en-US" sz="1800" b="1" dirty="0">
                <a:solidFill>
                  <a:srgbClr val="0E0E0E"/>
                </a:solidFill>
                <a:latin typeface="Trebuchet MS" pitchFamily="34" charset="0"/>
                <a:ea typeface="Trebuchet MS" pitchFamily="34" charset="-122"/>
                <a:cs typeface="Trebuchet MS" pitchFamily="34" charset="-120"/>
              </a:rPr>
              <a:t>The best clients are defined by attitude, not industry — </a:t>
            </a:r>
            <a:pPr indent="0" marL="0">
              <a:lnSpc>
                <a:spcPct val="105000"/>
              </a:lnSpc>
              <a:buNone/>
            </a:pPr>
            <a:r>
              <a:rPr lang="en-US" sz="1800" b="1" dirty="0">
                <a:solidFill>
                  <a:srgbClr val="2E8E1B"/>
                </a:solidFill>
                <a:latin typeface="Trebuchet MS" pitchFamily="34" charset="0"/>
                <a:ea typeface="Trebuchet MS" pitchFamily="34" charset="-122"/>
                <a:cs typeface="Trebuchet MS" pitchFamily="34" charset="-120"/>
              </a:rPr>
              <a:t>clear, honest, and ready for useful work.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pic>
        <p:nvPicPr>
          <p:cNvPr id="2" name="Image 0" descr="/home/claude/logo_white.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5C5C56"/>
                </a:solidFill>
                <a:latin typeface="Trebuchet MS" pitchFamily="34" charset="0"/>
                <a:ea typeface="Trebuchet MS" pitchFamily="34" charset="-122"/>
                <a:cs typeface="Trebuchet MS" pitchFamily="34" charset="-120"/>
              </a:rPr>
              <a:t>13</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46D12A"/>
                </a:solidFill>
                <a:latin typeface="Trebuchet MS" pitchFamily="34" charset="0"/>
                <a:ea typeface="Trebuchet MS" pitchFamily="34" charset="-122"/>
                <a:cs typeface="Trebuchet MS" pitchFamily="34" charset="-120"/>
              </a:rPr>
              <a:t>WHAT WE VALUE</a:t>
            </a:r>
            <a:endParaRPr lang="en-US" sz="1100" dirty="0"/>
          </a:p>
        </p:txBody>
      </p:sp>
      <p:sp>
        <p:nvSpPr>
          <p:cNvPr id="5" name="Text 2"/>
          <p:cNvSpPr/>
          <p:nvPr/>
        </p:nvSpPr>
        <p:spPr>
          <a:xfrm>
            <a:off x="566928" y="859536"/>
            <a:ext cx="8229600" cy="1188720"/>
          </a:xfrm>
          <a:prstGeom prst="rect">
            <a:avLst/>
          </a:prstGeom>
          <a:noFill/>
          <a:ln/>
        </p:spPr>
        <p:txBody>
          <a:bodyPr wrap="square" lIns="0" tIns="0" rIns="0" bIns="0" rtlCol="0" anchor="t"/>
          <a:lstStyle/>
          <a:p>
            <a:pPr indent="0" marL="0">
              <a:lnSpc>
                <a:spcPct val="98000"/>
              </a:lnSpc>
              <a:buNone/>
            </a:pPr>
            <a:r>
              <a:rPr lang="en-US" sz="3000" b="1" dirty="0">
                <a:solidFill>
                  <a:srgbClr val="FFFFFF"/>
                </a:solidFill>
                <a:latin typeface="Trebuchet MS" pitchFamily="34" charset="0"/>
                <a:ea typeface="Trebuchet MS" pitchFamily="34" charset="-122"/>
                <a:cs typeface="Trebuchet MS" pitchFamily="34" charset="-120"/>
              </a:rPr>
              <a:t>Six things we refuse to skip.</a:t>
            </a:r>
            <a:endParaRPr lang="en-US" sz="3000" dirty="0"/>
          </a:p>
        </p:txBody>
      </p:sp>
      <p:sp>
        <p:nvSpPr>
          <p:cNvPr id="6" name="Shape 3"/>
          <p:cNvSpPr/>
          <p:nvPr/>
        </p:nvSpPr>
        <p:spPr>
          <a:xfrm>
            <a:off x="566928" y="2011680"/>
            <a:ext cx="3520440" cy="1627632"/>
          </a:xfrm>
          <a:prstGeom prst="roundRect">
            <a:avLst>
              <a:gd name="adj" fmla="val 5056"/>
            </a:avLst>
          </a:prstGeom>
          <a:solidFill>
            <a:srgbClr val="141414"/>
          </a:solidFill>
          <a:ln w="12700">
            <a:solidFill>
              <a:srgbClr val="262626"/>
            </a:solidFill>
            <a:prstDash val="solid"/>
          </a:ln>
        </p:spPr>
      </p:sp>
      <p:sp>
        <p:nvSpPr>
          <p:cNvPr id="7" name="Shape 4"/>
          <p:cNvSpPr/>
          <p:nvPr/>
        </p:nvSpPr>
        <p:spPr>
          <a:xfrm>
            <a:off x="841248" y="2286000"/>
            <a:ext cx="530352" cy="530352"/>
          </a:xfrm>
          <a:prstGeom prst="ellipse">
            <a:avLst/>
          </a:prstGeom>
          <a:solidFill>
            <a:srgbClr val="46D12A"/>
          </a:solidFill>
          <a:ln/>
        </p:spPr>
      </p:sp>
      <p:pic>
        <p:nvPicPr>
          <p:cNvPr id="8" name="Image 1" descr="preencoded.png">    </p:cNvPr>
          <p:cNvPicPr>
            <a:picLocks noChangeAspect="1"/>
          </p:cNvPicPr>
          <p:nvPr/>
        </p:nvPicPr>
        <p:blipFill>
          <a:blip r:embed="rId2"/>
          <a:stretch>
            <a:fillRect/>
          </a:stretch>
        </p:blipFill>
        <p:spPr>
          <a:xfrm>
            <a:off x="984443" y="2429195"/>
            <a:ext cx="243962" cy="243962"/>
          </a:xfrm>
          <a:prstGeom prst="rect">
            <a:avLst/>
          </a:prstGeom>
        </p:spPr>
      </p:pic>
      <p:sp>
        <p:nvSpPr>
          <p:cNvPr id="9" name="Text 5"/>
          <p:cNvSpPr/>
          <p:nvPr/>
        </p:nvSpPr>
        <p:spPr>
          <a:xfrm>
            <a:off x="1481328" y="2304288"/>
            <a:ext cx="2423160" cy="5029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Clarity</a:t>
            </a:r>
            <a:endParaRPr lang="en-US" sz="1500" dirty="0"/>
          </a:p>
        </p:txBody>
      </p:sp>
      <p:sp>
        <p:nvSpPr>
          <p:cNvPr id="10" name="Text 6"/>
          <p:cNvSpPr/>
          <p:nvPr/>
        </p:nvSpPr>
        <p:spPr>
          <a:xfrm>
            <a:off x="841248" y="2907792"/>
            <a:ext cx="2971800" cy="640080"/>
          </a:xfrm>
          <a:prstGeom prst="rect">
            <a:avLst/>
          </a:prstGeom>
          <a:noFill/>
          <a:ln/>
        </p:spPr>
        <p:txBody>
          <a:bodyPr wrap="square" lIns="0" tIns="0" rIns="0" bIns="0" rtlCol="0" anchor="ctr"/>
          <a:lstStyle/>
          <a:p>
            <a:pPr indent="0" marL="0">
              <a:lnSpc>
                <a:spcPct val="115000"/>
              </a:lnSpc>
              <a:buNone/>
            </a:pPr>
            <a:r>
              <a:rPr lang="en-US" sz="1150" dirty="0">
                <a:solidFill>
                  <a:srgbClr val="9A9A94"/>
                </a:solidFill>
                <a:latin typeface="Calibri" pitchFamily="34" charset="0"/>
                <a:ea typeface="Calibri" pitchFamily="34" charset="-122"/>
                <a:cs typeface="Calibri" pitchFamily="34" charset="-120"/>
              </a:rPr>
              <a:t>If people cannot understand it, it is not ready yet.</a:t>
            </a:r>
            <a:endParaRPr lang="en-US" sz="1150" dirty="0"/>
          </a:p>
        </p:txBody>
      </p:sp>
      <p:sp>
        <p:nvSpPr>
          <p:cNvPr id="11" name="Shape 7"/>
          <p:cNvSpPr/>
          <p:nvPr/>
        </p:nvSpPr>
        <p:spPr>
          <a:xfrm>
            <a:off x="4379976" y="2011680"/>
            <a:ext cx="3520440" cy="1627632"/>
          </a:xfrm>
          <a:prstGeom prst="roundRect">
            <a:avLst>
              <a:gd name="adj" fmla="val 5056"/>
            </a:avLst>
          </a:prstGeom>
          <a:solidFill>
            <a:srgbClr val="141414"/>
          </a:solidFill>
          <a:ln w="12700">
            <a:solidFill>
              <a:srgbClr val="262626"/>
            </a:solidFill>
            <a:prstDash val="solid"/>
          </a:ln>
        </p:spPr>
      </p:sp>
      <p:sp>
        <p:nvSpPr>
          <p:cNvPr id="12" name="Shape 8"/>
          <p:cNvSpPr/>
          <p:nvPr/>
        </p:nvSpPr>
        <p:spPr>
          <a:xfrm>
            <a:off x="4654296" y="2286000"/>
            <a:ext cx="530352" cy="530352"/>
          </a:xfrm>
          <a:prstGeom prst="ellipse">
            <a:avLst/>
          </a:prstGeom>
          <a:solidFill>
            <a:srgbClr val="46D12A"/>
          </a:solidFill>
          <a:ln/>
        </p:spPr>
      </p:sp>
      <p:pic>
        <p:nvPicPr>
          <p:cNvPr id="13" name="Image 2" descr="preencoded.png">    </p:cNvPr>
          <p:cNvPicPr>
            <a:picLocks noChangeAspect="1"/>
          </p:cNvPicPr>
          <p:nvPr/>
        </p:nvPicPr>
        <p:blipFill>
          <a:blip r:embed="rId3"/>
          <a:stretch>
            <a:fillRect/>
          </a:stretch>
        </p:blipFill>
        <p:spPr>
          <a:xfrm>
            <a:off x="4797491" y="2429195"/>
            <a:ext cx="243962" cy="243962"/>
          </a:xfrm>
          <a:prstGeom prst="rect">
            <a:avLst/>
          </a:prstGeom>
        </p:spPr>
      </p:pic>
      <p:sp>
        <p:nvSpPr>
          <p:cNvPr id="14" name="Text 9"/>
          <p:cNvSpPr/>
          <p:nvPr/>
        </p:nvSpPr>
        <p:spPr>
          <a:xfrm>
            <a:off x="5294376" y="2304288"/>
            <a:ext cx="2423160" cy="5029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Honesty</a:t>
            </a:r>
            <a:endParaRPr lang="en-US" sz="1500" dirty="0"/>
          </a:p>
        </p:txBody>
      </p:sp>
      <p:sp>
        <p:nvSpPr>
          <p:cNvPr id="15" name="Text 10"/>
          <p:cNvSpPr/>
          <p:nvPr/>
        </p:nvSpPr>
        <p:spPr>
          <a:xfrm>
            <a:off x="4654296" y="2907792"/>
            <a:ext cx="2971800" cy="640080"/>
          </a:xfrm>
          <a:prstGeom prst="rect">
            <a:avLst/>
          </a:prstGeom>
          <a:noFill/>
          <a:ln/>
        </p:spPr>
        <p:txBody>
          <a:bodyPr wrap="square" lIns="0" tIns="0" rIns="0" bIns="0" rtlCol="0" anchor="ctr"/>
          <a:lstStyle/>
          <a:p>
            <a:pPr indent="0" marL="0">
              <a:lnSpc>
                <a:spcPct val="115000"/>
              </a:lnSpc>
              <a:buNone/>
            </a:pPr>
            <a:r>
              <a:rPr lang="en-US" sz="1150" dirty="0">
                <a:solidFill>
                  <a:srgbClr val="9A9A94"/>
                </a:solidFill>
                <a:latin typeface="Calibri" pitchFamily="34" charset="0"/>
                <a:ea typeface="Calibri" pitchFamily="34" charset="-122"/>
                <a:cs typeface="Calibri" pitchFamily="34" charset="-120"/>
              </a:rPr>
              <a:t>We suggest what makes sense, not what makes the invoice bigger.</a:t>
            </a:r>
            <a:endParaRPr lang="en-US" sz="1150" dirty="0"/>
          </a:p>
        </p:txBody>
      </p:sp>
      <p:sp>
        <p:nvSpPr>
          <p:cNvPr id="16" name="Shape 11"/>
          <p:cNvSpPr/>
          <p:nvPr/>
        </p:nvSpPr>
        <p:spPr>
          <a:xfrm>
            <a:off x="8193024" y="2011680"/>
            <a:ext cx="3520440" cy="1627632"/>
          </a:xfrm>
          <a:prstGeom prst="roundRect">
            <a:avLst>
              <a:gd name="adj" fmla="val 5056"/>
            </a:avLst>
          </a:prstGeom>
          <a:solidFill>
            <a:srgbClr val="141414"/>
          </a:solidFill>
          <a:ln w="12700">
            <a:solidFill>
              <a:srgbClr val="262626"/>
            </a:solidFill>
            <a:prstDash val="solid"/>
          </a:ln>
        </p:spPr>
      </p:sp>
      <p:sp>
        <p:nvSpPr>
          <p:cNvPr id="17" name="Shape 12"/>
          <p:cNvSpPr/>
          <p:nvPr/>
        </p:nvSpPr>
        <p:spPr>
          <a:xfrm>
            <a:off x="8467344" y="2286000"/>
            <a:ext cx="530352" cy="530352"/>
          </a:xfrm>
          <a:prstGeom prst="ellipse">
            <a:avLst/>
          </a:prstGeom>
          <a:solidFill>
            <a:srgbClr val="46D12A"/>
          </a:solidFill>
          <a:ln/>
        </p:spPr>
      </p:sp>
      <p:pic>
        <p:nvPicPr>
          <p:cNvPr id="18" name="Image 3" descr="preencoded.png">    </p:cNvPr>
          <p:cNvPicPr>
            <a:picLocks noChangeAspect="1"/>
          </p:cNvPicPr>
          <p:nvPr/>
        </p:nvPicPr>
        <p:blipFill>
          <a:blip r:embed="rId4"/>
          <a:stretch>
            <a:fillRect/>
          </a:stretch>
        </p:blipFill>
        <p:spPr>
          <a:xfrm>
            <a:off x="8610539" y="2429195"/>
            <a:ext cx="243962" cy="243962"/>
          </a:xfrm>
          <a:prstGeom prst="rect">
            <a:avLst/>
          </a:prstGeom>
        </p:spPr>
      </p:pic>
      <p:sp>
        <p:nvSpPr>
          <p:cNvPr id="19" name="Text 13"/>
          <p:cNvSpPr/>
          <p:nvPr/>
        </p:nvSpPr>
        <p:spPr>
          <a:xfrm>
            <a:off x="9107424" y="2304288"/>
            <a:ext cx="2423160" cy="5029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Care</a:t>
            </a:r>
            <a:endParaRPr lang="en-US" sz="1500" dirty="0"/>
          </a:p>
        </p:txBody>
      </p:sp>
      <p:sp>
        <p:nvSpPr>
          <p:cNvPr id="20" name="Text 14"/>
          <p:cNvSpPr/>
          <p:nvPr/>
        </p:nvSpPr>
        <p:spPr>
          <a:xfrm>
            <a:off x="8467344" y="2907792"/>
            <a:ext cx="2971800" cy="640080"/>
          </a:xfrm>
          <a:prstGeom prst="rect">
            <a:avLst/>
          </a:prstGeom>
          <a:noFill/>
          <a:ln/>
        </p:spPr>
        <p:txBody>
          <a:bodyPr wrap="square" lIns="0" tIns="0" rIns="0" bIns="0" rtlCol="0" anchor="ctr"/>
          <a:lstStyle/>
          <a:p>
            <a:pPr indent="0" marL="0">
              <a:lnSpc>
                <a:spcPct val="115000"/>
              </a:lnSpc>
              <a:buNone/>
            </a:pPr>
            <a:r>
              <a:rPr lang="en-US" sz="1150" dirty="0">
                <a:solidFill>
                  <a:srgbClr val="9A9A94"/>
                </a:solidFill>
                <a:latin typeface="Calibri" pitchFamily="34" charset="0"/>
                <a:ea typeface="Calibri" pitchFamily="34" charset="-122"/>
                <a:cs typeface="Calibri" pitchFamily="34" charset="-120"/>
              </a:rPr>
              <a:t>Small team means real attention — for the work and the person.</a:t>
            </a:r>
            <a:endParaRPr lang="en-US" sz="1150" dirty="0"/>
          </a:p>
        </p:txBody>
      </p:sp>
      <p:sp>
        <p:nvSpPr>
          <p:cNvPr id="21" name="Shape 15"/>
          <p:cNvSpPr/>
          <p:nvPr/>
        </p:nvSpPr>
        <p:spPr>
          <a:xfrm>
            <a:off x="566928" y="3867912"/>
            <a:ext cx="3520440" cy="1627632"/>
          </a:xfrm>
          <a:prstGeom prst="roundRect">
            <a:avLst>
              <a:gd name="adj" fmla="val 5056"/>
            </a:avLst>
          </a:prstGeom>
          <a:solidFill>
            <a:srgbClr val="141414"/>
          </a:solidFill>
          <a:ln w="12700">
            <a:solidFill>
              <a:srgbClr val="262626"/>
            </a:solidFill>
            <a:prstDash val="solid"/>
          </a:ln>
        </p:spPr>
      </p:sp>
      <p:sp>
        <p:nvSpPr>
          <p:cNvPr id="22" name="Shape 16"/>
          <p:cNvSpPr/>
          <p:nvPr/>
        </p:nvSpPr>
        <p:spPr>
          <a:xfrm>
            <a:off x="841248" y="4142232"/>
            <a:ext cx="530352" cy="530352"/>
          </a:xfrm>
          <a:prstGeom prst="ellipse">
            <a:avLst/>
          </a:prstGeom>
          <a:solidFill>
            <a:srgbClr val="46D12A"/>
          </a:solidFill>
          <a:ln/>
        </p:spPr>
      </p:sp>
      <p:pic>
        <p:nvPicPr>
          <p:cNvPr id="23" name="Image 4" descr="preencoded.png">    </p:cNvPr>
          <p:cNvPicPr>
            <a:picLocks noChangeAspect="1"/>
          </p:cNvPicPr>
          <p:nvPr/>
        </p:nvPicPr>
        <p:blipFill>
          <a:blip r:embed="rId5"/>
          <a:stretch>
            <a:fillRect/>
          </a:stretch>
        </p:blipFill>
        <p:spPr>
          <a:xfrm>
            <a:off x="984443" y="4285427"/>
            <a:ext cx="243962" cy="243962"/>
          </a:xfrm>
          <a:prstGeom prst="rect">
            <a:avLst/>
          </a:prstGeom>
        </p:spPr>
      </p:pic>
      <p:sp>
        <p:nvSpPr>
          <p:cNvPr id="24" name="Text 17"/>
          <p:cNvSpPr/>
          <p:nvPr/>
        </p:nvSpPr>
        <p:spPr>
          <a:xfrm>
            <a:off x="1481328" y="4160520"/>
            <a:ext cx="2423160" cy="5029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Usefulness</a:t>
            </a:r>
            <a:endParaRPr lang="en-US" sz="1500" dirty="0"/>
          </a:p>
        </p:txBody>
      </p:sp>
      <p:sp>
        <p:nvSpPr>
          <p:cNvPr id="25" name="Text 18"/>
          <p:cNvSpPr/>
          <p:nvPr/>
        </p:nvSpPr>
        <p:spPr>
          <a:xfrm>
            <a:off x="841248" y="4764024"/>
            <a:ext cx="2971800" cy="640080"/>
          </a:xfrm>
          <a:prstGeom prst="rect">
            <a:avLst/>
          </a:prstGeom>
          <a:noFill/>
          <a:ln/>
        </p:spPr>
        <p:txBody>
          <a:bodyPr wrap="square" lIns="0" tIns="0" rIns="0" bIns="0" rtlCol="0" anchor="ctr"/>
          <a:lstStyle/>
          <a:p>
            <a:pPr indent="0" marL="0">
              <a:lnSpc>
                <a:spcPct val="115000"/>
              </a:lnSpc>
              <a:buNone/>
            </a:pPr>
            <a:r>
              <a:rPr lang="en-US" sz="1150" dirty="0">
                <a:solidFill>
                  <a:srgbClr val="9A9A94"/>
                </a:solidFill>
                <a:latin typeface="Calibri" pitchFamily="34" charset="0"/>
                <a:ea typeface="Calibri" pitchFamily="34" charset="-122"/>
                <a:cs typeface="Calibri" pitchFamily="34" charset="-120"/>
              </a:rPr>
              <a:t>Looking good is nice. Working well is better. We aim for both.</a:t>
            </a:r>
            <a:endParaRPr lang="en-US" sz="1150" dirty="0"/>
          </a:p>
        </p:txBody>
      </p:sp>
      <p:sp>
        <p:nvSpPr>
          <p:cNvPr id="26" name="Shape 19"/>
          <p:cNvSpPr/>
          <p:nvPr/>
        </p:nvSpPr>
        <p:spPr>
          <a:xfrm>
            <a:off x="4379976" y="3867912"/>
            <a:ext cx="3520440" cy="1627632"/>
          </a:xfrm>
          <a:prstGeom prst="roundRect">
            <a:avLst>
              <a:gd name="adj" fmla="val 5056"/>
            </a:avLst>
          </a:prstGeom>
          <a:solidFill>
            <a:srgbClr val="141414"/>
          </a:solidFill>
          <a:ln w="12700">
            <a:solidFill>
              <a:srgbClr val="262626"/>
            </a:solidFill>
            <a:prstDash val="solid"/>
          </a:ln>
        </p:spPr>
      </p:sp>
      <p:sp>
        <p:nvSpPr>
          <p:cNvPr id="27" name="Shape 20"/>
          <p:cNvSpPr/>
          <p:nvPr/>
        </p:nvSpPr>
        <p:spPr>
          <a:xfrm>
            <a:off x="4654296" y="4142232"/>
            <a:ext cx="530352" cy="530352"/>
          </a:xfrm>
          <a:prstGeom prst="ellipse">
            <a:avLst/>
          </a:prstGeom>
          <a:solidFill>
            <a:srgbClr val="46D12A"/>
          </a:solidFill>
          <a:ln/>
        </p:spPr>
      </p:sp>
      <p:pic>
        <p:nvPicPr>
          <p:cNvPr id="28" name="Image 5" descr="preencoded.png">    </p:cNvPr>
          <p:cNvPicPr>
            <a:picLocks noChangeAspect="1"/>
          </p:cNvPicPr>
          <p:nvPr/>
        </p:nvPicPr>
        <p:blipFill>
          <a:blip r:embed="rId6"/>
          <a:stretch>
            <a:fillRect/>
          </a:stretch>
        </p:blipFill>
        <p:spPr>
          <a:xfrm>
            <a:off x="4797491" y="4285427"/>
            <a:ext cx="243962" cy="243962"/>
          </a:xfrm>
          <a:prstGeom prst="rect">
            <a:avLst/>
          </a:prstGeom>
        </p:spPr>
      </p:pic>
      <p:sp>
        <p:nvSpPr>
          <p:cNvPr id="29" name="Text 21"/>
          <p:cNvSpPr/>
          <p:nvPr/>
        </p:nvSpPr>
        <p:spPr>
          <a:xfrm>
            <a:off x="5294376" y="4160520"/>
            <a:ext cx="2423160" cy="5029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Creativity</a:t>
            </a:r>
            <a:endParaRPr lang="en-US" sz="1500" dirty="0"/>
          </a:p>
        </p:txBody>
      </p:sp>
      <p:sp>
        <p:nvSpPr>
          <p:cNvPr id="30" name="Text 22"/>
          <p:cNvSpPr/>
          <p:nvPr/>
        </p:nvSpPr>
        <p:spPr>
          <a:xfrm>
            <a:off x="4654296" y="4764024"/>
            <a:ext cx="2971800" cy="640080"/>
          </a:xfrm>
          <a:prstGeom prst="rect">
            <a:avLst/>
          </a:prstGeom>
          <a:noFill/>
          <a:ln/>
        </p:spPr>
        <p:txBody>
          <a:bodyPr wrap="square" lIns="0" tIns="0" rIns="0" bIns="0" rtlCol="0" anchor="ctr"/>
          <a:lstStyle/>
          <a:p>
            <a:pPr indent="0" marL="0">
              <a:lnSpc>
                <a:spcPct val="115000"/>
              </a:lnSpc>
              <a:buNone/>
            </a:pPr>
            <a:r>
              <a:rPr lang="en-US" sz="1150" dirty="0">
                <a:solidFill>
                  <a:srgbClr val="9A9A94"/>
                </a:solidFill>
                <a:latin typeface="Calibri" pitchFamily="34" charset="0"/>
                <a:ea typeface="Calibri" pitchFamily="34" charset="-122"/>
                <a:cs typeface="Calibri" pitchFamily="34" charset="-120"/>
              </a:rPr>
              <a:t>Creative does not mean complicated. The best solution feels obvious.</a:t>
            </a:r>
            <a:endParaRPr lang="en-US" sz="1150" dirty="0"/>
          </a:p>
        </p:txBody>
      </p:sp>
      <p:sp>
        <p:nvSpPr>
          <p:cNvPr id="31" name="Shape 23"/>
          <p:cNvSpPr/>
          <p:nvPr/>
        </p:nvSpPr>
        <p:spPr>
          <a:xfrm>
            <a:off x="8193024" y="3867912"/>
            <a:ext cx="3520440" cy="1627632"/>
          </a:xfrm>
          <a:prstGeom prst="roundRect">
            <a:avLst>
              <a:gd name="adj" fmla="val 5056"/>
            </a:avLst>
          </a:prstGeom>
          <a:solidFill>
            <a:srgbClr val="141414"/>
          </a:solidFill>
          <a:ln w="12700">
            <a:solidFill>
              <a:srgbClr val="262626"/>
            </a:solidFill>
            <a:prstDash val="solid"/>
          </a:ln>
        </p:spPr>
      </p:sp>
      <p:sp>
        <p:nvSpPr>
          <p:cNvPr id="32" name="Shape 24"/>
          <p:cNvSpPr/>
          <p:nvPr/>
        </p:nvSpPr>
        <p:spPr>
          <a:xfrm>
            <a:off x="8467344" y="4142232"/>
            <a:ext cx="530352" cy="530352"/>
          </a:xfrm>
          <a:prstGeom prst="ellipse">
            <a:avLst/>
          </a:prstGeom>
          <a:solidFill>
            <a:srgbClr val="46D12A"/>
          </a:solidFill>
          <a:ln/>
        </p:spPr>
      </p:sp>
      <p:pic>
        <p:nvPicPr>
          <p:cNvPr id="33" name="Image 6" descr="preencoded.png">    </p:cNvPr>
          <p:cNvPicPr>
            <a:picLocks noChangeAspect="1"/>
          </p:cNvPicPr>
          <p:nvPr/>
        </p:nvPicPr>
        <p:blipFill>
          <a:blip r:embed="rId7"/>
          <a:stretch>
            <a:fillRect/>
          </a:stretch>
        </p:blipFill>
        <p:spPr>
          <a:xfrm>
            <a:off x="8610539" y="4285427"/>
            <a:ext cx="243962" cy="243962"/>
          </a:xfrm>
          <a:prstGeom prst="rect">
            <a:avLst/>
          </a:prstGeom>
        </p:spPr>
      </p:pic>
      <p:sp>
        <p:nvSpPr>
          <p:cNvPr id="34" name="Text 25"/>
          <p:cNvSpPr/>
          <p:nvPr/>
        </p:nvSpPr>
        <p:spPr>
          <a:xfrm>
            <a:off x="9107424" y="4160520"/>
            <a:ext cx="2423160" cy="5029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Good Energy</a:t>
            </a:r>
            <a:endParaRPr lang="en-US" sz="1500" dirty="0"/>
          </a:p>
        </p:txBody>
      </p:sp>
      <p:sp>
        <p:nvSpPr>
          <p:cNvPr id="35" name="Text 26"/>
          <p:cNvSpPr/>
          <p:nvPr/>
        </p:nvSpPr>
        <p:spPr>
          <a:xfrm>
            <a:off x="8467344" y="4764024"/>
            <a:ext cx="2971800" cy="640080"/>
          </a:xfrm>
          <a:prstGeom prst="rect">
            <a:avLst/>
          </a:prstGeom>
          <a:noFill/>
          <a:ln/>
        </p:spPr>
        <p:txBody>
          <a:bodyPr wrap="square" lIns="0" tIns="0" rIns="0" bIns="0" rtlCol="0" anchor="ctr"/>
          <a:lstStyle/>
          <a:p>
            <a:pPr indent="0" marL="0">
              <a:lnSpc>
                <a:spcPct val="115000"/>
              </a:lnSpc>
              <a:buNone/>
            </a:pPr>
            <a:r>
              <a:rPr lang="en-US" sz="1150" dirty="0">
                <a:solidFill>
                  <a:srgbClr val="9A9A94"/>
                </a:solidFill>
                <a:latin typeface="Calibri" pitchFamily="34" charset="0"/>
                <a:ea typeface="Calibri" pitchFamily="34" charset="-122"/>
                <a:cs typeface="Calibri" pitchFamily="34" charset="-120"/>
              </a:rPr>
              <a:t>Projects are serious. The process does not have to be miserable.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ome/claude/logo_black.png">    </p:cNvPr>
          <p:cNvPicPr>
            <a:picLocks noChangeAspect="1"/>
          </p:cNvPicPr>
          <p:nvPr/>
        </p:nvPicPr>
        <p:blipFill>
          <a:blip r:embed="rId1"/>
          <a:stretch>
            <a:fillRect/>
          </a:stretch>
        </p:blipFill>
        <p:spPr>
          <a:xfrm>
            <a:off x="10664647" y="548640"/>
            <a:ext cx="960120" cy="283874"/>
          </a:xfrm>
          <a:prstGeom prst="rect">
            <a:avLst/>
          </a:prstGeom>
        </p:spPr>
      </p:pic>
      <p:sp>
        <p:nvSpPr>
          <p:cNvPr id="3" name="Text 0"/>
          <p:cNvSpPr/>
          <p:nvPr/>
        </p:nvSpPr>
        <p:spPr>
          <a:xfrm>
            <a:off x="10664647" y="950976"/>
            <a:ext cx="960120" cy="274320"/>
          </a:xfrm>
          <a:prstGeom prst="rect">
            <a:avLst/>
          </a:prstGeom>
          <a:noFill/>
          <a:ln/>
        </p:spPr>
        <p:txBody>
          <a:bodyPr wrap="square" lIns="0" tIns="0" rIns="0" bIns="0" rtlCol="0" anchor="ctr"/>
          <a:lstStyle/>
          <a:p>
            <a:pPr algn="r" indent="0" marL="0">
              <a:buNone/>
            </a:pPr>
            <a:r>
              <a:rPr lang="en-US" sz="1100" b="1" dirty="0">
                <a:solidFill>
                  <a:srgbClr val="B9B4A8"/>
                </a:solidFill>
                <a:latin typeface="Trebuchet MS" pitchFamily="34" charset="0"/>
                <a:ea typeface="Trebuchet MS" pitchFamily="34" charset="-122"/>
                <a:cs typeface="Trebuchet MS" pitchFamily="34" charset="-120"/>
              </a:rPr>
              <a:t>14</a:t>
            </a:r>
            <a:endParaRPr lang="en-US" sz="1100" dirty="0"/>
          </a:p>
        </p:txBody>
      </p:sp>
      <p:sp>
        <p:nvSpPr>
          <p:cNvPr id="4" name="Text 1"/>
          <p:cNvSpPr/>
          <p:nvPr/>
        </p:nvSpPr>
        <p:spPr>
          <a:xfrm>
            <a:off x="566928" y="566928"/>
            <a:ext cx="5486400" cy="274320"/>
          </a:xfrm>
          <a:prstGeom prst="rect">
            <a:avLst/>
          </a:prstGeom>
          <a:noFill/>
          <a:ln/>
        </p:spPr>
        <p:txBody>
          <a:bodyPr wrap="square" lIns="0" tIns="0" rIns="0" bIns="0" rtlCol="0" anchor="ctr"/>
          <a:lstStyle/>
          <a:p>
            <a:pPr algn="l" indent="0" marL="0">
              <a:buNone/>
            </a:pPr>
            <a:r>
              <a:rPr lang="en-US" sz="1100" b="1" spc="300" kern="0" dirty="0">
                <a:solidFill>
                  <a:srgbClr val="2E8E1B"/>
                </a:solidFill>
                <a:latin typeface="Trebuchet MS" pitchFamily="34" charset="0"/>
                <a:ea typeface="Trebuchet MS" pitchFamily="34" charset="-122"/>
                <a:cs typeface="Trebuchet MS" pitchFamily="34" charset="-120"/>
              </a:rPr>
              <a:t>SELECTED CLIENTS</a:t>
            </a:r>
            <a:endParaRPr lang="en-US" sz="1100" dirty="0"/>
          </a:p>
        </p:txBody>
      </p:sp>
      <p:sp>
        <p:nvSpPr>
          <p:cNvPr id="5" name="Text 2"/>
          <p:cNvSpPr/>
          <p:nvPr/>
        </p:nvSpPr>
        <p:spPr>
          <a:xfrm>
            <a:off x="566928" y="859536"/>
            <a:ext cx="8229600" cy="1188720"/>
          </a:xfrm>
          <a:prstGeom prst="rect">
            <a:avLst/>
          </a:prstGeom>
          <a:noFill/>
          <a:ln/>
        </p:spPr>
        <p:txBody>
          <a:bodyPr wrap="square" lIns="0" tIns="0" rIns="0" bIns="0" rtlCol="0" anchor="t"/>
          <a:lstStyle/>
          <a:p>
            <a:pPr indent="0" marL="0">
              <a:lnSpc>
                <a:spcPct val="98000"/>
              </a:lnSpc>
              <a:buNone/>
            </a:pPr>
            <a:r>
              <a:rPr lang="en-US" sz="3000" b="1" dirty="0">
                <a:solidFill>
                  <a:srgbClr val="0E0E0E"/>
                </a:solidFill>
                <a:latin typeface="Trebuchet MS" pitchFamily="34" charset="0"/>
                <a:ea typeface="Trebuchet MS" pitchFamily="34" charset="-122"/>
                <a:cs typeface="Trebuchet MS" pitchFamily="34" charset="-120"/>
              </a:rPr>
              <a:t>Things we helped bring to life.</a:t>
            </a:r>
            <a:endParaRPr lang="en-US" sz="3000" dirty="0"/>
          </a:p>
        </p:txBody>
      </p:sp>
      <p:sp>
        <p:nvSpPr>
          <p:cNvPr id="6" name="Text 3"/>
          <p:cNvSpPr/>
          <p:nvPr/>
        </p:nvSpPr>
        <p:spPr>
          <a:xfrm>
            <a:off x="566928" y="1874520"/>
            <a:ext cx="2194560" cy="640080"/>
          </a:xfrm>
          <a:prstGeom prst="rect">
            <a:avLst/>
          </a:prstGeom>
          <a:noFill/>
          <a:ln/>
        </p:spPr>
        <p:txBody>
          <a:bodyPr wrap="square" lIns="0" tIns="0" rIns="0" bIns="0" rtlCol="0" anchor="ctr"/>
          <a:lstStyle/>
          <a:p>
            <a:pPr indent="0" marL="0">
              <a:buNone/>
            </a:pPr>
            <a:r>
              <a:rPr lang="en-US" sz="3800" b="1" dirty="0">
                <a:solidFill>
                  <a:srgbClr val="2E8E1B"/>
                </a:solidFill>
                <a:latin typeface="Trebuchet MS" pitchFamily="34" charset="0"/>
                <a:ea typeface="Trebuchet MS" pitchFamily="34" charset="-122"/>
                <a:cs typeface="Trebuchet MS" pitchFamily="34" charset="-120"/>
              </a:rPr>
              <a:t>24+</a:t>
            </a:r>
            <a:endParaRPr lang="en-US" sz="3800" dirty="0"/>
          </a:p>
        </p:txBody>
      </p:sp>
      <p:sp>
        <p:nvSpPr>
          <p:cNvPr id="7" name="Text 4"/>
          <p:cNvSpPr/>
          <p:nvPr/>
        </p:nvSpPr>
        <p:spPr>
          <a:xfrm>
            <a:off x="566928" y="2542032"/>
            <a:ext cx="2377440" cy="27432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CLIENTS &amp; PROJECTS</a:t>
            </a:r>
            <a:endParaRPr lang="en-US" sz="950" dirty="0"/>
          </a:p>
        </p:txBody>
      </p:sp>
      <p:sp>
        <p:nvSpPr>
          <p:cNvPr id="8" name="Text 5"/>
          <p:cNvSpPr/>
          <p:nvPr/>
        </p:nvSpPr>
        <p:spPr>
          <a:xfrm>
            <a:off x="3310128" y="1874520"/>
            <a:ext cx="2194560" cy="640080"/>
          </a:xfrm>
          <a:prstGeom prst="rect">
            <a:avLst/>
          </a:prstGeom>
          <a:noFill/>
          <a:ln/>
        </p:spPr>
        <p:txBody>
          <a:bodyPr wrap="square" lIns="0" tIns="0" rIns="0" bIns="0" rtlCol="0" anchor="ctr"/>
          <a:lstStyle/>
          <a:p>
            <a:pPr indent="0" marL="0">
              <a:buNone/>
            </a:pPr>
            <a:r>
              <a:rPr lang="en-US" sz="3800" b="1" dirty="0">
                <a:solidFill>
                  <a:srgbClr val="2E8E1B"/>
                </a:solidFill>
                <a:latin typeface="Trebuchet MS" pitchFamily="34" charset="0"/>
                <a:ea typeface="Trebuchet MS" pitchFamily="34" charset="-122"/>
                <a:cs typeface="Trebuchet MS" pitchFamily="34" charset="-120"/>
              </a:rPr>
              <a:t>2022</a:t>
            </a:r>
            <a:endParaRPr lang="en-US" sz="3800" dirty="0"/>
          </a:p>
        </p:txBody>
      </p:sp>
      <p:sp>
        <p:nvSpPr>
          <p:cNvPr id="9" name="Text 6"/>
          <p:cNvSpPr/>
          <p:nvPr/>
        </p:nvSpPr>
        <p:spPr>
          <a:xfrm>
            <a:off x="3310128" y="2542032"/>
            <a:ext cx="2377440" cy="27432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FOUNDED</a:t>
            </a:r>
            <a:endParaRPr lang="en-US" sz="950" dirty="0"/>
          </a:p>
        </p:txBody>
      </p:sp>
      <p:sp>
        <p:nvSpPr>
          <p:cNvPr id="10" name="Text 7"/>
          <p:cNvSpPr/>
          <p:nvPr/>
        </p:nvSpPr>
        <p:spPr>
          <a:xfrm>
            <a:off x="6053328" y="1874520"/>
            <a:ext cx="2194560" cy="640080"/>
          </a:xfrm>
          <a:prstGeom prst="rect">
            <a:avLst/>
          </a:prstGeom>
          <a:noFill/>
          <a:ln/>
        </p:spPr>
        <p:txBody>
          <a:bodyPr wrap="square" lIns="0" tIns="0" rIns="0" bIns="0" rtlCol="0" anchor="ctr"/>
          <a:lstStyle/>
          <a:p>
            <a:pPr indent="0" marL="0">
              <a:buNone/>
            </a:pPr>
            <a:r>
              <a:rPr lang="en-US" sz="3800" b="1" dirty="0">
                <a:solidFill>
                  <a:srgbClr val="2E8E1B"/>
                </a:solidFill>
                <a:latin typeface="Trebuchet MS" pitchFamily="34" charset="0"/>
                <a:ea typeface="Trebuchet MS" pitchFamily="34" charset="-122"/>
                <a:cs typeface="Trebuchet MS" pitchFamily="34" charset="-120"/>
              </a:rPr>
              <a:t>∞</a:t>
            </a:r>
            <a:endParaRPr lang="en-US" sz="3800" dirty="0"/>
          </a:p>
        </p:txBody>
      </p:sp>
      <p:sp>
        <p:nvSpPr>
          <p:cNvPr id="11" name="Text 8"/>
          <p:cNvSpPr/>
          <p:nvPr/>
        </p:nvSpPr>
        <p:spPr>
          <a:xfrm>
            <a:off x="6053328" y="2542032"/>
            <a:ext cx="2377440" cy="27432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REMOTE · WORLDWIDE</a:t>
            </a:r>
            <a:endParaRPr lang="en-US" sz="950" dirty="0"/>
          </a:p>
        </p:txBody>
      </p:sp>
      <p:sp>
        <p:nvSpPr>
          <p:cNvPr id="12" name="Text 9"/>
          <p:cNvSpPr/>
          <p:nvPr/>
        </p:nvSpPr>
        <p:spPr>
          <a:xfrm>
            <a:off x="8796528" y="1874520"/>
            <a:ext cx="2194560" cy="640080"/>
          </a:xfrm>
          <a:prstGeom prst="rect">
            <a:avLst/>
          </a:prstGeom>
          <a:noFill/>
          <a:ln/>
        </p:spPr>
        <p:txBody>
          <a:bodyPr wrap="square" lIns="0" tIns="0" rIns="0" bIns="0" rtlCol="0" anchor="ctr"/>
          <a:lstStyle/>
          <a:p>
            <a:pPr indent="0" marL="0">
              <a:buNone/>
            </a:pPr>
            <a:r>
              <a:rPr lang="en-US" sz="3800" b="1" dirty="0">
                <a:solidFill>
                  <a:srgbClr val="2E8E1B"/>
                </a:solidFill>
                <a:latin typeface="Trebuchet MS" pitchFamily="34" charset="0"/>
                <a:ea typeface="Trebuchet MS" pitchFamily="34" charset="-122"/>
                <a:cs typeface="Trebuchet MS" pitchFamily="34" charset="-120"/>
              </a:rPr>
              <a:t>4</a:t>
            </a:r>
            <a:endParaRPr lang="en-US" sz="3800" dirty="0"/>
          </a:p>
        </p:txBody>
      </p:sp>
      <p:sp>
        <p:nvSpPr>
          <p:cNvPr id="13" name="Text 10"/>
          <p:cNvSpPr/>
          <p:nvPr/>
        </p:nvSpPr>
        <p:spPr>
          <a:xfrm>
            <a:off x="8796528" y="2542032"/>
            <a:ext cx="2377440" cy="274320"/>
          </a:xfrm>
          <a:prstGeom prst="rect">
            <a:avLst/>
          </a:prstGeom>
          <a:noFill/>
          <a:ln/>
        </p:spPr>
        <p:txBody>
          <a:bodyPr wrap="square" lIns="0" tIns="0" rIns="0" bIns="0" rtlCol="0" anchor="ctr"/>
          <a:lstStyle/>
          <a:p>
            <a:pPr indent="0" marL="0">
              <a:buNone/>
            </a:pPr>
            <a:r>
              <a:rPr lang="en-US" sz="950" b="1" spc="100" kern="0" dirty="0">
                <a:solidFill>
                  <a:srgbClr val="9A958A"/>
                </a:solidFill>
                <a:latin typeface="Trebuchet MS" pitchFamily="34" charset="0"/>
                <a:ea typeface="Trebuchet MS" pitchFamily="34" charset="-122"/>
                <a:cs typeface="Trebuchet MS" pitchFamily="34" charset="-120"/>
              </a:rPr>
              <a:t>SMALL CORE TEAM</a:t>
            </a:r>
            <a:endParaRPr lang="en-US" sz="950" dirty="0"/>
          </a:p>
        </p:txBody>
      </p:sp>
      <p:sp>
        <p:nvSpPr>
          <p:cNvPr id="14" name="Shape 11"/>
          <p:cNvSpPr/>
          <p:nvPr/>
        </p:nvSpPr>
        <p:spPr>
          <a:xfrm>
            <a:off x="566928" y="3108960"/>
            <a:ext cx="2673020" cy="0"/>
          </a:xfrm>
          <a:prstGeom prst="line">
            <a:avLst/>
          </a:prstGeom>
          <a:noFill/>
          <a:ln w="12700">
            <a:solidFill>
              <a:srgbClr val="E7E3DA"/>
            </a:solidFill>
            <a:prstDash val="solid"/>
          </a:ln>
        </p:spPr>
      </p:sp>
      <p:sp>
        <p:nvSpPr>
          <p:cNvPr id="15" name="Shape 12"/>
          <p:cNvSpPr/>
          <p:nvPr/>
        </p:nvSpPr>
        <p:spPr>
          <a:xfrm>
            <a:off x="603504" y="3296412"/>
            <a:ext cx="73152" cy="73152"/>
          </a:xfrm>
          <a:prstGeom prst="ellipse">
            <a:avLst/>
          </a:prstGeom>
          <a:solidFill>
            <a:srgbClr val="46D12A"/>
          </a:solidFill>
          <a:ln/>
        </p:spPr>
      </p:sp>
      <p:sp>
        <p:nvSpPr>
          <p:cNvPr id="16" name="Text 13"/>
          <p:cNvSpPr/>
          <p:nvPr/>
        </p:nvSpPr>
        <p:spPr>
          <a:xfrm>
            <a:off x="804672" y="31089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Guarantee</a:t>
            </a:r>
            <a:endParaRPr lang="en-US" sz="1200" dirty="0"/>
          </a:p>
        </p:txBody>
      </p:sp>
      <p:sp>
        <p:nvSpPr>
          <p:cNvPr id="17" name="Shape 14"/>
          <p:cNvSpPr/>
          <p:nvPr/>
        </p:nvSpPr>
        <p:spPr>
          <a:xfrm>
            <a:off x="3331388" y="3108960"/>
            <a:ext cx="2673020" cy="0"/>
          </a:xfrm>
          <a:prstGeom prst="line">
            <a:avLst/>
          </a:prstGeom>
          <a:noFill/>
          <a:ln w="12700">
            <a:solidFill>
              <a:srgbClr val="E7E3DA"/>
            </a:solidFill>
            <a:prstDash val="solid"/>
          </a:ln>
        </p:spPr>
      </p:sp>
      <p:sp>
        <p:nvSpPr>
          <p:cNvPr id="18" name="Shape 15"/>
          <p:cNvSpPr/>
          <p:nvPr/>
        </p:nvSpPr>
        <p:spPr>
          <a:xfrm>
            <a:off x="3367964" y="3296412"/>
            <a:ext cx="73152" cy="73152"/>
          </a:xfrm>
          <a:prstGeom prst="ellipse">
            <a:avLst/>
          </a:prstGeom>
          <a:solidFill>
            <a:srgbClr val="46D12A"/>
          </a:solidFill>
          <a:ln/>
        </p:spPr>
      </p:sp>
      <p:sp>
        <p:nvSpPr>
          <p:cNvPr id="19" name="Text 16"/>
          <p:cNvSpPr/>
          <p:nvPr/>
        </p:nvSpPr>
        <p:spPr>
          <a:xfrm>
            <a:off x="3569132" y="31089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Elia Clinic</a:t>
            </a:r>
            <a:endParaRPr lang="en-US" sz="1200" dirty="0"/>
          </a:p>
        </p:txBody>
      </p:sp>
      <p:sp>
        <p:nvSpPr>
          <p:cNvPr id="20" name="Shape 17"/>
          <p:cNvSpPr/>
          <p:nvPr/>
        </p:nvSpPr>
        <p:spPr>
          <a:xfrm>
            <a:off x="6095848" y="3108960"/>
            <a:ext cx="2673020" cy="0"/>
          </a:xfrm>
          <a:prstGeom prst="line">
            <a:avLst/>
          </a:prstGeom>
          <a:noFill/>
          <a:ln w="12700">
            <a:solidFill>
              <a:srgbClr val="E7E3DA"/>
            </a:solidFill>
            <a:prstDash val="solid"/>
          </a:ln>
        </p:spPr>
      </p:sp>
      <p:sp>
        <p:nvSpPr>
          <p:cNvPr id="21" name="Shape 18"/>
          <p:cNvSpPr/>
          <p:nvPr/>
        </p:nvSpPr>
        <p:spPr>
          <a:xfrm>
            <a:off x="6132424" y="3296412"/>
            <a:ext cx="73152" cy="73152"/>
          </a:xfrm>
          <a:prstGeom prst="ellipse">
            <a:avLst/>
          </a:prstGeom>
          <a:solidFill>
            <a:srgbClr val="46D12A"/>
          </a:solidFill>
          <a:ln/>
        </p:spPr>
      </p:sp>
      <p:sp>
        <p:nvSpPr>
          <p:cNvPr id="22" name="Text 19"/>
          <p:cNvSpPr/>
          <p:nvPr/>
        </p:nvSpPr>
        <p:spPr>
          <a:xfrm>
            <a:off x="6333592" y="31089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AKG Creative House</a:t>
            </a:r>
            <a:endParaRPr lang="en-US" sz="1200" dirty="0"/>
          </a:p>
        </p:txBody>
      </p:sp>
      <p:sp>
        <p:nvSpPr>
          <p:cNvPr id="23" name="Shape 20"/>
          <p:cNvSpPr/>
          <p:nvPr/>
        </p:nvSpPr>
        <p:spPr>
          <a:xfrm>
            <a:off x="8860307" y="3108960"/>
            <a:ext cx="2673020" cy="0"/>
          </a:xfrm>
          <a:prstGeom prst="line">
            <a:avLst/>
          </a:prstGeom>
          <a:noFill/>
          <a:ln w="12700">
            <a:solidFill>
              <a:srgbClr val="E7E3DA"/>
            </a:solidFill>
            <a:prstDash val="solid"/>
          </a:ln>
        </p:spPr>
      </p:sp>
      <p:sp>
        <p:nvSpPr>
          <p:cNvPr id="24" name="Shape 21"/>
          <p:cNvSpPr/>
          <p:nvPr/>
        </p:nvSpPr>
        <p:spPr>
          <a:xfrm>
            <a:off x="8896883" y="3296412"/>
            <a:ext cx="73152" cy="73152"/>
          </a:xfrm>
          <a:prstGeom prst="ellipse">
            <a:avLst/>
          </a:prstGeom>
          <a:solidFill>
            <a:srgbClr val="46D12A"/>
          </a:solidFill>
          <a:ln/>
        </p:spPr>
      </p:sp>
      <p:sp>
        <p:nvSpPr>
          <p:cNvPr id="25" name="Text 22"/>
          <p:cNvSpPr/>
          <p:nvPr/>
        </p:nvSpPr>
        <p:spPr>
          <a:xfrm>
            <a:off x="9098051" y="31089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Vera Reformer &amp; Pilates</a:t>
            </a:r>
            <a:endParaRPr lang="en-US" sz="1200" dirty="0"/>
          </a:p>
        </p:txBody>
      </p:sp>
      <p:sp>
        <p:nvSpPr>
          <p:cNvPr id="26" name="Shape 23"/>
          <p:cNvSpPr/>
          <p:nvPr/>
        </p:nvSpPr>
        <p:spPr>
          <a:xfrm>
            <a:off x="566928" y="3566160"/>
            <a:ext cx="2673020" cy="0"/>
          </a:xfrm>
          <a:prstGeom prst="line">
            <a:avLst/>
          </a:prstGeom>
          <a:noFill/>
          <a:ln w="12700">
            <a:solidFill>
              <a:srgbClr val="E7E3DA"/>
            </a:solidFill>
            <a:prstDash val="solid"/>
          </a:ln>
        </p:spPr>
      </p:sp>
      <p:sp>
        <p:nvSpPr>
          <p:cNvPr id="27" name="Shape 24"/>
          <p:cNvSpPr/>
          <p:nvPr/>
        </p:nvSpPr>
        <p:spPr>
          <a:xfrm>
            <a:off x="603504" y="3753612"/>
            <a:ext cx="73152" cy="73152"/>
          </a:xfrm>
          <a:prstGeom prst="ellipse">
            <a:avLst/>
          </a:prstGeom>
          <a:solidFill>
            <a:srgbClr val="46D12A"/>
          </a:solidFill>
          <a:ln/>
        </p:spPr>
      </p:sp>
      <p:sp>
        <p:nvSpPr>
          <p:cNvPr id="28" name="Text 25"/>
          <p:cNvSpPr/>
          <p:nvPr/>
        </p:nvSpPr>
        <p:spPr>
          <a:xfrm>
            <a:off x="804672" y="35661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Thrt Home Services</a:t>
            </a:r>
            <a:endParaRPr lang="en-US" sz="1200" dirty="0"/>
          </a:p>
        </p:txBody>
      </p:sp>
      <p:sp>
        <p:nvSpPr>
          <p:cNvPr id="29" name="Shape 26"/>
          <p:cNvSpPr/>
          <p:nvPr/>
        </p:nvSpPr>
        <p:spPr>
          <a:xfrm>
            <a:off x="3331388" y="3566160"/>
            <a:ext cx="2673020" cy="0"/>
          </a:xfrm>
          <a:prstGeom prst="line">
            <a:avLst/>
          </a:prstGeom>
          <a:noFill/>
          <a:ln w="12700">
            <a:solidFill>
              <a:srgbClr val="E7E3DA"/>
            </a:solidFill>
            <a:prstDash val="solid"/>
          </a:ln>
        </p:spPr>
      </p:sp>
      <p:sp>
        <p:nvSpPr>
          <p:cNvPr id="30" name="Shape 27"/>
          <p:cNvSpPr/>
          <p:nvPr/>
        </p:nvSpPr>
        <p:spPr>
          <a:xfrm>
            <a:off x="3367964" y="3753612"/>
            <a:ext cx="73152" cy="73152"/>
          </a:xfrm>
          <a:prstGeom prst="ellipse">
            <a:avLst/>
          </a:prstGeom>
          <a:solidFill>
            <a:srgbClr val="46D12A"/>
          </a:solidFill>
          <a:ln/>
        </p:spPr>
      </p:sp>
      <p:sp>
        <p:nvSpPr>
          <p:cNvPr id="31" name="Text 28"/>
          <p:cNvSpPr/>
          <p:nvPr/>
        </p:nvSpPr>
        <p:spPr>
          <a:xfrm>
            <a:off x="3569132" y="35661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Vision Pulse AV</a:t>
            </a:r>
            <a:endParaRPr lang="en-US" sz="1200" dirty="0"/>
          </a:p>
        </p:txBody>
      </p:sp>
      <p:sp>
        <p:nvSpPr>
          <p:cNvPr id="32" name="Shape 29"/>
          <p:cNvSpPr/>
          <p:nvPr/>
        </p:nvSpPr>
        <p:spPr>
          <a:xfrm>
            <a:off x="6095848" y="3566160"/>
            <a:ext cx="2673020" cy="0"/>
          </a:xfrm>
          <a:prstGeom prst="line">
            <a:avLst/>
          </a:prstGeom>
          <a:noFill/>
          <a:ln w="12700">
            <a:solidFill>
              <a:srgbClr val="E7E3DA"/>
            </a:solidFill>
            <a:prstDash val="solid"/>
          </a:ln>
        </p:spPr>
      </p:sp>
      <p:sp>
        <p:nvSpPr>
          <p:cNvPr id="33" name="Shape 30"/>
          <p:cNvSpPr/>
          <p:nvPr/>
        </p:nvSpPr>
        <p:spPr>
          <a:xfrm>
            <a:off x="6132424" y="3753612"/>
            <a:ext cx="73152" cy="73152"/>
          </a:xfrm>
          <a:prstGeom prst="ellipse">
            <a:avLst/>
          </a:prstGeom>
          <a:solidFill>
            <a:srgbClr val="46D12A"/>
          </a:solidFill>
          <a:ln/>
        </p:spPr>
      </p:sp>
      <p:sp>
        <p:nvSpPr>
          <p:cNvPr id="34" name="Text 31"/>
          <p:cNvSpPr/>
          <p:nvPr/>
        </p:nvSpPr>
        <p:spPr>
          <a:xfrm>
            <a:off x="6333592" y="35661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Liter Group</a:t>
            </a:r>
            <a:endParaRPr lang="en-US" sz="1200" dirty="0"/>
          </a:p>
        </p:txBody>
      </p:sp>
      <p:sp>
        <p:nvSpPr>
          <p:cNvPr id="35" name="Shape 32"/>
          <p:cNvSpPr/>
          <p:nvPr/>
        </p:nvSpPr>
        <p:spPr>
          <a:xfrm>
            <a:off x="8860307" y="3566160"/>
            <a:ext cx="2673020" cy="0"/>
          </a:xfrm>
          <a:prstGeom prst="line">
            <a:avLst/>
          </a:prstGeom>
          <a:noFill/>
          <a:ln w="12700">
            <a:solidFill>
              <a:srgbClr val="E7E3DA"/>
            </a:solidFill>
            <a:prstDash val="solid"/>
          </a:ln>
        </p:spPr>
      </p:sp>
      <p:sp>
        <p:nvSpPr>
          <p:cNvPr id="36" name="Shape 33"/>
          <p:cNvSpPr/>
          <p:nvPr/>
        </p:nvSpPr>
        <p:spPr>
          <a:xfrm>
            <a:off x="8896883" y="3753612"/>
            <a:ext cx="73152" cy="73152"/>
          </a:xfrm>
          <a:prstGeom prst="ellipse">
            <a:avLst/>
          </a:prstGeom>
          <a:solidFill>
            <a:srgbClr val="46D12A"/>
          </a:solidFill>
          <a:ln/>
        </p:spPr>
      </p:sp>
      <p:sp>
        <p:nvSpPr>
          <p:cNvPr id="37" name="Text 34"/>
          <p:cNvSpPr/>
          <p:nvPr/>
        </p:nvSpPr>
        <p:spPr>
          <a:xfrm>
            <a:off x="9098051" y="35661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DARQ Architects</a:t>
            </a:r>
            <a:endParaRPr lang="en-US" sz="1200" dirty="0"/>
          </a:p>
        </p:txBody>
      </p:sp>
      <p:sp>
        <p:nvSpPr>
          <p:cNvPr id="38" name="Shape 35"/>
          <p:cNvSpPr/>
          <p:nvPr/>
        </p:nvSpPr>
        <p:spPr>
          <a:xfrm>
            <a:off x="566928" y="4023360"/>
            <a:ext cx="2673020" cy="0"/>
          </a:xfrm>
          <a:prstGeom prst="line">
            <a:avLst/>
          </a:prstGeom>
          <a:noFill/>
          <a:ln w="12700">
            <a:solidFill>
              <a:srgbClr val="E7E3DA"/>
            </a:solidFill>
            <a:prstDash val="solid"/>
          </a:ln>
        </p:spPr>
      </p:sp>
      <p:sp>
        <p:nvSpPr>
          <p:cNvPr id="39" name="Shape 36"/>
          <p:cNvSpPr/>
          <p:nvPr/>
        </p:nvSpPr>
        <p:spPr>
          <a:xfrm>
            <a:off x="603504" y="4210812"/>
            <a:ext cx="73152" cy="73152"/>
          </a:xfrm>
          <a:prstGeom prst="ellipse">
            <a:avLst/>
          </a:prstGeom>
          <a:solidFill>
            <a:srgbClr val="46D12A"/>
          </a:solidFill>
          <a:ln/>
        </p:spPr>
      </p:sp>
      <p:sp>
        <p:nvSpPr>
          <p:cNvPr id="40" name="Text 37"/>
          <p:cNvSpPr/>
          <p:nvPr/>
        </p:nvSpPr>
        <p:spPr>
          <a:xfrm>
            <a:off x="804672" y="40233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Sky Group</a:t>
            </a:r>
            <a:endParaRPr lang="en-US" sz="1200" dirty="0"/>
          </a:p>
        </p:txBody>
      </p:sp>
      <p:sp>
        <p:nvSpPr>
          <p:cNvPr id="41" name="Shape 38"/>
          <p:cNvSpPr/>
          <p:nvPr/>
        </p:nvSpPr>
        <p:spPr>
          <a:xfrm>
            <a:off x="3331388" y="4023360"/>
            <a:ext cx="2673020" cy="0"/>
          </a:xfrm>
          <a:prstGeom prst="line">
            <a:avLst/>
          </a:prstGeom>
          <a:noFill/>
          <a:ln w="12700">
            <a:solidFill>
              <a:srgbClr val="E7E3DA"/>
            </a:solidFill>
            <a:prstDash val="solid"/>
          </a:ln>
        </p:spPr>
      </p:sp>
      <p:sp>
        <p:nvSpPr>
          <p:cNvPr id="42" name="Shape 39"/>
          <p:cNvSpPr/>
          <p:nvPr/>
        </p:nvSpPr>
        <p:spPr>
          <a:xfrm>
            <a:off x="3367964" y="4210812"/>
            <a:ext cx="73152" cy="73152"/>
          </a:xfrm>
          <a:prstGeom prst="ellipse">
            <a:avLst/>
          </a:prstGeom>
          <a:solidFill>
            <a:srgbClr val="46D12A"/>
          </a:solidFill>
          <a:ln/>
        </p:spPr>
      </p:sp>
      <p:sp>
        <p:nvSpPr>
          <p:cNvPr id="43" name="Text 40"/>
          <p:cNvSpPr/>
          <p:nvPr/>
        </p:nvSpPr>
        <p:spPr>
          <a:xfrm>
            <a:off x="3569132" y="40233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MARSHES</a:t>
            </a:r>
            <a:endParaRPr lang="en-US" sz="1200" dirty="0"/>
          </a:p>
        </p:txBody>
      </p:sp>
      <p:sp>
        <p:nvSpPr>
          <p:cNvPr id="44" name="Shape 41"/>
          <p:cNvSpPr/>
          <p:nvPr/>
        </p:nvSpPr>
        <p:spPr>
          <a:xfrm>
            <a:off x="6095848" y="4023360"/>
            <a:ext cx="2673020" cy="0"/>
          </a:xfrm>
          <a:prstGeom prst="line">
            <a:avLst/>
          </a:prstGeom>
          <a:noFill/>
          <a:ln w="12700">
            <a:solidFill>
              <a:srgbClr val="E7E3DA"/>
            </a:solidFill>
            <a:prstDash val="solid"/>
          </a:ln>
        </p:spPr>
      </p:sp>
      <p:sp>
        <p:nvSpPr>
          <p:cNvPr id="45" name="Shape 42"/>
          <p:cNvSpPr/>
          <p:nvPr/>
        </p:nvSpPr>
        <p:spPr>
          <a:xfrm>
            <a:off x="6132424" y="4210812"/>
            <a:ext cx="73152" cy="73152"/>
          </a:xfrm>
          <a:prstGeom prst="ellipse">
            <a:avLst/>
          </a:prstGeom>
          <a:solidFill>
            <a:srgbClr val="46D12A"/>
          </a:solidFill>
          <a:ln/>
        </p:spPr>
      </p:sp>
      <p:sp>
        <p:nvSpPr>
          <p:cNvPr id="46" name="Text 43"/>
          <p:cNvSpPr/>
          <p:nvPr/>
        </p:nvSpPr>
        <p:spPr>
          <a:xfrm>
            <a:off x="6333592" y="40233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11vent Production</a:t>
            </a:r>
            <a:endParaRPr lang="en-US" sz="1200" dirty="0"/>
          </a:p>
        </p:txBody>
      </p:sp>
      <p:sp>
        <p:nvSpPr>
          <p:cNvPr id="47" name="Shape 44"/>
          <p:cNvSpPr/>
          <p:nvPr/>
        </p:nvSpPr>
        <p:spPr>
          <a:xfrm>
            <a:off x="8860307" y="4023360"/>
            <a:ext cx="2673020" cy="0"/>
          </a:xfrm>
          <a:prstGeom prst="line">
            <a:avLst/>
          </a:prstGeom>
          <a:noFill/>
          <a:ln w="12700">
            <a:solidFill>
              <a:srgbClr val="E7E3DA"/>
            </a:solidFill>
            <a:prstDash val="solid"/>
          </a:ln>
        </p:spPr>
      </p:sp>
      <p:sp>
        <p:nvSpPr>
          <p:cNvPr id="48" name="Shape 45"/>
          <p:cNvSpPr/>
          <p:nvPr/>
        </p:nvSpPr>
        <p:spPr>
          <a:xfrm>
            <a:off x="8896883" y="4210812"/>
            <a:ext cx="73152" cy="73152"/>
          </a:xfrm>
          <a:prstGeom prst="ellipse">
            <a:avLst/>
          </a:prstGeom>
          <a:solidFill>
            <a:srgbClr val="46D12A"/>
          </a:solidFill>
          <a:ln/>
        </p:spPr>
      </p:sp>
      <p:sp>
        <p:nvSpPr>
          <p:cNvPr id="49" name="Text 46"/>
          <p:cNvSpPr/>
          <p:nvPr/>
        </p:nvSpPr>
        <p:spPr>
          <a:xfrm>
            <a:off x="9098051" y="40233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Dark Horse KSA</a:t>
            </a:r>
            <a:endParaRPr lang="en-US" sz="1200" dirty="0"/>
          </a:p>
        </p:txBody>
      </p:sp>
      <p:sp>
        <p:nvSpPr>
          <p:cNvPr id="50" name="Shape 47"/>
          <p:cNvSpPr/>
          <p:nvPr/>
        </p:nvSpPr>
        <p:spPr>
          <a:xfrm>
            <a:off x="566928" y="4480560"/>
            <a:ext cx="2673020" cy="0"/>
          </a:xfrm>
          <a:prstGeom prst="line">
            <a:avLst/>
          </a:prstGeom>
          <a:noFill/>
          <a:ln w="12700">
            <a:solidFill>
              <a:srgbClr val="E7E3DA"/>
            </a:solidFill>
            <a:prstDash val="solid"/>
          </a:ln>
        </p:spPr>
      </p:sp>
      <p:sp>
        <p:nvSpPr>
          <p:cNvPr id="51" name="Shape 48"/>
          <p:cNvSpPr/>
          <p:nvPr/>
        </p:nvSpPr>
        <p:spPr>
          <a:xfrm>
            <a:off x="603504" y="4668012"/>
            <a:ext cx="73152" cy="73152"/>
          </a:xfrm>
          <a:prstGeom prst="ellipse">
            <a:avLst/>
          </a:prstGeom>
          <a:solidFill>
            <a:srgbClr val="46D12A"/>
          </a:solidFill>
          <a:ln/>
        </p:spPr>
      </p:sp>
      <p:sp>
        <p:nvSpPr>
          <p:cNvPr id="52" name="Text 49"/>
          <p:cNvSpPr/>
          <p:nvPr/>
        </p:nvSpPr>
        <p:spPr>
          <a:xfrm>
            <a:off x="804672" y="44805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PRO 71</a:t>
            </a:r>
            <a:endParaRPr lang="en-US" sz="1200" dirty="0"/>
          </a:p>
        </p:txBody>
      </p:sp>
      <p:sp>
        <p:nvSpPr>
          <p:cNvPr id="53" name="Shape 50"/>
          <p:cNvSpPr/>
          <p:nvPr/>
        </p:nvSpPr>
        <p:spPr>
          <a:xfrm>
            <a:off x="3331388" y="4480560"/>
            <a:ext cx="2673020" cy="0"/>
          </a:xfrm>
          <a:prstGeom prst="line">
            <a:avLst/>
          </a:prstGeom>
          <a:noFill/>
          <a:ln w="12700">
            <a:solidFill>
              <a:srgbClr val="E7E3DA"/>
            </a:solidFill>
            <a:prstDash val="solid"/>
          </a:ln>
        </p:spPr>
      </p:sp>
      <p:sp>
        <p:nvSpPr>
          <p:cNvPr id="54" name="Shape 51"/>
          <p:cNvSpPr/>
          <p:nvPr/>
        </p:nvSpPr>
        <p:spPr>
          <a:xfrm>
            <a:off x="3367964" y="4668012"/>
            <a:ext cx="73152" cy="73152"/>
          </a:xfrm>
          <a:prstGeom prst="ellipse">
            <a:avLst/>
          </a:prstGeom>
          <a:solidFill>
            <a:srgbClr val="46D12A"/>
          </a:solidFill>
          <a:ln/>
        </p:spPr>
      </p:sp>
      <p:sp>
        <p:nvSpPr>
          <p:cNvPr id="55" name="Text 52"/>
          <p:cNvSpPr/>
          <p:nvPr/>
        </p:nvSpPr>
        <p:spPr>
          <a:xfrm>
            <a:off x="3569132" y="44805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expentech</a:t>
            </a:r>
            <a:endParaRPr lang="en-US" sz="1200" dirty="0"/>
          </a:p>
        </p:txBody>
      </p:sp>
      <p:sp>
        <p:nvSpPr>
          <p:cNvPr id="56" name="Shape 53"/>
          <p:cNvSpPr/>
          <p:nvPr/>
        </p:nvSpPr>
        <p:spPr>
          <a:xfrm>
            <a:off x="6095848" y="4480560"/>
            <a:ext cx="2673020" cy="0"/>
          </a:xfrm>
          <a:prstGeom prst="line">
            <a:avLst/>
          </a:prstGeom>
          <a:noFill/>
          <a:ln w="12700">
            <a:solidFill>
              <a:srgbClr val="E7E3DA"/>
            </a:solidFill>
            <a:prstDash val="solid"/>
          </a:ln>
        </p:spPr>
      </p:sp>
      <p:sp>
        <p:nvSpPr>
          <p:cNvPr id="57" name="Shape 54"/>
          <p:cNvSpPr/>
          <p:nvPr/>
        </p:nvSpPr>
        <p:spPr>
          <a:xfrm>
            <a:off x="6132424" y="4668012"/>
            <a:ext cx="73152" cy="73152"/>
          </a:xfrm>
          <a:prstGeom prst="ellipse">
            <a:avLst/>
          </a:prstGeom>
          <a:solidFill>
            <a:srgbClr val="46D12A"/>
          </a:solidFill>
          <a:ln/>
        </p:spPr>
      </p:sp>
      <p:sp>
        <p:nvSpPr>
          <p:cNvPr id="58" name="Text 55"/>
          <p:cNvSpPr/>
          <p:nvPr/>
        </p:nvSpPr>
        <p:spPr>
          <a:xfrm>
            <a:off x="6333592" y="44805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Gooo Club</a:t>
            </a:r>
            <a:endParaRPr lang="en-US" sz="1200" dirty="0"/>
          </a:p>
        </p:txBody>
      </p:sp>
      <p:sp>
        <p:nvSpPr>
          <p:cNvPr id="59" name="Shape 56"/>
          <p:cNvSpPr/>
          <p:nvPr/>
        </p:nvSpPr>
        <p:spPr>
          <a:xfrm>
            <a:off x="8860307" y="4480560"/>
            <a:ext cx="2673020" cy="0"/>
          </a:xfrm>
          <a:prstGeom prst="line">
            <a:avLst/>
          </a:prstGeom>
          <a:noFill/>
          <a:ln w="12700">
            <a:solidFill>
              <a:srgbClr val="E7E3DA"/>
            </a:solidFill>
            <a:prstDash val="solid"/>
          </a:ln>
        </p:spPr>
      </p:sp>
      <p:sp>
        <p:nvSpPr>
          <p:cNvPr id="60" name="Shape 57"/>
          <p:cNvSpPr/>
          <p:nvPr/>
        </p:nvSpPr>
        <p:spPr>
          <a:xfrm>
            <a:off x="8896883" y="4668012"/>
            <a:ext cx="73152" cy="73152"/>
          </a:xfrm>
          <a:prstGeom prst="ellipse">
            <a:avLst/>
          </a:prstGeom>
          <a:solidFill>
            <a:srgbClr val="46D12A"/>
          </a:solidFill>
          <a:ln/>
        </p:spPr>
      </p:sp>
      <p:sp>
        <p:nvSpPr>
          <p:cNvPr id="61" name="Text 58"/>
          <p:cNvSpPr/>
          <p:nvPr/>
        </p:nvSpPr>
        <p:spPr>
          <a:xfrm>
            <a:off x="9098051" y="44805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Ida Bakery &amp; Bistro</a:t>
            </a:r>
            <a:endParaRPr lang="en-US" sz="1200" dirty="0"/>
          </a:p>
        </p:txBody>
      </p:sp>
      <p:sp>
        <p:nvSpPr>
          <p:cNvPr id="62" name="Shape 59"/>
          <p:cNvSpPr/>
          <p:nvPr/>
        </p:nvSpPr>
        <p:spPr>
          <a:xfrm>
            <a:off x="566928" y="4937760"/>
            <a:ext cx="2673020" cy="0"/>
          </a:xfrm>
          <a:prstGeom prst="line">
            <a:avLst/>
          </a:prstGeom>
          <a:noFill/>
          <a:ln w="12700">
            <a:solidFill>
              <a:srgbClr val="E7E3DA"/>
            </a:solidFill>
            <a:prstDash val="solid"/>
          </a:ln>
        </p:spPr>
      </p:sp>
      <p:sp>
        <p:nvSpPr>
          <p:cNvPr id="63" name="Shape 60"/>
          <p:cNvSpPr/>
          <p:nvPr/>
        </p:nvSpPr>
        <p:spPr>
          <a:xfrm>
            <a:off x="603504" y="5125212"/>
            <a:ext cx="73152" cy="73152"/>
          </a:xfrm>
          <a:prstGeom prst="ellipse">
            <a:avLst/>
          </a:prstGeom>
          <a:solidFill>
            <a:srgbClr val="46D12A"/>
          </a:solidFill>
          <a:ln/>
        </p:spPr>
      </p:sp>
      <p:sp>
        <p:nvSpPr>
          <p:cNvPr id="64" name="Text 61"/>
          <p:cNvSpPr/>
          <p:nvPr/>
        </p:nvSpPr>
        <p:spPr>
          <a:xfrm>
            <a:off x="804672" y="49377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Leaders Makers</a:t>
            </a:r>
            <a:endParaRPr lang="en-US" sz="1200" dirty="0"/>
          </a:p>
        </p:txBody>
      </p:sp>
      <p:sp>
        <p:nvSpPr>
          <p:cNvPr id="65" name="Shape 62"/>
          <p:cNvSpPr/>
          <p:nvPr/>
        </p:nvSpPr>
        <p:spPr>
          <a:xfrm>
            <a:off x="3331388" y="4937760"/>
            <a:ext cx="2673020" cy="0"/>
          </a:xfrm>
          <a:prstGeom prst="line">
            <a:avLst/>
          </a:prstGeom>
          <a:noFill/>
          <a:ln w="12700">
            <a:solidFill>
              <a:srgbClr val="E7E3DA"/>
            </a:solidFill>
            <a:prstDash val="solid"/>
          </a:ln>
        </p:spPr>
      </p:sp>
      <p:sp>
        <p:nvSpPr>
          <p:cNvPr id="66" name="Shape 63"/>
          <p:cNvSpPr/>
          <p:nvPr/>
        </p:nvSpPr>
        <p:spPr>
          <a:xfrm>
            <a:off x="3367964" y="5125212"/>
            <a:ext cx="73152" cy="73152"/>
          </a:xfrm>
          <a:prstGeom prst="ellipse">
            <a:avLst/>
          </a:prstGeom>
          <a:solidFill>
            <a:srgbClr val="46D12A"/>
          </a:solidFill>
          <a:ln/>
        </p:spPr>
      </p:sp>
      <p:sp>
        <p:nvSpPr>
          <p:cNvPr id="67" name="Text 64"/>
          <p:cNvSpPr/>
          <p:nvPr/>
        </p:nvSpPr>
        <p:spPr>
          <a:xfrm>
            <a:off x="3569132" y="49377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Eastern Gate</a:t>
            </a:r>
            <a:endParaRPr lang="en-US" sz="1200" dirty="0"/>
          </a:p>
        </p:txBody>
      </p:sp>
      <p:sp>
        <p:nvSpPr>
          <p:cNvPr id="68" name="Shape 65"/>
          <p:cNvSpPr/>
          <p:nvPr/>
        </p:nvSpPr>
        <p:spPr>
          <a:xfrm>
            <a:off x="6095848" y="4937760"/>
            <a:ext cx="2673020" cy="0"/>
          </a:xfrm>
          <a:prstGeom prst="line">
            <a:avLst/>
          </a:prstGeom>
          <a:noFill/>
          <a:ln w="12700">
            <a:solidFill>
              <a:srgbClr val="E7E3DA"/>
            </a:solidFill>
            <a:prstDash val="solid"/>
          </a:ln>
        </p:spPr>
      </p:sp>
      <p:sp>
        <p:nvSpPr>
          <p:cNvPr id="69" name="Shape 66"/>
          <p:cNvSpPr/>
          <p:nvPr/>
        </p:nvSpPr>
        <p:spPr>
          <a:xfrm>
            <a:off x="6132424" y="5125212"/>
            <a:ext cx="73152" cy="73152"/>
          </a:xfrm>
          <a:prstGeom prst="ellipse">
            <a:avLst/>
          </a:prstGeom>
          <a:solidFill>
            <a:srgbClr val="46D12A"/>
          </a:solidFill>
          <a:ln/>
        </p:spPr>
      </p:sp>
      <p:sp>
        <p:nvSpPr>
          <p:cNvPr id="70" name="Text 67"/>
          <p:cNvSpPr/>
          <p:nvPr/>
        </p:nvSpPr>
        <p:spPr>
          <a:xfrm>
            <a:off x="6333592" y="49377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Padel Zero</a:t>
            </a:r>
            <a:endParaRPr lang="en-US" sz="1200" dirty="0"/>
          </a:p>
        </p:txBody>
      </p:sp>
      <p:sp>
        <p:nvSpPr>
          <p:cNvPr id="71" name="Shape 68"/>
          <p:cNvSpPr/>
          <p:nvPr/>
        </p:nvSpPr>
        <p:spPr>
          <a:xfrm>
            <a:off x="8860307" y="4937760"/>
            <a:ext cx="2673020" cy="0"/>
          </a:xfrm>
          <a:prstGeom prst="line">
            <a:avLst/>
          </a:prstGeom>
          <a:noFill/>
          <a:ln w="12700">
            <a:solidFill>
              <a:srgbClr val="E7E3DA"/>
            </a:solidFill>
            <a:prstDash val="solid"/>
          </a:ln>
        </p:spPr>
      </p:sp>
      <p:sp>
        <p:nvSpPr>
          <p:cNvPr id="72" name="Shape 69"/>
          <p:cNvSpPr/>
          <p:nvPr/>
        </p:nvSpPr>
        <p:spPr>
          <a:xfrm>
            <a:off x="8896883" y="5125212"/>
            <a:ext cx="73152" cy="73152"/>
          </a:xfrm>
          <a:prstGeom prst="ellipse">
            <a:avLst/>
          </a:prstGeom>
          <a:solidFill>
            <a:srgbClr val="46D12A"/>
          </a:solidFill>
          <a:ln/>
        </p:spPr>
      </p:sp>
      <p:sp>
        <p:nvSpPr>
          <p:cNvPr id="73" name="Text 70"/>
          <p:cNvSpPr/>
          <p:nvPr/>
        </p:nvSpPr>
        <p:spPr>
          <a:xfrm>
            <a:off x="9098051" y="49377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DROP IN</a:t>
            </a:r>
            <a:endParaRPr lang="en-US" sz="1200" dirty="0"/>
          </a:p>
        </p:txBody>
      </p:sp>
      <p:sp>
        <p:nvSpPr>
          <p:cNvPr id="74" name="Shape 71"/>
          <p:cNvSpPr/>
          <p:nvPr/>
        </p:nvSpPr>
        <p:spPr>
          <a:xfrm>
            <a:off x="566928" y="5394960"/>
            <a:ext cx="2673020" cy="0"/>
          </a:xfrm>
          <a:prstGeom prst="line">
            <a:avLst/>
          </a:prstGeom>
          <a:noFill/>
          <a:ln w="12700">
            <a:solidFill>
              <a:srgbClr val="E7E3DA"/>
            </a:solidFill>
            <a:prstDash val="solid"/>
          </a:ln>
        </p:spPr>
      </p:sp>
      <p:sp>
        <p:nvSpPr>
          <p:cNvPr id="75" name="Shape 72"/>
          <p:cNvSpPr/>
          <p:nvPr/>
        </p:nvSpPr>
        <p:spPr>
          <a:xfrm>
            <a:off x="603504" y="5582412"/>
            <a:ext cx="73152" cy="73152"/>
          </a:xfrm>
          <a:prstGeom prst="ellipse">
            <a:avLst/>
          </a:prstGeom>
          <a:solidFill>
            <a:srgbClr val="46D12A"/>
          </a:solidFill>
          <a:ln/>
        </p:spPr>
      </p:sp>
      <p:sp>
        <p:nvSpPr>
          <p:cNvPr id="76" name="Text 73"/>
          <p:cNvSpPr/>
          <p:nvPr/>
        </p:nvSpPr>
        <p:spPr>
          <a:xfrm>
            <a:off x="804672" y="53949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KH Interiors</a:t>
            </a:r>
            <a:endParaRPr lang="en-US" sz="1200" dirty="0"/>
          </a:p>
        </p:txBody>
      </p:sp>
      <p:sp>
        <p:nvSpPr>
          <p:cNvPr id="77" name="Shape 74"/>
          <p:cNvSpPr/>
          <p:nvPr/>
        </p:nvSpPr>
        <p:spPr>
          <a:xfrm>
            <a:off x="3331388" y="5394960"/>
            <a:ext cx="2673020" cy="0"/>
          </a:xfrm>
          <a:prstGeom prst="line">
            <a:avLst/>
          </a:prstGeom>
          <a:noFill/>
          <a:ln w="12700">
            <a:solidFill>
              <a:srgbClr val="E7E3DA"/>
            </a:solidFill>
            <a:prstDash val="solid"/>
          </a:ln>
        </p:spPr>
      </p:sp>
      <p:sp>
        <p:nvSpPr>
          <p:cNvPr id="78" name="Shape 75"/>
          <p:cNvSpPr/>
          <p:nvPr/>
        </p:nvSpPr>
        <p:spPr>
          <a:xfrm>
            <a:off x="3367964" y="5582412"/>
            <a:ext cx="73152" cy="73152"/>
          </a:xfrm>
          <a:prstGeom prst="ellipse">
            <a:avLst/>
          </a:prstGeom>
          <a:solidFill>
            <a:srgbClr val="46D12A"/>
          </a:solidFill>
          <a:ln/>
        </p:spPr>
      </p:sp>
      <p:sp>
        <p:nvSpPr>
          <p:cNvPr id="79" name="Text 76"/>
          <p:cNvSpPr/>
          <p:nvPr/>
        </p:nvSpPr>
        <p:spPr>
          <a:xfrm>
            <a:off x="3569132" y="53949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Mars Agency</a:t>
            </a:r>
            <a:endParaRPr lang="en-US" sz="1200" dirty="0"/>
          </a:p>
        </p:txBody>
      </p:sp>
      <p:sp>
        <p:nvSpPr>
          <p:cNvPr id="80" name="Shape 77"/>
          <p:cNvSpPr/>
          <p:nvPr/>
        </p:nvSpPr>
        <p:spPr>
          <a:xfrm>
            <a:off x="6095848" y="5394960"/>
            <a:ext cx="2673020" cy="0"/>
          </a:xfrm>
          <a:prstGeom prst="line">
            <a:avLst/>
          </a:prstGeom>
          <a:noFill/>
          <a:ln w="12700">
            <a:solidFill>
              <a:srgbClr val="E7E3DA"/>
            </a:solidFill>
            <a:prstDash val="solid"/>
          </a:ln>
        </p:spPr>
      </p:sp>
      <p:sp>
        <p:nvSpPr>
          <p:cNvPr id="81" name="Shape 78"/>
          <p:cNvSpPr/>
          <p:nvPr/>
        </p:nvSpPr>
        <p:spPr>
          <a:xfrm>
            <a:off x="6132424" y="5582412"/>
            <a:ext cx="73152" cy="73152"/>
          </a:xfrm>
          <a:prstGeom prst="ellipse">
            <a:avLst/>
          </a:prstGeom>
          <a:solidFill>
            <a:srgbClr val="46D12A"/>
          </a:solidFill>
          <a:ln/>
        </p:spPr>
      </p:sp>
      <p:sp>
        <p:nvSpPr>
          <p:cNvPr id="82" name="Text 79"/>
          <p:cNvSpPr/>
          <p:nvPr/>
        </p:nvSpPr>
        <p:spPr>
          <a:xfrm>
            <a:off x="6333592" y="53949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Benglish</a:t>
            </a:r>
            <a:endParaRPr lang="en-US" sz="1200" dirty="0"/>
          </a:p>
        </p:txBody>
      </p:sp>
      <p:sp>
        <p:nvSpPr>
          <p:cNvPr id="83" name="Shape 80"/>
          <p:cNvSpPr/>
          <p:nvPr/>
        </p:nvSpPr>
        <p:spPr>
          <a:xfrm>
            <a:off x="8860307" y="5394960"/>
            <a:ext cx="2673020" cy="0"/>
          </a:xfrm>
          <a:prstGeom prst="line">
            <a:avLst/>
          </a:prstGeom>
          <a:noFill/>
          <a:ln w="12700">
            <a:solidFill>
              <a:srgbClr val="E7E3DA"/>
            </a:solidFill>
            <a:prstDash val="solid"/>
          </a:ln>
        </p:spPr>
      </p:sp>
      <p:sp>
        <p:nvSpPr>
          <p:cNvPr id="84" name="Shape 81"/>
          <p:cNvSpPr/>
          <p:nvPr/>
        </p:nvSpPr>
        <p:spPr>
          <a:xfrm>
            <a:off x="8896883" y="5582412"/>
            <a:ext cx="73152" cy="73152"/>
          </a:xfrm>
          <a:prstGeom prst="ellipse">
            <a:avLst/>
          </a:prstGeom>
          <a:solidFill>
            <a:srgbClr val="46D12A"/>
          </a:solidFill>
          <a:ln/>
        </p:spPr>
      </p:sp>
      <p:sp>
        <p:nvSpPr>
          <p:cNvPr id="85" name="Text 82"/>
          <p:cNvSpPr/>
          <p:nvPr/>
        </p:nvSpPr>
        <p:spPr>
          <a:xfrm>
            <a:off x="9098051" y="5394960"/>
            <a:ext cx="2490140" cy="457200"/>
          </a:xfrm>
          <a:prstGeom prst="rect">
            <a:avLst/>
          </a:prstGeom>
          <a:noFill/>
          <a:ln/>
        </p:spPr>
        <p:txBody>
          <a:bodyPr wrap="square" lIns="0" tIns="0" rIns="0" bIns="0" rtlCol="0" anchor="ctr"/>
          <a:lstStyle/>
          <a:p>
            <a:pPr indent="0" marL="0">
              <a:buNone/>
            </a:pPr>
            <a:r>
              <a:rPr lang="en-US" sz="1200" b="1" dirty="0">
                <a:solidFill>
                  <a:srgbClr val="0E0E0E"/>
                </a:solidFill>
                <a:latin typeface="Trebuchet MS" pitchFamily="34" charset="0"/>
                <a:ea typeface="Trebuchet MS" pitchFamily="34" charset="-122"/>
                <a:cs typeface="Trebuchet MS" pitchFamily="34" charset="-120"/>
              </a:rPr>
              <a:t>180 Degrees</a:t>
            </a:r>
            <a:endParaRPr lang="en-US" sz="1200" dirty="0"/>
          </a:p>
        </p:txBody>
      </p:sp>
      <p:sp>
        <p:nvSpPr>
          <p:cNvPr id="86" name="Text 83"/>
          <p:cNvSpPr/>
          <p:nvPr/>
        </p:nvSpPr>
        <p:spPr>
          <a:xfrm>
            <a:off x="566928" y="5943600"/>
            <a:ext cx="10881360" cy="365760"/>
          </a:xfrm>
          <a:prstGeom prst="rect">
            <a:avLst/>
          </a:prstGeom>
          <a:noFill/>
          <a:ln/>
        </p:spPr>
        <p:txBody>
          <a:bodyPr wrap="square" lIns="0" tIns="0" rIns="0" bIns="0" rtlCol="0" anchor="ctr"/>
          <a:lstStyle/>
          <a:p>
            <a:pPr indent="0" marL="0">
              <a:buNone/>
            </a:pPr>
            <a:r>
              <a:rPr lang="en-US" sz="1150" i="1" dirty="0">
                <a:solidFill>
                  <a:srgbClr val="9A958A"/>
                </a:solidFill>
                <a:latin typeface="Calibri" pitchFamily="34" charset="0"/>
                <a:ea typeface="Calibri" pitchFamily="34" charset="-122"/>
                <a:cs typeface="Calibri" pitchFamily="34" charset="-120"/>
              </a:rPr>
              <a:t>Some work is public, some is private, and some is under NDA doing mysterious professional things in the background.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8778240" y="-1828800"/>
            <a:ext cx="6035040" cy="6035040"/>
          </a:xfrm>
          <a:prstGeom prst="ellipse">
            <a:avLst/>
          </a:prstGeom>
          <a:ln w="19050">
            <a:solidFill>
              <a:srgbClr val="262626"/>
            </a:solidFill>
            <a:prstDash val="solid"/>
          </a:ln>
        </p:spPr>
      </p:sp>
      <p:sp>
        <p:nvSpPr>
          <p:cNvPr id="3" name="Shape 1"/>
          <p:cNvSpPr/>
          <p:nvPr/>
        </p:nvSpPr>
        <p:spPr>
          <a:xfrm>
            <a:off x="9966960" y="1554480"/>
            <a:ext cx="1371600" cy="1371600"/>
          </a:xfrm>
          <a:prstGeom prst="ellipse">
            <a:avLst/>
          </a:prstGeom>
          <a:solidFill>
            <a:srgbClr val="46D12A"/>
          </a:solidFill>
          <a:ln/>
        </p:spPr>
      </p:sp>
      <p:sp>
        <p:nvSpPr>
          <p:cNvPr id="4" name="Text 2"/>
          <p:cNvSpPr/>
          <p:nvPr/>
        </p:nvSpPr>
        <p:spPr>
          <a:xfrm>
            <a:off x="566928" y="566928"/>
            <a:ext cx="4572000" cy="274320"/>
          </a:xfrm>
          <a:prstGeom prst="rect">
            <a:avLst/>
          </a:prstGeom>
          <a:noFill/>
          <a:ln/>
        </p:spPr>
        <p:txBody>
          <a:bodyPr wrap="square" lIns="0" tIns="0" rIns="0" bIns="0" rtlCol="0" anchor="ctr"/>
          <a:lstStyle/>
          <a:p>
            <a:pPr algn="l" indent="0" marL="0">
              <a:buNone/>
            </a:pPr>
            <a:r>
              <a:rPr lang="en-US" sz="1100" b="1" spc="300" kern="0" dirty="0">
                <a:solidFill>
                  <a:srgbClr val="46D12A"/>
                </a:solidFill>
                <a:latin typeface="Trebuchet MS" pitchFamily="34" charset="0"/>
                <a:ea typeface="Trebuchet MS" pitchFamily="34" charset="-122"/>
                <a:cs typeface="Trebuchet MS" pitchFamily="34" charset="-120"/>
              </a:rPr>
              <a:t>LET’S TALK</a:t>
            </a:r>
            <a:endParaRPr lang="en-US" sz="1100" dirty="0"/>
          </a:p>
        </p:txBody>
      </p:sp>
      <p:sp>
        <p:nvSpPr>
          <p:cNvPr id="5" name="Text 3"/>
          <p:cNvSpPr/>
          <p:nvPr/>
        </p:nvSpPr>
        <p:spPr>
          <a:xfrm>
            <a:off x="566928" y="2194560"/>
            <a:ext cx="8229600" cy="1554480"/>
          </a:xfrm>
          <a:prstGeom prst="rect">
            <a:avLst/>
          </a:prstGeom>
          <a:noFill/>
          <a:ln/>
        </p:spPr>
        <p:txBody>
          <a:bodyPr wrap="square" lIns="0" tIns="0" rIns="0" bIns="0" rtlCol="0" anchor="ctr"/>
          <a:lstStyle/>
          <a:p>
            <a:pPr indent="0" marL="0">
              <a:lnSpc>
                <a:spcPct val="98000"/>
              </a:lnSpc>
              <a:buNone/>
            </a:pPr>
            <a:r>
              <a:rPr lang="en-US" sz="4600" b="1" dirty="0">
                <a:solidFill>
                  <a:srgbClr val="FFFFFF"/>
                </a:solidFill>
                <a:latin typeface="Trebuchet MS" pitchFamily="34" charset="0"/>
                <a:ea typeface="Trebuchet MS" pitchFamily="34" charset="-122"/>
                <a:cs typeface="Trebuchet MS" pitchFamily="34" charset="-120"/>
              </a:rPr>
              <a:t>Got an idea?</a:t>
            </a:r>
            <a:endParaRPr lang="en-US" sz="4600" dirty="0"/>
          </a:p>
          <a:p>
            <a:pPr indent="0" marL="0">
              <a:lnSpc>
                <a:spcPct val="98000"/>
              </a:lnSpc>
              <a:buNone/>
            </a:pPr>
            <a:r>
              <a:rPr lang="en-US" sz="4600" b="1" dirty="0">
                <a:solidFill>
                  <a:srgbClr val="FFFFFF"/>
                </a:solidFill>
                <a:latin typeface="Trebuchet MS" pitchFamily="34" charset="0"/>
                <a:ea typeface="Trebuchet MS" pitchFamily="34" charset="-122"/>
                <a:cs typeface="Trebuchet MS" pitchFamily="34" charset="-120"/>
              </a:rPr>
              <a:t>Let’s make it </a:t>
            </a:r>
            <a:pPr indent="0" marL="0">
              <a:lnSpc>
                <a:spcPct val="98000"/>
              </a:lnSpc>
              <a:buNone/>
            </a:pPr>
            <a:r>
              <a:rPr lang="en-US" sz="4600" b="1" dirty="0">
                <a:solidFill>
                  <a:srgbClr val="46D12A"/>
                </a:solidFill>
                <a:latin typeface="Trebuchet MS" pitchFamily="34" charset="0"/>
                <a:ea typeface="Trebuchet MS" pitchFamily="34" charset="-122"/>
                <a:cs typeface="Trebuchet MS" pitchFamily="34" charset="-120"/>
              </a:rPr>
              <a:t>easier.</a:t>
            </a:r>
            <a:endParaRPr lang="en-US" sz="4600" dirty="0"/>
          </a:p>
        </p:txBody>
      </p:sp>
      <p:sp>
        <p:nvSpPr>
          <p:cNvPr id="6" name="Text 4"/>
          <p:cNvSpPr/>
          <p:nvPr/>
        </p:nvSpPr>
        <p:spPr>
          <a:xfrm>
            <a:off x="566928" y="3886200"/>
            <a:ext cx="6949440" cy="914400"/>
          </a:xfrm>
          <a:prstGeom prst="rect">
            <a:avLst/>
          </a:prstGeom>
          <a:noFill/>
          <a:ln/>
        </p:spPr>
        <p:txBody>
          <a:bodyPr wrap="square" lIns="0" tIns="0" rIns="0" bIns="0" rtlCol="0" anchor="ctr"/>
          <a:lstStyle/>
          <a:p>
            <a:pPr indent="0" marL="0">
              <a:lnSpc>
                <a:spcPct val="122000"/>
              </a:lnSpc>
              <a:buNone/>
            </a:pPr>
            <a:r>
              <a:rPr lang="en-US" sz="1350" dirty="0">
                <a:solidFill>
                  <a:srgbClr val="A8A8A2"/>
                </a:solidFill>
                <a:latin typeface="Calibri" pitchFamily="34" charset="0"/>
                <a:ea typeface="Calibri" pitchFamily="34" charset="-122"/>
                <a:cs typeface="Calibri" pitchFamily="34" charset="-120"/>
              </a:rPr>
              <a:t>Have a clear brief? Great. Have a messy idea, a half-built project, or a website that needs help? Also great. No pressure, no confusing sales performance — just a useful conversation about what makes sense.</a:t>
            </a:r>
            <a:endParaRPr lang="en-US" sz="1350" dirty="0"/>
          </a:p>
        </p:txBody>
      </p:sp>
      <p:sp>
        <p:nvSpPr>
          <p:cNvPr id="7" name="Shape 5"/>
          <p:cNvSpPr/>
          <p:nvPr/>
        </p:nvSpPr>
        <p:spPr>
          <a:xfrm>
            <a:off x="566928" y="5074920"/>
            <a:ext cx="11057839" cy="0"/>
          </a:xfrm>
          <a:prstGeom prst="line">
            <a:avLst/>
          </a:prstGeom>
          <a:noFill/>
          <a:ln w="12700">
            <a:solidFill>
              <a:srgbClr val="262626"/>
            </a:solidFill>
            <a:prstDash val="solid"/>
          </a:ln>
        </p:spPr>
      </p:sp>
      <p:sp>
        <p:nvSpPr>
          <p:cNvPr id="8" name="Text 6"/>
          <p:cNvSpPr/>
          <p:nvPr/>
        </p:nvSpPr>
        <p:spPr>
          <a:xfrm>
            <a:off x="566928" y="5257800"/>
            <a:ext cx="2560320" cy="201168"/>
          </a:xfrm>
          <a:prstGeom prst="rect">
            <a:avLst/>
          </a:prstGeom>
          <a:noFill/>
          <a:ln/>
        </p:spPr>
        <p:txBody>
          <a:bodyPr wrap="square" lIns="0" tIns="0" rIns="0" bIns="0" rtlCol="0" anchor="ctr"/>
          <a:lstStyle/>
          <a:p>
            <a:pPr indent="0" marL="0">
              <a:buNone/>
            </a:pPr>
            <a:r>
              <a:rPr lang="en-US" sz="850" b="1" spc="200" kern="0" dirty="0">
                <a:solidFill>
                  <a:srgbClr val="6E6E68"/>
                </a:solidFill>
                <a:latin typeface="Trebuchet MS" pitchFamily="34" charset="0"/>
                <a:ea typeface="Trebuchet MS" pitchFamily="34" charset="-122"/>
                <a:cs typeface="Trebuchet MS" pitchFamily="34" charset="-120"/>
              </a:rPr>
              <a:t>EMAIL</a:t>
            </a:r>
            <a:endParaRPr lang="en-US" sz="850" dirty="0"/>
          </a:p>
        </p:txBody>
      </p:sp>
      <p:sp>
        <p:nvSpPr>
          <p:cNvPr id="9" name="Text 7"/>
          <p:cNvSpPr/>
          <p:nvPr/>
        </p:nvSpPr>
        <p:spPr>
          <a:xfrm>
            <a:off x="566928" y="5458968"/>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hello@noxstudio.dev</a:t>
            </a:r>
            <a:endParaRPr lang="en-US" sz="1200" dirty="0"/>
          </a:p>
        </p:txBody>
      </p:sp>
      <p:sp>
        <p:nvSpPr>
          <p:cNvPr id="10" name="Text 8"/>
          <p:cNvSpPr/>
          <p:nvPr/>
        </p:nvSpPr>
        <p:spPr>
          <a:xfrm>
            <a:off x="3310128" y="5257800"/>
            <a:ext cx="2560320" cy="201168"/>
          </a:xfrm>
          <a:prstGeom prst="rect">
            <a:avLst/>
          </a:prstGeom>
          <a:noFill/>
          <a:ln/>
        </p:spPr>
        <p:txBody>
          <a:bodyPr wrap="square" lIns="0" tIns="0" rIns="0" bIns="0" rtlCol="0" anchor="ctr"/>
          <a:lstStyle/>
          <a:p>
            <a:pPr indent="0" marL="0">
              <a:buNone/>
            </a:pPr>
            <a:r>
              <a:rPr lang="en-US" sz="850" b="1" spc="200" kern="0" dirty="0">
                <a:solidFill>
                  <a:srgbClr val="6E6E68"/>
                </a:solidFill>
                <a:latin typeface="Trebuchet MS" pitchFamily="34" charset="0"/>
                <a:ea typeface="Trebuchet MS" pitchFamily="34" charset="-122"/>
                <a:cs typeface="Trebuchet MS" pitchFamily="34" charset="-120"/>
              </a:rPr>
              <a:t>PHONE</a:t>
            </a:r>
            <a:endParaRPr lang="en-US" sz="850" dirty="0"/>
          </a:p>
        </p:txBody>
      </p:sp>
      <p:sp>
        <p:nvSpPr>
          <p:cNvPr id="11" name="Text 9"/>
          <p:cNvSpPr/>
          <p:nvPr/>
        </p:nvSpPr>
        <p:spPr>
          <a:xfrm>
            <a:off x="3310128" y="5458968"/>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+963 935 154 501</a:t>
            </a:r>
            <a:endParaRPr lang="en-US" sz="1200" dirty="0"/>
          </a:p>
        </p:txBody>
      </p:sp>
      <p:sp>
        <p:nvSpPr>
          <p:cNvPr id="12" name="Text 10"/>
          <p:cNvSpPr/>
          <p:nvPr/>
        </p:nvSpPr>
        <p:spPr>
          <a:xfrm>
            <a:off x="6053328" y="5257800"/>
            <a:ext cx="2560320" cy="201168"/>
          </a:xfrm>
          <a:prstGeom prst="rect">
            <a:avLst/>
          </a:prstGeom>
          <a:noFill/>
          <a:ln/>
        </p:spPr>
        <p:txBody>
          <a:bodyPr wrap="square" lIns="0" tIns="0" rIns="0" bIns="0" rtlCol="0" anchor="ctr"/>
          <a:lstStyle/>
          <a:p>
            <a:pPr indent="0" marL="0">
              <a:buNone/>
            </a:pPr>
            <a:r>
              <a:rPr lang="en-US" sz="850" b="1" spc="200" kern="0" dirty="0">
                <a:solidFill>
                  <a:srgbClr val="6E6E68"/>
                </a:solidFill>
                <a:latin typeface="Trebuchet MS" pitchFamily="34" charset="0"/>
                <a:ea typeface="Trebuchet MS" pitchFamily="34" charset="-122"/>
                <a:cs typeface="Trebuchet MS" pitchFamily="34" charset="-120"/>
              </a:rPr>
              <a:t>WEB</a:t>
            </a:r>
            <a:endParaRPr lang="en-US" sz="850" dirty="0"/>
          </a:p>
        </p:txBody>
      </p:sp>
      <p:sp>
        <p:nvSpPr>
          <p:cNvPr id="13" name="Text 11"/>
          <p:cNvSpPr/>
          <p:nvPr/>
        </p:nvSpPr>
        <p:spPr>
          <a:xfrm>
            <a:off x="6053328" y="5458968"/>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noxstudio.dev</a:t>
            </a:r>
            <a:endParaRPr lang="en-US" sz="1200" dirty="0"/>
          </a:p>
        </p:txBody>
      </p:sp>
      <p:sp>
        <p:nvSpPr>
          <p:cNvPr id="14" name="Text 12"/>
          <p:cNvSpPr/>
          <p:nvPr/>
        </p:nvSpPr>
        <p:spPr>
          <a:xfrm>
            <a:off x="8796528" y="5257800"/>
            <a:ext cx="2560320" cy="201168"/>
          </a:xfrm>
          <a:prstGeom prst="rect">
            <a:avLst/>
          </a:prstGeom>
          <a:noFill/>
          <a:ln/>
        </p:spPr>
        <p:txBody>
          <a:bodyPr wrap="square" lIns="0" tIns="0" rIns="0" bIns="0" rtlCol="0" anchor="ctr"/>
          <a:lstStyle/>
          <a:p>
            <a:pPr indent="0" marL="0">
              <a:buNone/>
            </a:pPr>
            <a:r>
              <a:rPr lang="en-US" sz="850" b="1" spc="200" kern="0" dirty="0">
                <a:solidFill>
                  <a:srgbClr val="6E6E68"/>
                </a:solidFill>
                <a:latin typeface="Trebuchet MS" pitchFamily="34" charset="0"/>
                <a:ea typeface="Trebuchet MS" pitchFamily="34" charset="-122"/>
                <a:cs typeface="Trebuchet MS" pitchFamily="34" charset="-120"/>
              </a:rPr>
              <a:t>BASED IN</a:t>
            </a:r>
            <a:endParaRPr lang="en-US" sz="850" dirty="0"/>
          </a:p>
        </p:txBody>
      </p:sp>
      <p:sp>
        <p:nvSpPr>
          <p:cNvPr id="15" name="Text 13"/>
          <p:cNvSpPr/>
          <p:nvPr/>
        </p:nvSpPr>
        <p:spPr>
          <a:xfrm>
            <a:off x="8796528" y="5458968"/>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Yabroud, Syria · Worldwide</a:t>
            </a:r>
            <a:endParaRPr lang="en-US" sz="1200" dirty="0"/>
          </a:p>
        </p:txBody>
      </p:sp>
      <p:pic>
        <p:nvPicPr>
          <p:cNvPr id="16" name="Image 0" descr="/home/claude/logo_white.png">    </p:cNvPr>
          <p:cNvPicPr>
            <a:picLocks noChangeAspect="1"/>
          </p:cNvPicPr>
          <p:nvPr/>
        </p:nvPicPr>
        <p:blipFill>
          <a:blip r:embed="rId1"/>
          <a:stretch>
            <a:fillRect/>
          </a:stretch>
        </p:blipFill>
        <p:spPr>
          <a:xfrm>
            <a:off x="566928" y="6035040"/>
            <a:ext cx="1737360" cy="513676"/>
          </a:xfrm>
          <a:prstGeom prst="rect">
            <a:avLst/>
          </a:prstGeom>
        </p:spPr>
      </p:pic>
      <p:sp>
        <p:nvSpPr>
          <p:cNvPr id="17" name="Text 14"/>
          <p:cNvSpPr/>
          <p:nvPr/>
        </p:nvSpPr>
        <p:spPr>
          <a:xfrm>
            <a:off x="7052767" y="6035040"/>
            <a:ext cx="4572000" cy="640080"/>
          </a:xfrm>
          <a:prstGeom prst="rect">
            <a:avLst/>
          </a:prstGeom>
          <a:noFill/>
          <a:ln/>
        </p:spPr>
        <p:txBody>
          <a:bodyPr wrap="square" lIns="0" tIns="0" rIns="0" bIns="0" rtlCol="0" anchor="ctr"/>
          <a:lstStyle/>
          <a:p>
            <a:pPr algn="r" indent="0" marL="0">
              <a:lnSpc>
                <a:spcPct val="120000"/>
              </a:lnSpc>
              <a:buNone/>
            </a:pPr>
            <a:r>
              <a:rPr lang="en-US" sz="1250" b="1" dirty="0">
                <a:solidFill>
                  <a:srgbClr val="FFFFFF"/>
                </a:solidFill>
                <a:latin typeface="Trebuchet MS" pitchFamily="34" charset="0"/>
                <a:ea typeface="Trebuchet MS" pitchFamily="34" charset="-122"/>
                <a:cs typeface="Trebuchet MS" pitchFamily="34" charset="-120"/>
              </a:rPr>
              <a:t>Small team. Real care. Clear work.</a:t>
            </a:r>
            <a:endParaRPr lang="en-US" sz="1250" dirty="0"/>
          </a:p>
          <a:p>
            <a:pPr algn="r" indent="0" marL="0">
              <a:lnSpc>
                <a:spcPct val="120000"/>
              </a:lnSpc>
              <a:buNone/>
            </a:pPr>
            <a:r>
              <a:rPr lang="en-US" sz="1000" b="1" dirty="0">
                <a:solidFill>
                  <a:srgbClr val="6E6E68"/>
                </a:solidFill>
                <a:latin typeface="Trebuchet MS" pitchFamily="34" charset="0"/>
                <a:ea typeface="Trebuchet MS" pitchFamily="34" charset="-122"/>
                <a:cs typeface="Trebuchet MS" pitchFamily="34" charset="-120"/>
              </a:rPr>
              <a:t>Digital things, made easier. · © 2026 nox Studio</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nox Studio — Company Profile</dc:title>
  <dc:subject>PptxGenJS Presentation</dc:subject>
  <dc:creator>nox Studio</dc:creator>
  <cp:lastModifiedBy>nox Studio</cp:lastModifiedBy>
  <cp:revision>1</cp:revision>
  <dcterms:created xsi:type="dcterms:W3CDTF">2026-05-29T01:54:43Z</dcterms:created>
  <dcterms:modified xsi:type="dcterms:W3CDTF">2026-05-29T01:54:43Z</dcterms:modified>
</cp:coreProperties>
</file>